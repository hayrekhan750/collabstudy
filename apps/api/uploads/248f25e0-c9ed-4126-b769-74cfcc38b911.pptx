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6" r:id="rId3"/>
  </p:sldMasterIdLst>
  <p:notesMasterIdLst>
    <p:notesMasterId r:id="rId227"/>
  </p:notesMasterIdLst>
  <p:handoutMasterIdLst>
    <p:handoutMasterId r:id="rId228"/>
  </p:handoutMasterIdLst>
  <p:sldIdLst>
    <p:sldId id="763" r:id="rId4"/>
    <p:sldId id="943" r:id="rId5"/>
    <p:sldId id="944" r:id="rId6"/>
    <p:sldId id="946" r:id="rId7"/>
    <p:sldId id="947" r:id="rId8"/>
    <p:sldId id="948" r:id="rId9"/>
    <p:sldId id="949" r:id="rId10"/>
    <p:sldId id="950" r:id="rId11"/>
    <p:sldId id="951" r:id="rId12"/>
    <p:sldId id="952" r:id="rId13"/>
    <p:sldId id="953" r:id="rId14"/>
    <p:sldId id="535" r:id="rId15"/>
    <p:sldId id="749" r:id="rId16"/>
    <p:sldId id="954" r:id="rId17"/>
    <p:sldId id="955" r:id="rId18"/>
    <p:sldId id="956" r:id="rId19"/>
    <p:sldId id="957" r:id="rId20"/>
    <p:sldId id="958" r:id="rId21"/>
    <p:sldId id="959" r:id="rId22"/>
    <p:sldId id="960" r:id="rId23"/>
    <p:sldId id="961" r:id="rId24"/>
    <p:sldId id="962" r:id="rId25"/>
    <p:sldId id="963" r:id="rId26"/>
    <p:sldId id="964" r:id="rId27"/>
    <p:sldId id="965" r:id="rId28"/>
    <p:sldId id="966" r:id="rId29"/>
    <p:sldId id="750" r:id="rId30"/>
    <p:sldId id="967" r:id="rId31"/>
    <p:sldId id="968" r:id="rId32"/>
    <p:sldId id="969" r:id="rId33"/>
    <p:sldId id="970" r:id="rId34"/>
    <p:sldId id="971" r:id="rId35"/>
    <p:sldId id="972" r:id="rId36"/>
    <p:sldId id="973" r:id="rId37"/>
    <p:sldId id="974" r:id="rId38"/>
    <p:sldId id="975" r:id="rId39"/>
    <p:sldId id="976" r:id="rId40"/>
    <p:sldId id="977" r:id="rId41"/>
    <p:sldId id="786" r:id="rId42"/>
    <p:sldId id="787" r:id="rId43"/>
    <p:sldId id="788" r:id="rId44"/>
    <p:sldId id="789" r:id="rId45"/>
    <p:sldId id="790" r:id="rId46"/>
    <p:sldId id="791" r:id="rId47"/>
    <p:sldId id="792" r:id="rId48"/>
    <p:sldId id="793" r:id="rId49"/>
    <p:sldId id="794" r:id="rId50"/>
    <p:sldId id="795" r:id="rId51"/>
    <p:sldId id="796" r:id="rId52"/>
    <p:sldId id="797" r:id="rId53"/>
    <p:sldId id="798" r:id="rId54"/>
    <p:sldId id="799" r:id="rId55"/>
    <p:sldId id="800" r:id="rId56"/>
    <p:sldId id="801" r:id="rId57"/>
    <p:sldId id="802" r:id="rId58"/>
    <p:sldId id="803" r:id="rId59"/>
    <p:sldId id="804" r:id="rId60"/>
    <p:sldId id="805" r:id="rId61"/>
    <p:sldId id="806" r:id="rId62"/>
    <p:sldId id="807" r:id="rId63"/>
    <p:sldId id="808" r:id="rId64"/>
    <p:sldId id="746" r:id="rId65"/>
    <p:sldId id="751" r:id="rId66"/>
    <p:sldId id="809" r:id="rId67"/>
    <p:sldId id="810" r:id="rId68"/>
    <p:sldId id="811" r:id="rId69"/>
    <p:sldId id="812" r:id="rId70"/>
    <p:sldId id="813" r:id="rId71"/>
    <p:sldId id="814" r:id="rId72"/>
    <p:sldId id="993" r:id="rId73"/>
    <p:sldId id="994" r:id="rId74"/>
    <p:sldId id="995" r:id="rId75"/>
    <p:sldId id="996" r:id="rId76"/>
    <p:sldId id="997" r:id="rId77"/>
    <p:sldId id="998" r:id="rId78"/>
    <p:sldId id="999" r:id="rId79"/>
    <p:sldId id="1000" r:id="rId80"/>
    <p:sldId id="1001" r:id="rId81"/>
    <p:sldId id="1002" r:id="rId82"/>
    <p:sldId id="1003" r:id="rId83"/>
    <p:sldId id="1004" r:id="rId84"/>
    <p:sldId id="1005" r:id="rId85"/>
    <p:sldId id="815" r:id="rId86"/>
    <p:sldId id="816" r:id="rId87"/>
    <p:sldId id="817" r:id="rId88"/>
    <p:sldId id="818" r:id="rId89"/>
    <p:sldId id="819" r:id="rId90"/>
    <p:sldId id="820" r:id="rId91"/>
    <p:sldId id="821" r:id="rId92"/>
    <p:sldId id="822" r:id="rId93"/>
    <p:sldId id="823" r:id="rId94"/>
    <p:sldId id="978" r:id="rId95"/>
    <p:sldId id="979" r:id="rId96"/>
    <p:sldId id="980" r:id="rId97"/>
    <p:sldId id="981" r:id="rId98"/>
    <p:sldId id="982" r:id="rId99"/>
    <p:sldId id="983" r:id="rId100"/>
    <p:sldId id="984" r:id="rId101"/>
    <p:sldId id="985" r:id="rId102"/>
    <p:sldId id="986" r:id="rId103"/>
    <p:sldId id="987" r:id="rId104"/>
    <p:sldId id="988" r:id="rId105"/>
    <p:sldId id="989" r:id="rId106"/>
    <p:sldId id="990" r:id="rId107"/>
    <p:sldId id="991" r:id="rId108"/>
    <p:sldId id="992" r:id="rId109"/>
    <p:sldId id="824" r:id="rId110"/>
    <p:sldId id="825" r:id="rId111"/>
    <p:sldId id="826" r:id="rId112"/>
    <p:sldId id="827" r:id="rId113"/>
    <p:sldId id="828" r:id="rId114"/>
    <p:sldId id="829" r:id="rId115"/>
    <p:sldId id="830" r:id="rId116"/>
    <p:sldId id="831" r:id="rId117"/>
    <p:sldId id="832" r:id="rId118"/>
    <p:sldId id="833" r:id="rId119"/>
    <p:sldId id="834" r:id="rId120"/>
    <p:sldId id="835" r:id="rId121"/>
    <p:sldId id="836" r:id="rId122"/>
    <p:sldId id="837" r:id="rId123"/>
    <p:sldId id="838" r:id="rId124"/>
    <p:sldId id="839" r:id="rId125"/>
    <p:sldId id="840" r:id="rId126"/>
    <p:sldId id="841" r:id="rId127"/>
    <p:sldId id="842" r:id="rId128"/>
    <p:sldId id="843" r:id="rId129"/>
    <p:sldId id="844" r:id="rId130"/>
    <p:sldId id="845" r:id="rId131"/>
    <p:sldId id="846" r:id="rId132"/>
    <p:sldId id="847" r:id="rId133"/>
    <p:sldId id="848" r:id="rId134"/>
    <p:sldId id="849" r:id="rId135"/>
    <p:sldId id="850" r:id="rId136"/>
    <p:sldId id="851" r:id="rId137"/>
    <p:sldId id="852" r:id="rId138"/>
    <p:sldId id="853" r:id="rId139"/>
    <p:sldId id="854" r:id="rId140"/>
    <p:sldId id="855" r:id="rId141"/>
    <p:sldId id="856" r:id="rId142"/>
    <p:sldId id="857" r:id="rId143"/>
    <p:sldId id="858" r:id="rId144"/>
    <p:sldId id="859" r:id="rId145"/>
    <p:sldId id="860" r:id="rId146"/>
    <p:sldId id="861" r:id="rId147"/>
    <p:sldId id="862" r:id="rId148"/>
    <p:sldId id="863" r:id="rId149"/>
    <p:sldId id="864" r:id="rId150"/>
    <p:sldId id="865" r:id="rId151"/>
    <p:sldId id="866" r:id="rId152"/>
    <p:sldId id="867" r:id="rId153"/>
    <p:sldId id="868" r:id="rId154"/>
    <p:sldId id="869" r:id="rId155"/>
    <p:sldId id="870" r:id="rId156"/>
    <p:sldId id="871" r:id="rId157"/>
    <p:sldId id="872" r:id="rId158"/>
    <p:sldId id="873" r:id="rId159"/>
    <p:sldId id="874" r:id="rId160"/>
    <p:sldId id="875" r:id="rId161"/>
    <p:sldId id="876" r:id="rId162"/>
    <p:sldId id="877" r:id="rId163"/>
    <p:sldId id="878" r:id="rId164"/>
    <p:sldId id="879" r:id="rId165"/>
    <p:sldId id="880" r:id="rId166"/>
    <p:sldId id="881" r:id="rId167"/>
    <p:sldId id="882" r:id="rId168"/>
    <p:sldId id="883" r:id="rId169"/>
    <p:sldId id="884" r:id="rId170"/>
    <p:sldId id="885" r:id="rId171"/>
    <p:sldId id="886" r:id="rId172"/>
    <p:sldId id="887" r:id="rId173"/>
    <p:sldId id="888" r:id="rId174"/>
    <p:sldId id="889" r:id="rId175"/>
    <p:sldId id="890" r:id="rId176"/>
    <p:sldId id="891" r:id="rId177"/>
    <p:sldId id="892" r:id="rId178"/>
    <p:sldId id="893" r:id="rId179"/>
    <p:sldId id="896" r:id="rId180"/>
    <p:sldId id="897" r:id="rId181"/>
    <p:sldId id="898" r:id="rId182"/>
    <p:sldId id="899" r:id="rId183"/>
    <p:sldId id="900" r:id="rId184"/>
    <p:sldId id="901" r:id="rId185"/>
    <p:sldId id="902" r:id="rId186"/>
    <p:sldId id="903" r:id="rId187"/>
    <p:sldId id="904" r:id="rId188"/>
    <p:sldId id="905" r:id="rId189"/>
    <p:sldId id="906" r:id="rId190"/>
    <p:sldId id="907" r:id="rId191"/>
    <p:sldId id="908" r:id="rId192"/>
    <p:sldId id="909" r:id="rId193"/>
    <p:sldId id="910" r:id="rId194"/>
    <p:sldId id="911" r:id="rId195"/>
    <p:sldId id="912" r:id="rId196"/>
    <p:sldId id="913" r:id="rId197"/>
    <p:sldId id="914" r:id="rId198"/>
    <p:sldId id="915" r:id="rId199"/>
    <p:sldId id="916" r:id="rId200"/>
    <p:sldId id="917" r:id="rId201"/>
    <p:sldId id="918" r:id="rId202"/>
    <p:sldId id="919" r:id="rId203"/>
    <p:sldId id="920" r:id="rId204"/>
    <p:sldId id="921" r:id="rId205"/>
    <p:sldId id="922" r:id="rId206"/>
    <p:sldId id="923" r:id="rId207"/>
    <p:sldId id="924" r:id="rId208"/>
    <p:sldId id="925" r:id="rId209"/>
    <p:sldId id="926" r:id="rId210"/>
    <p:sldId id="927" r:id="rId211"/>
    <p:sldId id="928" r:id="rId212"/>
    <p:sldId id="929" r:id="rId213"/>
    <p:sldId id="930" r:id="rId214"/>
    <p:sldId id="931" r:id="rId215"/>
    <p:sldId id="932" r:id="rId216"/>
    <p:sldId id="933" r:id="rId217"/>
    <p:sldId id="934" r:id="rId218"/>
    <p:sldId id="935" r:id="rId219"/>
    <p:sldId id="936" r:id="rId220"/>
    <p:sldId id="937" r:id="rId221"/>
    <p:sldId id="938" r:id="rId222"/>
    <p:sldId id="939" r:id="rId223"/>
    <p:sldId id="940" r:id="rId224"/>
    <p:sldId id="941" r:id="rId225"/>
    <p:sldId id="942" r:id="rId226"/>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p:restoredTop sz="79176" autoAdjust="0"/>
  </p:normalViewPr>
  <p:slideViewPr>
    <p:cSldViewPr showGuides="1">
      <p:cViewPr varScale="1">
        <p:scale>
          <a:sx n="67" d="100"/>
          <a:sy n="67" d="100"/>
        </p:scale>
        <p:origin x="1350" y="72"/>
      </p:cViewPr>
      <p:guideLst>
        <p:guide orient="horz" pos="2160"/>
        <p:guide pos="28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45007" cy="45007"/>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slide" Target="slides/slide22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227" Type="http://schemas.openxmlformats.org/officeDocument/2006/relationships/notesMaster" Target="notesMasters/notesMaster1.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217" Type="http://schemas.openxmlformats.org/officeDocument/2006/relationships/slide" Target="slides/slide214.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228" Type="http://schemas.openxmlformats.org/officeDocument/2006/relationships/handoutMaster" Target="handoutMasters/handoutMaster1.xml"/><Relationship Id="rId13" Type="http://schemas.openxmlformats.org/officeDocument/2006/relationships/slide" Target="slides/slide10.xml"/><Relationship Id="rId109" Type="http://schemas.openxmlformats.org/officeDocument/2006/relationships/slide" Target="slides/slide106.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18" Type="http://schemas.openxmlformats.org/officeDocument/2006/relationships/slide" Target="slides/slide215.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presProps" Target="presProps.xml"/><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230" Type="http://schemas.openxmlformats.org/officeDocument/2006/relationships/viewProps" Target="viewProps.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slide" Target="slides/slide206.xml"/><Relationship Id="rId190" Type="http://schemas.openxmlformats.org/officeDocument/2006/relationships/slide" Target="slides/slide187.xml"/><Relationship Id="rId204" Type="http://schemas.openxmlformats.org/officeDocument/2006/relationships/slide" Target="slides/slide201.xml"/><Relationship Id="rId220" Type="http://schemas.openxmlformats.org/officeDocument/2006/relationships/slide" Target="slides/slide217.xml"/><Relationship Id="rId225" Type="http://schemas.openxmlformats.org/officeDocument/2006/relationships/slide" Target="slides/slide222.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slide" Target="slides/slide207.xml"/><Relationship Id="rId215" Type="http://schemas.openxmlformats.org/officeDocument/2006/relationships/slide" Target="slides/slide212.xml"/><Relationship Id="rId26" Type="http://schemas.openxmlformats.org/officeDocument/2006/relationships/slide" Target="slides/slide23.xml"/><Relationship Id="rId231" Type="http://schemas.openxmlformats.org/officeDocument/2006/relationships/theme" Target="theme/theme1.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openxmlformats.org/officeDocument/2006/relationships/tableStyles" Target="tableStyles.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12" Type="http://schemas.openxmlformats.org/officeDocument/2006/relationships/slide" Target="slides/slide209.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slide" Target="slides/slide199.xml"/><Relationship Id="rId223" Type="http://schemas.openxmlformats.org/officeDocument/2006/relationships/slide" Target="slides/slide220.xml"/><Relationship Id="rId18" Type="http://schemas.openxmlformats.org/officeDocument/2006/relationships/slide" Target="slides/slide15.xml"/><Relationship Id="rId39" Type="http://schemas.openxmlformats.org/officeDocument/2006/relationships/slide" Target="slides/slide36.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 Type="http://schemas.openxmlformats.org/officeDocument/2006/relationships/slideMaster" Target="slideMasters/slideMaster2.xml"/><Relationship Id="rId29" Type="http://schemas.openxmlformats.org/officeDocument/2006/relationships/slide" Target="slides/slide26.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0098" name="Header Placeholder 900097"/>
          <p:cNvSpPr>
            <a:spLocks noGrp="1"/>
          </p:cNvSpPr>
          <p:nvPr>
            <p:ph type="hdr" sz="quarter"/>
          </p:nvPr>
        </p:nvSpPr>
        <p:spPr>
          <a:xfrm>
            <a:off x="0" y="0"/>
            <a:ext cx="2971800" cy="457200"/>
          </a:xfrm>
          <a:prstGeom prst="rect">
            <a:avLst/>
          </a:prstGeom>
          <a:noFill/>
          <a:ln w="9525">
            <a:noFill/>
          </a:ln>
        </p:spPr>
        <p:txBody>
          <a:bodyPr/>
          <a:lstStyle/>
          <a:p>
            <a:pPr lvl="0"/>
            <a:endParaRPr lang="en-US" sz="1200" b="0"/>
          </a:p>
        </p:txBody>
      </p:sp>
      <p:sp>
        <p:nvSpPr>
          <p:cNvPr id="900099" name="Date Placeholder 900098"/>
          <p:cNvSpPr>
            <a:spLocks noGrp="1"/>
          </p:cNvSpPr>
          <p:nvPr>
            <p:ph type="dt" sz="quarter" idx="1"/>
          </p:nvPr>
        </p:nvSpPr>
        <p:spPr>
          <a:xfrm>
            <a:off x="3884613" y="0"/>
            <a:ext cx="2971800" cy="457200"/>
          </a:xfrm>
          <a:prstGeom prst="rect">
            <a:avLst/>
          </a:prstGeom>
          <a:noFill/>
          <a:ln w="9525">
            <a:noFill/>
          </a:ln>
        </p:spPr>
        <p:txBody>
          <a:bodyPr/>
          <a:lstStyle/>
          <a:p>
            <a:pPr lvl="0" algn="r"/>
            <a:endParaRPr lang="en-US" sz="1200" b="0"/>
          </a:p>
        </p:txBody>
      </p:sp>
      <p:sp>
        <p:nvSpPr>
          <p:cNvPr id="900100" name="Footer Placeholder 900099"/>
          <p:cNvSpPr>
            <a:spLocks noGrp="1"/>
          </p:cNvSpPr>
          <p:nvPr>
            <p:ph type="ftr" sz="quarter" idx="2"/>
          </p:nvPr>
        </p:nvSpPr>
        <p:spPr>
          <a:xfrm>
            <a:off x="0" y="8685213"/>
            <a:ext cx="2971800" cy="457200"/>
          </a:xfrm>
          <a:prstGeom prst="rect">
            <a:avLst/>
          </a:prstGeom>
          <a:noFill/>
          <a:ln w="9525">
            <a:noFill/>
          </a:ln>
        </p:spPr>
        <p:txBody>
          <a:bodyPr anchor="b" anchorCtr="0"/>
          <a:lstStyle/>
          <a:p>
            <a:pPr lvl="0"/>
            <a:r>
              <a:rPr lang="en-US" sz="1200" b="0"/>
              <a:t>1.#</a:t>
            </a:r>
          </a:p>
        </p:txBody>
      </p:sp>
      <p:sp>
        <p:nvSpPr>
          <p:cNvPr id="900101" name="Slide Number Placeholder 900100"/>
          <p:cNvSpPr>
            <a:spLocks noGrp="1"/>
          </p:cNvSpPr>
          <p:nvPr>
            <p:ph type="sldNum" sz="quarter" idx="3"/>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sz="1200" b="0"/>
              <a:t>‹#›</a:t>
            </a:fld>
            <a:endParaRPr lang="en-US" sz="1200" b="0"/>
          </a:p>
        </p:txBody>
      </p:sp>
    </p:spTree>
    <p:extLst>
      <p:ext uri="{BB962C8B-B14F-4D97-AF65-F5344CB8AC3E}">
        <p14:creationId xmlns:p14="http://schemas.microsoft.com/office/powerpoint/2010/main" val="31506860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8594" name="Header Placeholder 878593"/>
          <p:cNvSpPr>
            <a:spLocks noGrp="1"/>
          </p:cNvSpPr>
          <p:nvPr>
            <p:ph type="hdr" sz="quarter"/>
          </p:nvPr>
        </p:nvSpPr>
        <p:spPr>
          <a:xfrm>
            <a:off x="0" y="0"/>
            <a:ext cx="2971800" cy="457200"/>
          </a:xfrm>
          <a:prstGeom prst="rect">
            <a:avLst/>
          </a:prstGeom>
          <a:noFill/>
          <a:ln w="9525">
            <a:noFill/>
          </a:ln>
        </p:spPr>
        <p:txBody>
          <a:bodyPr/>
          <a:lstStyle/>
          <a:p>
            <a:pPr lvl="0"/>
            <a:endParaRPr lang="en-US" sz="1200" b="0" dirty="0"/>
          </a:p>
        </p:txBody>
      </p:sp>
      <p:sp>
        <p:nvSpPr>
          <p:cNvPr id="878595" name="Date Placeholder 878594"/>
          <p:cNvSpPr>
            <a:spLocks noGrp="1"/>
          </p:cNvSpPr>
          <p:nvPr>
            <p:ph type="dt" idx="1"/>
          </p:nvPr>
        </p:nvSpPr>
        <p:spPr>
          <a:xfrm>
            <a:off x="3884613" y="0"/>
            <a:ext cx="2971800" cy="457200"/>
          </a:xfrm>
          <a:prstGeom prst="rect">
            <a:avLst/>
          </a:prstGeom>
          <a:noFill/>
          <a:ln w="9525">
            <a:noFill/>
          </a:ln>
        </p:spPr>
        <p:txBody>
          <a:bodyPr/>
          <a:lstStyle/>
          <a:p>
            <a:pPr lvl="0" algn="r"/>
            <a:endParaRPr lang="en-US" sz="1200" b="0" dirty="0"/>
          </a:p>
        </p:txBody>
      </p:sp>
      <p:sp>
        <p:nvSpPr>
          <p:cNvPr id="878596" name="Slide Image Placeholder 878595"/>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878597" name="Text Placeholder 878596"/>
          <p:cNvSpPr>
            <a:spLocks noGrp="1"/>
          </p:cNvSpPr>
          <p:nvPr>
            <p:ph type="body" sz="quarter" idx="3"/>
          </p:nvPr>
        </p:nvSpPr>
        <p:spPr>
          <a:xfrm>
            <a:off x="685800" y="4343400"/>
            <a:ext cx="5486400" cy="4114800"/>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878598" name="Footer Placeholder 878597"/>
          <p:cNvSpPr>
            <a:spLocks noGrp="1"/>
          </p:cNvSpPr>
          <p:nvPr>
            <p:ph type="ftr" sz="quarter" idx="4"/>
          </p:nvPr>
        </p:nvSpPr>
        <p:spPr>
          <a:xfrm>
            <a:off x="0" y="8685213"/>
            <a:ext cx="2971800" cy="457200"/>
          </a:xfrm>
          <a:prstGeom prst="rect">
            <a:avLst/>
          </a:prstGeom>
          <a:noFill/>
          <a:ln w="9525">
            <a:noFill/>
          </a:ln>
        </p:spPr>
        <p:txBody>
          <a:bodyPr anchor="b" anchorCtr="0"/>
          <a:lstStyle/>
          <a:p>
            <a:pPr lvl="0"/>
            <a:r>
              <a:rPr lang="en-US" sz="1200" b="0" dirty="0"/>
              <a:t>1.#</a:t>
            </a:r>
          </a:p>
        </p:txBody>
      </p:sp>
      <p:sp>
        <p:nvSpPr>
          <p:cNvPr id="878599" name="Slide Number Placeholder 878598"/>
          <p:cNvSpPr>
            <a:spLocks noGrp="1"/>
          </p:cNvSpPr>
          <p:nvPr>
            <p:ph type="sldNum" sz="quarter" idx="5"/>
          </p:nvPr>
        </p:nvSpPr>
        <p:spPr>
          <a:xfrm>
            <a:off x="3884613" y="8685213"/>
            <a:ext cx="2971800" cy="457200"/>
          </a:xfrm>
          <a:prstGeom prst="rect">
            <a:avLst/>
          </a:prstGeom>
          <a:noFill/>
          <a:ln w="9525">
            <a:noFill/>
          </a:ln>
        </p:spPr>
        <p:txBody>
          <a:bodyPr anchor="b" anchorCtr="0"/>
          <a:lstStyle/>
          <a:p>
            <a:pPr lvl="0" algn="r"/>
            <a:fld id="{9A0DB2DC-4C9A-4742-B13C-FB6460FD3503}" type="slidenum">
              <a:rPr lang="en-US" sz="1200" b="0" dirty="0"/>
              <a:t>‹#›</a:t>
            </a:fld>
            <a:endParaRPr lang="en-US" sz="1200" b="0" dirty="0"/>
          </a:p>
        </p:txBody>
      </p:sp>
    </p:spTree>
    <p:extLst>
      <p:ext uri="{BB962C8B-B14F-4D97-AF65-F5344CB8AC3E}">
        <p14:creationId xmlns:p14="http://schemas.microsoft.com/office/powerpoint/2010/main" val="668091150"/>
      </p:ext>
    </p:extLst>
  </p:cSld>
  <p:clrMap bg1="lt1" tx1="dk1" bg2="lt2" tx2="dk2" accent1="accent1" accent2="accent2" accent3="accent3" accent4="accent4" accent5="accent5" accent6="accent6" hlink="hlink" folHlink="folHlink"/>
  <p:hf sldNum="0" hd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99074" name="Slide Image Placeholder 899073"/>
          <p:cNvSpPr>
            <a:spLocks noGrp="1" noRot="1" noChangeAspect="1" noTextEdit="1"/>
          </p:cNvSpPr>
          <p:nvPr>
            <p:ph type="sldImg"/>
          </p:nvPr>
        </p:nvSpPr>
        <p:spPr/>
      </p:sp>
      <p:sp>
        <p:nvSpPr>
          <p:cNvPr id="899075" name="Text Placeholder 899074"/>
          <p:cNvSpPr>
            <a:spLocks noGrp="1"/>
          </p:cNvSpPr>
          <p:nvPr>
            <p:ph type="body" idx="1"/>
          </p:nvPr>
        </p:nvSpPr>
        <p:spPr/>
        <p:txBody>
          <a:bodyPr/>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80642" name="Slide Image Placeholder 880641"/>
          <p:cNvSpPr>
            <a:spLocks noGrp="1" noRot="1" noChangeAspect="1" noTextEdit="1"/>
          </p:cNvSpPr>
          <p:nvPr>
            <p:ph type="sldImg"/>
          </p:nvPr>
        </p:nvSpPr>
        <p:spPr/>
      </p:sp>
      <p:sp>
        <p:nvSpPr>
          <p:cNvPr id="880643" name="Text Placeholder 880642"/>
          <p:cNvSpPr>
            <a:spLocks noGrp="1"/>
          </p:cNvSpPr>
          <p:nvPr>
            <p:ph type="body" idx="1"/>
          </p:nvPr>
        </p:nvSpPr>
        <p:spPr/>
        <p:txBody>
          <a:bodyPr/>
          <a:lstStyle/>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81666" name="Slide Image Placeholder 881665"/>
          <p:cNvSpPr>
            <a:spLocks noGrp="1" noRot="1" noChangeAspect="1" noTextEdit="1"/>
          </p:cNvSpPr>
          <p:nvPr>
            <p:ph type="sldImg"/>
          </p:nvPr>
        </p:nvSpPr>
        <p:spPr/>
      </p:sp>
      <p:sp>
        <p:nvSpPr>
          <p:cNvPr id="881667" name="Text Placeholder 881666"/>
          <p:cNvSpPr>
            <a:spLocks noGrp="1"/>
          </p:cNvSpPr>
          <p:nvPr>
            <p:ph type="body" idx="1"/>
          </p:nvPr>
        </p:nvSpPr>
        <p:spPr/>
        <p:txBody>
          <a:bodyPr/>
          <a:lstStyle/>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82690" name="Slide Image Placeholder 882689"/>
          <p:cNvSpPr>
            <a:spLocks noGrp="1" noRot="1" noChangeAspect="1" noTextEdit="1"/>
          </p:cNvSpPr>
          <p:nvPr>
            <p:ph type="sldImg"/>
          </p:nvPr>
        </p:nvSpPr>
        <p:spPr/>
      </p:sp>
      <p:sp>
        <p:nvSpPr>
          <p:cNvPr id="882691" name="Text Placeholder 882690"/>
          <p:cNvSpPr>
            <a:spLocks noGrp="1"/>
          </p:cNvSpPr>
          <p:nvPr>
            <p:ph type="body" idx="1"/>
          </p:nvPr>
        </p:nvSpPr>
        <p:spPr/>
        <p:txBody>
          <a:bodyPr/>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i="0" dirty="0"/>
              <a:t>40</a:t>
            </a:fld>
            <a:endParaRPr lang="en-US" sz="1200" b="0" i="0" dirty="0"/>
          </a:p>
        </p:txBody>
      </p:sp>
      <p:sp>
        <p:nvSpPr>
          <p:cNvPr id="929794" name="Slide Image Placeholder 929793"/>
          <p:cNvSpPr>
            <a:spLocks noGrp="1" noRot="1" noChangeAspect="1" noTextEdit="1"/>
          </p:cNvSpPr>
          <p:nvPr>
            <p:ph type="sldImg"/>
          </p:nvPr>
        </p:nvSpPr>
        <p:spPr/>
      </p:sp>
      <p:sp>
        <p:nvSpPr>
          <p:cNvPr id="929795" name="Text Placeholder 929794"/>
          <p:cNvSpPr>
            <a:spLocks noGrp="1"/>
          </p:cNvSpPr>
          <p:nvPr>
            <p:ph type="body" idx="1"/>
          </p:nvPr>
        </p:nvSpPr>
        <p:spPr/>
        <p:txBody>
          <a:bodyPr/>
          <a:lstStyle/>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97026" name="Slide Image Placeholder 897025"/>
          <p:cNvSpPr>
            <a:spLocks noGrp="1" noRot="1" noChangeAspect="1" noTextEdit="1"/>
          </p:cNvSpPr>
          <p:nvPr>
            <p:ph type="sldImg"/>
          </p:nvPr>
        </p:nvSpPr>
        <p:spPr/>
      </p:sp>
      <p:sp>
        <p:nvSpPr>
          <p:cNvPr id="897027" name="Text Placeholder 897026"/>
          <p:cNvSpPr>
            <a:spLocks noGrp="1"/>
          </p:cNvSpPr>
          <p:nvPr>
            <p:ph type="body" idx="1"/>
          </p:nvPr>
        </p:nvSpPr>
        <p:spPr/>
        <p:txBody>
          <a:bodyPr/>
          <a:lstStyle/>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912386" name="Slide Image Placeholder 912385"/>
          <p:cNvSpPr>
            <a:spLocks noGrp="1" noRot="1" noChangeAspect="1" noTextEdit="1"/>
          </p:cNvSpPr>
          <p:nvPr>
            <p:ph type="sldImg"/>
          </p:nvPr>
        </p:nvSpPr>
        <p:spPr/>
      </p:sp>
      <p:sp>
        <p:nvSpPr>
          <p:cNvPr id="912387" name="Text Placeholder 912386"/>
          <p:cNvSpPr>
            <a:spLocks noGrp="1"/>
          </p:cNvSpPr>
          <p:nvPr>
            <p:ph type="body" idx="1"/>
          </p:nvPr>
        </p:nvSpPr>
        <p:spPr/>
        <p:txBody>
          <a:bodyPr/>
          <a:lstStyle/>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83714" name="Slide Image Placeholder 883713"/>
          <p:cNvSpPr>
            <a:spLocks noGrp="1" noRot="1" noChangeAspect="1" noTextEdit="1"/>
          </p:cNvSpPr>
          <p:nvPr>
            <p:ph type="sldImg"/>
          </p:nvPr>
        </p:nvSpPr>
        <p:spPr/>
      </p:sp>
      <p:sp>
        <p:nvSpPr>
          <p:cNvPr id="883715" name="Text Placeholder 883714"/>
          <p:cNvSpPr>
            <a:spLocks noGrp="1"/>
          </p:cNvSpPr>
          <p:nvPr>
            <p:ph type="body" idx="1"/>
          </p:nvPr>
        </p:nvSpPr>
        <p:spPr/>
        <p:txBody>
          <a:bodyPr/>
          <a:lstStyle/>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2"/>
          </p:nvPr>
        </p:nvSpPr>
        <p:spPr/>
        <p:txBody>
          <a:bodyPr/>
          <a:lstStyle/>
          <a:p>
            <a:pPr lvl="0"/>
            <a:r>
              <a:rPr lang="en-US" sz="1200" b="0" dirty="0"/>
              <a:t>1.#</a:t>
            </a:r>
          </a:p>
        </p:txBody>
      </p:sp>
      <p:sp>
        <p:nvSpPr>
          <p:cNvPr id="884738" name="Slide Image Placeholder 884737"/>
          <p:cNvSpPr>
            <a:spLocks noGrp="1" noRot="1" noChangeAspect="1" noTextEdit="1"/>
          </p:cNvSpPr>
          <p:nvPr>
            <p:ph type="sldImg"/>
          </p:nvPr>
        </p:nvSpPr>
        <p:spPr/>
      </p:sp>
      <p:sp>
        <p:nvSpPr>
          <p:cNvPr id="884739" name="Text Placeholder 884738"/>
          <p:cNvSpPr>
            <a:spLocks noGrp="1"/>
          </p:cNvSpPr>
          <p:nvPr>
            <p:ph type="body" idx="1"/>
          </p:nvPr>
        </p:nvSpPr>
        <p:spPr/>
        <p:txBody>
          <a:bodyPr/>
          <a:lstStyle/>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64</a:t>
            </a:fld>
            <a:endParaRPr lang="en-US" sz="1200" dirty="0"/>
          </a:p>
        </p:txBody>
      </p:sp>
      <p:sp>
        <p:nvSpPr>
          <p:cNvPr id="9218" name="Slide Image Placeholder 9217"/>
          <p:cNvSpPr>
            <a:spLocks noGrp="1" noRot="1" noChangeAspect="1" noTextEdit="1"/>
          </p:cNvSpPr>
          <p:nvPr>
            <p:ph type="sldImg"/>
          </p:nvPr>
        </p:nvSpPr>
        <p:spPr/>
      </p:sp>
      <p:sp>
        <p:nvSpPr>
          <p:cNvPr id="9219" name="Text Placeholder 9218"/>
          <p:cNvSpPr>
            <a:spLocks noGrp="1"/>
          </p:cNvSpPr>
          <p:nvPr>
            <p:ph type="body" idx="1"/>
          </p:nvPr>
        </p:nvSpPr>
        <p:spPr/>
        <p:txBody>
          <a:bodyPr/>
          <a:lstStyle/>
          <a:p>
            <a:pPr lvl="0"/>
            <a:r>
              <a:rPr b="1" i="1">
                <a:cs typeface="Times New Roman" charset="0"/>
              </a:rPr>
              <a:t>Teaching Tip</a:t>
            </a:r>
          </a:p>
          <a:p>
            <a:pPr lvl="0"/>
            <a:r>
              <a:rPr>
                <a:cs typeface="Times" charset="0"/>
              </a:rPr>
              <a:t>Figure 9A.2 on page 342 visually describes the sharing process. It can be helpful to have students open a shared file that you control. Make a change then have the students open it again. Alternatively, share a document and allow your students to write in it. Then demonstrate how the shared document changes.</a:t>
            </a:r>
            <a:r>
              <a:t> </a:t>
            </a:r>
          </a:p>
          <a:p>
            <a:pPr lvl="0"/>
            <a:endParaRPr/>
          </a:p>
          <a:p>
            <a:pPr lvl="0"/>
            <a:r>
              <a:t>Spend time discussing why application servers need to be so powerful.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65</a:t>
            </a:fld>
            <a:endParaRPr lang="en-US" sz="1200" dirty="0"/>
          </a:p>
        </p:txBody>
      </p:sp>
      <p:sp>
        <p:nvSpPr>
          <p:cNvPr id="12290" name="Slide Image Placeholder 12289"/>
          <p:cNvSpPr>
            <a:spLocks noGrp="1" noRot="1" noChangeAspect="1" noTextEdit="1"/>
          </p:cNvSpPr>
          <p:nvPr>
            <p:ph type="sldImg"/>
          </p:nvPr>
        </p:nvSpPr>
        <p:spPr/>
      </p:sp>
      <p:sp>
        <p:nvSpPr>
          <p:cNvPr id="12291" name="Text Placeholder 12290"/>
          <p:cNvSpPr>
            <a:spLocks noGrp="1"/>
          </p:cNvSpPr>
          <p:nvPr>
            <p:ph type="body" idx="1"/>
          </p:nvPr>
        </p:nvSpPr>
        <p:spPr/>
        <p:txBody>
          <a:bodyPr/>
          <a:lstStyle/>
          <a:p>
            <a:pPr lvl="0"/>
            <a:r>
              <a:rPr b="1" i="1">
                <a:cs typeface="Times New Roman" charset="0"/>
              </a:rPr>
              <a:t>Teaching tip</a:t>
            </a:r>
          </a:p>
          <a:p>
            <a:pPr lvl="0"/>
            <a:r>
              <a:rPr>
                <a:cs typeface="Times" charset="0"/>
              </a:rPr>
              <a:t>Figure 9A.4 on page 344 shows a print queue. It can be helpful to demonstrate your classroom queue.</a:t>
            </a:r>
            <a:r>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67</a:t>
            </a:fld>
            <a:endParaRPr lang="en-US" sz="1200" dirty="0"/>
          </a:p>
        </p:txBody>
      </p:sp>
      <p:sp>
        <p:nvSpPr>
          <p:cNvPr id="15362" name="Slide Image Placeholder 15361"/>
          <p:cNvSpPr>
            <a:spLocks noGrp="1" noRot="1" noChangeAspect="1" noTextEdit="1"/>
          </p:cNvSpPr>
          <p:nvPr>
            <p:ph type="sldImg"/>
          </p:nvPr>
        </p:nvSpPr>
        <p:spPr/>
      </p:sp>
      <p:sp>
        <p:nvSpPr>
          <p:cNvPr id="15363" name="Text Placeholder 15362"/>
          <p:cNvSpPr>
            <a:spLocks noGrp="1"/>
          </p:cNvSpPr>
          <p:nvPr>
            <p:ph type="body" idx="1"/>
          </p:nvPr>
        </p:nvSpPr>
        <p:spPr/>
        <p:txBody>
          <a:bodyPr/>
          <a:lstStyle/>
          <a:p>
            <a:pPr lvl="0"/>
            <a:r>
              <a:rPr b="1" i="1">
                <a:cs typeface="Times New Roman" charset="0"/>
              </a:rPr>
              <a:t>Teaching tip</a:t>
            </a:r>
          </a:p>
          <a:p>
            <a:pPr lvl="0"/>
            <a:r>
              <a:rPr>
                <a:cs typeface="Times" charset="0"/>
              </a:rPr>
              <a:t>It is fun if you can setup a teleconference in your classroom. Students get to learn how to join or create the conference. Additionally, they learn how to participate. Finally, students have fun, especially with shared whiteboards.</a:t>
            </a:r>
            <a:r>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69</a:t>
            </a:fld>
            <a:endParaRPr lang="en-US" sz="1200" dirty="0"/>
          </a:p>
        </p:txBody>
      </p:sp>
      <p:sp>
        <p:nvSpPr>
          <p:cNvPr id="18434" name="Slide Image Placeholder 18433"/>
          <p:cNvSpPr>
            <a:spLocks noGrp="1" noRot="1" noChangeAspect="1" noTextEdit="1"/>
          </p:cNvSpPr>
          <p:nvPr>
            <p:ph type="sldImg"/>
          </p:nvPr>
        </p:nvSpPr>
        <p:spPr/>
      </p:sp>
      <p:sp>
        <p:nvSpPr>
          <p:cNvPr id="18435" name="Text Placeholder 18434"/>
          <p:cNvSpPr>
            <a:spLocks noGrp="1"/>
          </p:cNvSpPr>
          <p:nvPr>
            <p:ph type="body" idx="1"/>
          </p:nvPr>
        </p:nvSpPr>
        <p:spPr/>
        <p:txBody>
          <a:bodyPr/>
          <a:lstStyle/>
          <a:p>
            <a:pPr lvl="0"/>
            <a:r>
              <a:rPr b="1" i="1">
                <a:cs typeface="Times New Roman" charset="0"/>
              </a:rPr>
              <a:t>Insider information</a:t>
            </a:r>
          </a:p>
          <a:p>
            <a:pPr lvl="0"/>
            <a:r>
              <a:rPr>
                <a:cs typeface="Times" charset="0"/>
              </a:rPr>
              <a:t>The text describes needing special software to back up data from user drives. However, the backup utility that comes with Windows 2000 and XP is capable of performing this chore.</a:t>
            </a:r>
            <a: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83</a:t>
            </a:fld>
            <a:endParaRPr lang="en-US" sz="1200" dirty="0"/>
          </a:p>
        </p:txBody>
      </p:sp>
      <p:sp>
        <p:nvSpPr>
          <p:cNvPr id="20482" name="Slide Image Placeholder 20481"/>
          <p:cNvSpPr>
            <a:spLocks noGrp="1" noRot="1" noChangeAspect="1" noTextEdit="1"/>
          </p:cNvSpPr>
          <p:nvPr>
            <p:ph type="sldImg"/>
          </p:nvPr>
        </p:nvSpPr>
        <p:spPr/>
      </p:sp>
      <p:sp>
        <p:nvSpPr>
          <p:cNvPr id="20483" name="Text Placeholder 20482"/>
          <p:cNvSpPr>
            <a:spLocks noGrp="1"/>
          </p:cNvSpPr>
          <p:nvPr>
            <p:ph type="body" idx="1"/>
          </p:nvPr>
        </p:nvSpPr>
        <p:spPr/>
        <p:txBody>
          <a:bodyPr/>
          <a:lstStyle/>
          <a:p>
            <a:pPr lvl="0"/>
            <a:r>
              <a:rPr b="1" i="1">
                <a:cs typeface="Times New Roman" charset="0"/>
              </a:rPr>
              <a:t>Teaching tip</a:t>
            </a:r>
          </a:p>
          <a:p>
            <a:pPr lvl="0"/>
            <a:r>
              <a:rPr>
                <a:cs typeface="Times" charset="0"/>
              </a:rPr>
              <a:t>Use a real world example to describe an organization with interconnected LANs.</a:t>
            </a:r>
            <a:r>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84</a:t>
            </a:fld>
            <a:endParaRPr lang="en-US" sz="1200" dirty="0"/>
          </a:p>
        </p:txBody>
      </p:sp>
      <p:sp>
        <p:nvSpPr>
          <p:cNvPr id="23554" name="Slide Image Placeholder 23553"/>
          <p:cNvSpPr>
            <a:spLocks noGrp="1" noRot="1" noChangeAspect="1" noTextEdit="1"/>
          </p:cNvSpPr>
          <p:nvPr>
            <p:ph type="sldImg"/>
          </p:nvPr>
        </p:nvSpPr>
        <p:spPr/>
      </p:sp>
      <p:sp>
        <p:nvSpPr>
          <p:cNvPr id="23555" name="Text Placeholder 23554"/>
          <p:cNvSpPr>
            <a:spLocks noGrp="1"/>
          </p:cNvSpPr>
          <p:nvPr>
            <p:ph type="body" idx="1"/>
          </p:nvPr>
        </p:nvSpPr>
        <p:spPr/>
        <p:txBody>
          <a:bodyPr/>
          <a:lstStyle/>
          <a:p>
            <a:pPr lvl="0"/>
            <a:r>
              <a:rPr b="1" i="1">
                <a:cs typeface="Times New Roman" charset="0"/>
              </a:rPr>
              <a:t>Teaching tip </a:t>
            </a:r>
          </a:p>
          <a:p>
            <a:pPr lvl="0"/>
            <a:r>
              <a:rPr>
                <a:cs typeface="Times" charset="0"/>
              </a:rPr>
              <a:t>Blockbuster Video uses a WAN to connect it’s stores nationwide. Customers from Pittsburgh may rent videos in Hilton Head. Late fees will even be displayed!</a:t>
            </a:r>
            <a:r>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86</a:t>
            </a:fld>
            <a:endParaRPr lang="en-US" sz="1200" dirty="0"/>
          </a:p>
        </p:txBody>
      </p:sp>
      <p:sp>
        <p:nvSpPr>
          <p:cNvPr id="29698" name="Slide Image Placeholder 29697"/>
          <p:cNvSpPr>
            <a:spLocks noGrp="1" noRot="1" noChangeAspect="1" noTextEdit="1"/>
          </p:cNvSpPr>
          <p:nvPr>
            <p:ph type="sldImg"/>
          </p:nvPr>
        </p:nvSpPr>
        <p:spPr/>
      </p:sp>
      <p:sp>
        <p:nvSpPr>
          <p:cNvPr id="29699" name="Text Placeholder 29698"/>
          <p:cNvSpPr>
            <a:spLocks noGrp="1"/>
          </p:cNvSpPr>
          <p:nvPr>
            <p:ph type="body" idx="1"/>
          </p:nvPr>
        </p:nvSpPr>
        <p:spPr/>
        <p:txBody>
          <a:bodyPr/>
          <a:lstStyle/>
          <a:p>
            <a:pPr lvl="0"/>
            <a:r>
              <a:rPr b="1">
                <a:cs typeface="Times New Roman" charset="0"/>
              </a:rPr>
              <a:t>Teaching tip</a:t>
            </a:r>
          </a:p>
          <a:p>
            <a:pPr lvl="0"/>
            <a:r>
              <a:rPr>
                <a:cs typeface="Times New Roman" charset="0"/>
              </a:rPr>
              <a:t>An example of a regional resource is a supercomputer. For example, Pittsburgh has the Pittsburgh Super Computing center (www.psc.edu). The various colleges in Pittsburgh connect to the center through a MAN in Pittsburgh.</a:t>
            </a:r>
          </a:p>
          <a:p>
            <a:pPr lvl="0"/>
            <a:endParaRPr>
              <a:cs typeface="Times New Roman" charset="0"/>
            </a:endParaRPr>
          </a:p>
          <a:p>
            <a:pPr lvl="0"/>
            <a:endParaRPr>
              <a:cs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87</a:t>
            </a:fld>
            <a:endParaRPr lang="en-US" sz="1200" dirty="0"/>
          </a:p>
        </p:txBody>
      </p:sp>
      <p:sp>
        <p:nvSpPr>
          <p:cNvPr id="26626" name="Slide Image Placeholder 26625"/>
          <p:cNvSpPr>
            <a:spLocks noGrp="1" noRot="1" noChangeAspect="1" noTextEdit="1"/>
          </p:cNvSpPr>
          <p:nvPr>
            <p:ph type="sldImg"/>
          </p:nvPr>
        </p:nvSpPr>
        <p:spPr/>
      </p:sp>
      <p:sp>
        <p:nvSpPr>
          <p:cNvPr id="26627" name="Text Placeholder 26626"/>
          <p:cNvSpPr>
            <a:spLocks noGrp="1"/>
          </p:cNvSpPr>
          <p:nvPr>
            <p:ph type="body" idx="1"/>
          </p:nvPr>
        </p:nvSpPr>
        <p:spPr/>
        <p:txBody>
          <a:bodyPr/>
          <a:lstStyle/>
          <a:p>
            <a:pPr lvl="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88</a:t>
            </a:fld>
            <a:endParaRPr lang="en-US" sz="1200" dirty="0"/>
          </a:p>
        </p:txBody>
      </p:sp>
      <p:sp>
        <p:nvSpPr>
          <p:cNvPr id="28674" name="Slide Image Placeholder 28673"/>
          <p:cNvSpPr>
            <a:spLocks noGrp="1" noRot="1" noChangeAspect="1" noTextEdit="1"/>
          </p:cNvSpPr>
          <p:nvPr>
            <p:ph type="sldImg"/>
          </p:nvPr>
        </p:nvSpPr>
        <p:spPr/>
      </p:sp>
      <p:sp>
        <p:nvSpPr>
          <p:cNvPr id="28675" name="Text Placeholder 28674"/>
          <p:cNvSpPr>
            <a:spLocks noGrp="1"/>
          </p:cNvSpPr>
          <p:nvPr>
            <p:ph type="body" idx="1"/>
          </p:nvPr>
        </p:nvSpPr>
        <p:spPr/>
        <p:txBody>
          <a:bodyPr/>
          <a:lstStyle/>
          <a:p>
            <a:pPr lvl="0"/>
            <a:r>
              <a:rPr b="1" i="1">
                <a:cs typeface="Times New Roman" charset="0"/>
              </a:rPr>
              <a:t>Insider information</a:t>
            </a:r>
          </a:p>
          <a:p>
            <a:pPr lvl="0"/>
            <a:r>
              <a:rPr>
                <a:cs typeface="Times" charset="0"/>
              </a:rPr>
              <a:t>PAN is very new. Few devices support PAN. High end cell phones include Bluetooth technology. Once the technology matures, Bluetooth will allow the creation of a PAN.</a:t>
            </a:r>
            <a:r>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89</a:t>
            </a:fld>
            <a:endParaRPr lang="en-US" sz="1200" dirty="0"/>
          </a:p>
        </p:txBody>
      </p:sp>
      <p:sp>
        <p:nvSpPr>
          <p:cNvPr id="31746" name="Slide Image Placeholder 31745"/>
          <p:cNvSpPr>
            <a:spLocks noGrp="1" noRot="1" noChangeAspect="1" noTextEdit="1"/>
          </p:cNvSpPr>
          <p:nvPr>
            <p:ph type="sldImg"/>
          </p:nvPr>
        </p:nvSpPr>
        <p:spPr/>
      </p:sp>
      <p:sp>
        <p:nvSpPr>
          <p:cNvPr id="31747" name="Text Placeholder 31746"/>
          <p:cNvSpPr>
            <a:spLocks noGrp="1"/>
          </p:cNvSpPr>
          <p:nvPr>
            <p:ph type="body" idx="1"/>
          </p:nvPr>
        </p:nvSpPr>
        <p:spPr/>
        <p:txBody>
          <a:bodyPr/>
          <a:lstStyle/>
          <a:p>
            <a:pPr lvl="0"/>
            <a:r>
              <a:rPr b="1" i="1">
                <a:cs typeface="Times New Roman" charset="0"/>
              </a:rPr>
              <a:t>Teaching tip</a:t>
            </a:r>
          </a:p>
          <a:p>
            <a:pPr lvl="0"/>
            <a:r>
              <a:rPr>
                <a:cs typeface="Times" charset="0"/>
              </a:rPr>
              <a:t>Spend a few minutes here discussing password policies. Describe why it is important not to give out a password. Also describe why longer, more complicated passwords are important.</a:t>
            </a:r>
            <a: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91</a:t>
            </a:fld>
            <a:endParaRPr lang="en-US" sz="1200" dirty="0"/>
          </a:p>
        </p:txBody>
      </p:sp>
      <p:sp>
        <p:nvSpPr>
          <p:cNvPr id="34818" name="Slide Image Placeholder 34817"/>
          <p:cNvSpPr>
            <a:spLocks noGrp="1" noRot="1" noChangeAspect="1" noTextEdit="1"/>
          </p:cNvSpPr>
          <p:nvPr>
            <p:ph type="sldImg"/>
          </p:nvPr>
        </p:nvSpPr>
        <p:spPr/>
      </p:sp>
      <p:sp>
        <p:nvSpPr>
          <p:cNvPr id="34819" name="Text Placeholder 34818"/>
          <p:cNvSpPr>
            <a:spLocks noGrp="1"/>
          </p:cNvSpPr>
          <p:nvPr>
            <p:ph type="body" idx="1"/>
          </p:nvPr>
        </p:nvSpPr>
        <p:spPr/>
        <p:txBody>
          <a:bodyPr/>
          <a:lstStyle/>
          <a:p>
            <a:pPr lvl="0"/>
            <a:r>
              <a:rPr b="1" i="1">
                <a:cs typeface="Times New Roman" charset="0"/>
              </a:rPr>
              <a:t>Teaching tip</a:t>
            </a:r>
          </a:p>
          <a:p>
            <a:pPr lvl="0"/>
            <a:r>
              <a:rPr>
                <a:cs typeface="Times" charset="0"/>
              </a:rPr>
              <a:t>Discuss how users managing their own security settings can be bad.</a:t>
            </a:r>
            <a: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107</a:t>
            </a:fld>
            <a:endParaRPr lang="en-US" sz="1200" dirty="0"/>
          </a:p>
        </p:txBody>
      </p:sp>
      <p:sp>
        <p:nvSpPr>
          <p:cNvPr id="36866" name="Slide Image Placeholder 36865"/>
          <p:cNvSpPr>
            <a:spLocks noGrp="1" noRot="1" noChangeAspect="1" noTextEdit="1"/>
          </p:cNvSpPr>
          <p:nvPr>
            <p:ph type="sldImg"/>
          </p:nvPr>
        </p:nvSpPr>
        <p:spPr/>
      </p:sp>
      <p:sp>
        <p:nvSpPr>
          <p:cNvPr id="36867" name="Text Placeholder 36866"/>
          <p:cNvSpPr>
            <a:spLocks noGrp="1"/>
          </p:cNvSpPr>
          <p:nvPr>
            <p:ph type="body" idx="1"/>
          </p:nvPr>
        </p:nvSpPr>
        <p:spPr/>
        <p:txBody>
          <a:bodyPr/>
          <a:lstStyle/>
          <a:p>
            <a:pPr lvl="0"/>
            <a:r>
              <a:rPr b="1" i="1">
                <a:cs typeface="Times New Roman" charset="0"/>
              </a:rPr>
              <a:t>Teaching tip</a:t>
            </a:r>
          </a:p>
          <a:p>
            <a:pPr lvl="0"/>
            <a:r>
              <a:rPr>
                <a:cs typeface="Times" charset="0"/>
              </a:rPr>
              <a:t>Discuss how your network topology handles collisions. If your students are technical, contrast this with an inferior topology.</a:t>
            </a:r>
            <a:r>
              <a: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108</a:t>
            </a:fld>
            <a:endParaRPr lang="en-US" sz="1200" dirty="0"/>
          </a:p>
        </p:txBody>
      </p:sp>
      <p:sp>
        <p:nvSpPr>
          <p:cNvPr id="38914" name="Slide Image Placeholder 38913"/>
          <p:cNvSpPr>
            <a:spLocks noGrp="1" noRot="1" noChangeAspect="1" noTextEdit="1"/>
          </p:cNvSpPr>
          <p:nvPr>
            <p:ph type="sldImg"/>
          </p:nvPr>
        </p:nvSpPr>
        <p:spPr/>
      </p:sp>
      <p:sp>
        <p:nvSpPr>
          <p:cNvPr id="38915" name="Text Placeholder 38914"/>
          <p:cNvSpPr>
            <a:spLocks noGrp="1"/>
          </p:cNvSpPr>
          <p:nvPr>
            <p:ph type="body" idx="1"/>
          </p:nvPr>
        </p:nvSpPr>
        <p:spPr/>
        <p:txBody>
          <a:bodyPr/>
          <a:lstStyle/>
          <a:p>
            <a:pPr lvl="0"/>
            <a:r>
              <a:rPr b="1" i="1">
                <a:cs typeface="Times New Roman" charset="0"/>
              </a:rPr>
              <a:t>Teaching tip</a:t>
            </a:r>
          </a:p>
          <a:p>
            <a:pPr lvl="0"/>
            <a:r>
              <a:rPr>
                <a:cs typeface="Times" charset="0"/>
              </a:rPr>
              <a:t>For technical students take the time to draw the packet structure on the board. The typical structure is destination address | sending address | packet number | total packets | data size | payload | error control.</a:t>
            </a:r>
            <a:r>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109</a:t>
            </a:fld>
            <a:endParaRPr lang="en-US" sz="1200" dirty="0"/>
          </a:p>
        </p:txBody>
      </p:sp>
      <p:sp>
        <p:nvSpPr>
          <p:cNvPr id="40962" name="Slide Image Placeholder 40961"/>
          <p:cNvSpPr>
            <a:spLocks noGrp="1" noRot="1" noChangeAspect="1" noTextEdit="1"/>
          </p:cNvSpPr>
          <p:nvPr>
            <p:ph type="sldImg"/>
          </p:nvPr>
        </p:nvSpPr>
        <p:spPr/>
      </p:sp>
      <p:sp>
        <p:nvSpPr>
          <p:cNvPr id="40963" name="Text Placeholder 40962"/>
          <p:cNvSpPr>
            <a:spLocks noGrp="1"/>
          </p:cNvSpPr>
          <p:nvPr>
            <p:ph type="body" idx="1"/>
          </p:nvPr>
        </p:nvSpPr>
        <p:spPr/>
        <p:txBody>
          <a:bodyPr/>
          <a:lstStyle/>
          <a:p>
            <a:pPr lvl="0"/>
            <a:r>
              <a:rPr b="1" i="1" dirty="0">
                <a:cs typeface="Times New Roman" charset="0"/>
              </a:rPr>
              <a:t>Teaching tip</a:t>
            </a:r>
          </a:p>
          <a:p>
            <a:pPr lvl="0"/>
            <a:r>
              <a:rPr dirty="0">
                <a:cs typeface="Times" charset="0"/>
              </a:rPr>
              <a:t>Pages 352 and 353 have diagrams of each network topology</a:t>
            </a:r>
            <a:r>
              <a:rPr dirty="0"/>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116</a:t>
            </a:fld>
            <a:endParaRPr lang="en-US" sz="1200" dirty="0"/>
          </a:p>
        </p:txBody>
      </p:sp>
      <p:sp>
        <p:nvSpPr>
          <p:cNvPr id="49154" name="Slide Image Placeholder 49153"/>
          <p:cNvSpPr>
            <a:spLocks noGrp="1" noRot="1" noChangeAspect="1" noTextEdit="1"/>
          </p:cNvSpPr>
          <p:nvPr>
            <p:ph type="sldImg"/>
          </p:nvPr>
        </p:nvSpPr>
        <p:spPr/>
      </p:sp>
      <p:sp>
        <p:nvSpPr>
          <p:cNvPr id="49155" name="Text Placeholder 49154"/>
          <p:cNvSpPr>
            <a:spLocks noGrp="1"/>
          </p:cNvSpPr>
          <p:nvPr>
            <p:ph type="body" idx="1"/>
          </p:nvPr>
        </p:nvSpPr>
        <p:spPr/>
        <p:txBody>
          <a:bodyPr/>
          <a:lstStyle/>
          <a:p>
            <a:pPr lvl="0"/>
            <a:r>
              <a:rPr b="1" i="1">
                <a:cs typeface="Times New Roman" charset="0"/>
              </a:rPr>
              <a:t>Insider information</a:t>
            </a:r>
          </a:p>
          <a:p>
            <a:pPr lvl="0"/>
            <a:r>
              <a:rPr>
                <a:cs typeface="Times" charset="0"/>
              </a:rPr>
              <a:t>Interference is usually electrical. Magnets, solar flares or electronic devices generate interference. </a:t>
            </a:r>
            <a:endParaRPr>
              <a:ea typeface="Times"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118</a:t>
            </a:fld>
            <a:endParaRPr lang="en-US" sz="1200" dirty="0"/>
          </a:p>
        </p:txBody>
      </p:sp>
      <p:sp>
        <p:nvSpPr>
          <p:cNvPr id="50178" name="Slide Image Placeholder 50177"/>
          <p:cNvSpPr>
            <a:spLocks noGrp="1" noRot="1" noChangeAspect="1" noTextEdit="1"/>
          </p:cNvSpPr>
          <p:nvPr>
            <p:ph type="sldImg"/>
          </p:nvPr>
        </p:nvSpPr>
        <p:spPr/>
      </p:sp>
      <p:sp>
        <p:nvSpPr>
          <p:cNvPr id="50179" name="Text Placeholder 50178"/>
          <p:cNvSpPr>
            <a:spLocks noGrp="1"/>
          </p:cNvSpPr>
          <p:nvPr>
            <p:ph type="body" idx="1"/>
          </p:nvPr>
        </p:nvSpPr>
        <p:spPr/>
        <p:txBody>
          <a:bodyPr/>
          <a:lstStyle/>
          <a:p>
            <a:pPr lvl="0"/>
            <a:r>
              <a:rPr b="1" i="1">
                <a:cs typeface="Times New Roman" charset="0"/>
              </a:rPr>
              <a:t>Teaching tip</a:t>
            </a:r>
          </a:p>
          <a:p>
            <a:pPr lvl="0"/>
            <a:r>
              <a:rPr>
                <a:cs typeface="Times" charset="0"/>
              </a:rPr>
              <a:t>Remind students that bps is bits per second. Gbps then is billion bits per second.</a:t>
            </a:r>
            <a:r>
              <a:t>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119</a:t>
            </a:fld>
            <a:endParaRPr lang="en-US" sz="1200" dirty="0"/>
          </a:p>
        </p:txBody>
      </p:sp>
      <p:sp>
        <p:nvSpPr>
          <p:cNvPr id="52226" name="Slide Image Placeholder 52225"/>
          <p:cNvSpPr>
            <a:spLocks noGrp="1" noRot="1" noChangeAspect="1" noTextEdit="1"/>
          </p:cNvSpPr>
          <p:nvPr>
            <p:ph type="sldImg"/>
          </p:nvPr>
        </p:nvSpPr>
        <p:spPr/>
      </p:sp>
      <p:sp>
        <p:nvSpPr>
          <p:cNvPr id="52227" name="Text Placeholder 52226"/>
          <p:cNvSpPr>
            <a:spLocks noGrp="1"/>
          </p:cNvSpPr>
          <p:nvPr>
            <p:ph type="body" idx="1"/>
          </p:nvPr>
        </p:nvSpPr>
        <p:spPr/>
        <p:txBody>
          <a:bodyPr/>
          <a:lstStyle/>
          <a:p>
            <a:pPr lvl="0"/>
            <a:r>
              <a:rPr b="1" i="1">
                <a:cs typeface="Times New Roman" charset="0"/>
              </a:rPr>
              <a:t>Teaching tip</a:t>
            </a:r>
          </a:p>
          <a:p>
            <a:pPr lvl="0"/>
            <a:r>
              <a:rPr>
                <a:cs typeface="Times" charset="0"/>
              </a:rPr>
              <a:t>Now is the time to briefly discuss 802.11 standards. A full discussion of 802.11 is covered in the next section.</a:t>
            </a:r>
            <a:r>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120</a:t>
            </a:fld>
            <a:endParaRPr lang="en-US" sz="1200" dirty="0"/>
          </a:p>
        </p:txBody>
      </p:sp>
      <p:sp>
        <p:nvSpPr>
          <p:cNvPr id="54274" name="Slide Image Placeholder 54273"/>
          <p:cNvSpPr>
            <a:spLocks noGrp="1" noRot="1" noChangeAspect="1" noTextEdit="1"/>
          </p:cNvSpPr>
          <p:nvPr>
            <p:ph type="sldImg"/>
          </p:nvPr>
        </p:nvSpPr>
        <p:spPr/>
      </p:sp>
      <p:sp>
        <p:nvSpPr>
          <p:cNvPr id="54275" name="Text Placeholder 54274"/>
          <p:cNvSpPr>
            <a:spLocks noGrp="1"/>
          </p:cNvSpPr>
          <p:nvPr>
            <p:ph type="body" idx="1"/>
          </p:nvPr>
        </p:nvSpPr>
        <p:spPr/>
        <p:txBody>
          <a:bodyPr/>
          <a:lstStyle/>
          <a:p>
            <a:pPr lvl="0"/>
            <a:r>
              <a:rPr b="1" i="1">
                <a:cs typeface="Times New Roman" charset="0"/>
              </a:rPr>
              <a:t>Insider Information</a:t>
            </a:r>
          </a:p>
          <a:p>
            <a:pPr lvl="0"/>
            <a:r>
              <a:rPr>
                <a:cs typeface="Times" charset="0"/>
              </a:rPr>
              <a:t>The Xerox Corporation controls the assignment of Ethernet addresses to NIC manufacturers.</a:t>
            </a:r>
            <a:r>
              <a:t>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123</a:t>
            </a:fld>
            <a:endParaRPr lang="en-US" sz="1200" dirty="0"/>
          </a:p>
        </p:txBody>
      </p:sp>
      <p:sp>
        <p:nvSpPr>
          <p:cNvPr id="58370" name="Slide Image Placeholder 58369"/>
          <p:cNvSpPr>
            <a:spLocks noGrp="1" noRot="1" noChangeAspect="1" noTextEdit="1"/>
          </p:cNvSpPr>
          <p:nvPr>
            <p:ph type="sldImg"/>
          </p:nvPr>
        </p:nvSpPr>
        <p:spPr/>
      </p:sp>
      <p:sp>
        <p:nvSpPr>
          <p:cNvPr id="58371" name="Text Placeholder 58370"/>
          <p:cNvSpPr>
            <a:spLocks noGrp="1"/>
          </p:cNvSpPr>
          <p:nvPr>
            <p:ph type="body" idx="1"/>
          </p:nvPr>
        </p:nvSpPr>
        <p:spPr/>
        <p:txBody>
          <a:bodyPr/>
          <a:lstStyle/>
          <a:p>
            <a:pPr lvl="0"/>
            <a:r>
              <a:rPr b="1" i="1">
                <a:cs typeface="Times New Roman" charset="0"/>
              </a:rPr>
              <a:t>Insider information</a:t>
            </a:r>
          </a:p>
          <a:p>
            <a:pPr lvl="0"/>
            <a:r>
              <a:rPr>
                <a:cs typeface="Times" charset="0"/>
              </a:rPr>
              <a:t>Twisted pair networks cannot achieve higher than 10 Mbps using a hub. Switches are necessary to achieve 100 Mbps or higher.</a:t>
            </a:r>
            <a:r>
              <a: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125</a:t>
            </a:fld>
            <a:endParaRPr lang="en-US" sz="1200" dirty="0"/>
          </a:p>
        </p:txBody>
      </p:sp>
      <p:sp>
        <p:nvSpPr>
          <p:cNvPr id="61442" name="Slide Image Placeholder 61441"/>
          <p:cNvSpPr>
            <a:spLocks noGrp="1" noRot="1" noChangeAspect="1" noTextEdit="1"/>
          </p:cNvSpPr>
          <p:nvPr>
            <p:ph type="sldImg"/>
          </p:nvPr>
        </p:nvSpPr>
        <p:spPr/>
      </p:sp>
      <p:sp>
        <p:nvSpPr>
          <p:cNvPr id="61443" name="Text Placeholder 61442"/>
          <p:cNvSpPr>
            <a:spLocks noGrp="1"/>
          </p:cNvSpPr>
          <p:nvPr>
            <p:ph type="body" idx="1"/>
          </p:nvPr>
        </p:nvSpPr>
        <p:spPr/>
        <p:txBody>
          <a:bodyPr/>
          <a:lstStyle/>
          <a:p>
            <a:pPr lvl="0"/>
            <a:r>
              <a:rPr b="1" i="1">
                <a:cs typeface="Times New Roman" charset="0"/>
              </a:rPr>
              <a:t>Discussion point</a:t>
            </a:r>
          </a:p>
          <a:p>
            <a:pPr lvl="0"/>
            <a:r>
              <a:rPr>
                <a:cs typeface="Times" charset="0"/>
              </a:rPr>
              <a:t>Ask who in the class has high speed Internet. Then determine if anyone is sharing this to the rest of the house or dorm. If they are, see if they can describe the setup. Most likely, the sharing is done with a router. </a:t>
            </a:r>
            <a:endParaRPr>
              <a:ea typeface="Times"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129</a:t>
            </a:fld>
            <a:endParaRPr lang="en-US" sz="1200" dirty="0"/>
          </a:p>
        </p:txBody>
      </p:sp>
      <p:sp>
        <p:nvSpPr>
          <p:cNvPr id="66562" name="Slide Image Placeholder 66561"/>
          <p:cNvSpPr>
            <a:spLocks noGrp="1" noRot="1" noChangeAspect="1" noTextEdit="1"/>
          </p:cNvSpPr>
          <p:nvPr>
            <p:ph type="sldImg"/>
          </p:nvPr>
        </p:nvSpPr>
        <p:spPr/>
      </p:sp>
      <p:sp>
        <p:nvSpPr>
          <p:cNvPr id="66563" name="Text Placeholder 66562"/>
          <p:cNvSpPr>
            <a:spLocks noGrp="1"/>
          </p:cNvSpPr>
          <p:nvPr>
            <p:ph type="body" idx="1"/>
          </p:nvPr>
        </p:nvSpPr>
        <p:spPr/>
        <p:txBody>
          <a:bodyPr/>
          <a:lstStyle/>
          <a:p>
            <a:pPr lvl="0"/>
            <a:r>
              <a:rPr b="1" i="1">
                <a:cs typeface="Times New Roman" charset="0"/>
              </a:rPr>
              <a:t>Teaching tip</a:t>
            </a:r>
          </a:p>
          <a:p>
            <a:pPr lvl="0"/>
            <a:r>
              <a:rPr>
                <a:cs typeface="Times" charset="0"/>
              </a:rPr>
              <a:t>Point out that the speed of the cable is the number before the word Base.</a:t>
            </a:r>
            <a:r>
              <a: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133</a:t>
            </a:fld>
            <a:endParaRPr lang="en-US" sz="1200" dirty="0"/>
          </a:p>
        </p:txBody>
      </p:sp>
      <p:sp>
        <p:nvSpPr>
          <p:cNvPr id="71682" name="Slide Image Placeholder 71681"/>
          <p:cNvSpPr>
            <a:spLocks noGrp="1" noRot="1" noChangeAspect="1" noTextEdit="1"/>
          </p:cNvSpPr>
          <p:nvPr>
            <p:ph type="sldImg"/>
          </p:nvPr>
        </p:nvSpPr>
        <p:spPr/>
      </p:sp>
      <p:sp>
        <p:nvSpPr>
          <p:cNvPr id="71683" name="Text Placeholder 71682"/>
          <p:cNvSpPr>
            <a:spLocks noGrp="1"/>
          </p:cNvSpPr>
          <p:nvPr>
            <p:ph type="body" idx="1"/>
          </p:nvPr>
        </p:nvSpPr>
        <p:spPr/>
        <p:txBody>
          <a:bodyPr/>
          <a:lstStyle/>
          <a:p>
            <a:pPr lvl="0"/>
            <a:r>
              <a:rPr b="1" i="1">
                <a:cs typeface="Times New Roman" charset="0"/>
              </a:rPr>
              <a:t>Teaching tip</a:t>
            </a:r>
          </a:p>
          <a:p>
            <a:pPr lvl="0"/>
            <a:r>
              <a:rPr>
                <a:cs typeface="Times" charset="0"/>
              </a:rPr>
              <a:t>Have students determine IP addresses for the computer. On 2000/XP enter ipconfig /all. Windows  98 and back enter winipcfg.</a:t>
            </a:r>
            <a:r>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135</a:t>
            </a:fld>
            <a:endParaRPr lang="en-US" sz="1200" dirty="0"/>
          </a:p>
        </p:txBody>
      </p:sp>
      <p:sp>
        <p:nvSpPr>
          <p:cNvPr id="74754" name="Slide Image Placeholder 74753"/>
          <p:cNvSpPr>
            <a:spLocks noGrp="1" noRot="1" noChangeAspect="1" noTextEdit="1"/>
          </p:cNvSpPr>
          <p:nvPr>
            <p:ph type="sldImg"/>
          </p:nvPr>
        </p:nvSpPr>
        <p:spPr/>
      </p:sp>
      <p:sp>
        <p:nvSpPr>
          <p:cNvPr id="74755" name="Text Placeholder 74754"/>
          <p:cNvSpPr>
            <a:spLocks noGrp="1"/>
          </p:cNvSpPr>
          <p:nvPr>
            <p:ph type="body" idx="1"/>
          </p:nvPr>
        </p:nvSpPr>
        <p:spPr/>
        <p:txBody>
          <a:bodyPr/>
          <a:lstStyle/>
          <a:p>
            <a:pPr lvl="0"/>
            <a:r>
              <a:rPr b="1" i="1">
                <a:cs typeface="Times New Roman" charset="0"/>
              </a:rPr>
              <a:t>Discussion Point</a:t>
            </a:r>
          </a:p>
          <a:p>
            <a:pPr lvl="0"/>
            <a:r>
              <a:rPr>
                <a:cs typeface="Times" charset="0"/>
              </a:rPr>
              <a:t>Have students tell you what BIOS stands for.</a:t>
            </a:r>
            <a:r>
              <a:t>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137</a:t>
            </a:fld>
            <a:endParaRPr lang="en-US" sz="1200" b="0" dirty="0"/>
          </a:p>
        </p:txBody>
      </p:sp>
      <p:sp>
        <p:nvSpPr>
          <p:cNvPr id="688130" name="Slide Image Placeholder 688129"/>
          <p:cNvSpPr>
            <a:spLocks noGrp="1" noRot="1" noChangeAspect="1" noTextEdit="1"/>
          </p:cNvSpPr>
          <p:nvPr>
            <p:ph type="sldImg"/>
          </p:nvPr>
        </p:nvSpPr>
        <p:spPr/>
      </p:sp>
      <p:sp>
        <p:nvSpPr>
          <p:cNvPr id="688131" name="Text Placeholder 688130"/>
          <p:cNvSpPr>
            <a:spLocks noGrp="1"/>
          </p:cNvSpPr>
          <p:nvPr>
            <p:ph type="body" idx="1"/>
          </p:nvPr>
        </p:nvSpPr>
        <p:spPr/>
        <p:txBody>
          <a:bodyPr/>
          <a:lstStyle/>
          <a:p>
            <a:pPr lvl="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138</a:t>
            </a:fld>
            <a:endParaRPr lang="en-US" sz="1200" b="0" dirty="0"/>
          </a:p>
        </p:txBody>
      </p:sp>
      <p:sp>
        <p:nvSpPr>
          <p:cNvPr id="689154" name="Slide Image Placeholder 689153"/>
          <p:cNvSpPr>
            <a:spLocks noGrp="1" noRot="1" noChangeAspect="1" noTextEdit="1"/>
          </p:cNvSpPr>
          <p:nvPr>
            <p:ph type="sldImg"/>
          </p:nvPr>
        </p:nvSpPr>
        <p:spPr/>
      </p:sp>
      <p:sp>
        <p:nvSpPr>
          <p:cNvPr id="689155" name="Text Placeholder 689154"/>
          <p:cNvSpPr>
            <a:spLocks noGrp="1"/>
          </p:cNvSpPr>
          <p:nvPr>
            <p:ph type="body" idx="1"/>
          </p:nvPr>
        </p:nvSpPr>
        <p:spPr/>
        <p:txBody>
          <a:bodyPr/>
          <a:lstStyle/>
          <a:p>
            <a:pPr lvl="0"/>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139</a:t>
            </a:fld>
            <a:endParaRPr lang="en-US" sz="1200" b="0" dirty="0"/>
          </a:p>
        </p:txBody>
      </p:sp>
      <p:sp>
        <p:nvSpPr>
          <p:cNvPr id="690178" name="Slide Image Placeholder 690177"/>
          <p:cNvSpPr>
            <a:spLocks noGrp="1" noRot="1" noChangeAspect="1" noTextEdit="1"/>
          </p:cNvSpPr>
          <p:nvPr>
            <p:ph type="sldImg"/>
          </p:nvPr>
        </p:nvSpPr>
        <p:spPr/>
      </p:sp>
      <p:sp>
        <p:nvSpPr>
          <p:cNvPr id="690179" name="Text Placeholder 690178"/>
          <p:cNvSpPr>
            <a:spLocks noGrp="1"/>
          </p:cNvSpPr>
          <p:nvPr>
            <p:ph type="body" idx="1"/>
          </p:nvPr>
        </p:nvSpPr>
        <p:spPr/>
        <p:txBody>
          <a:bodyPr/>
          <a:lstStyle/>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140</a:t>
            </a:fld>
            <a:endParaRPr lang="en-US" sz="1200" b="0" dirty="0"/>
          </a:p>
        </p:txBody>
      </p:sp>
      <p:sp>
        <p:nvSpPr>
          <p:cNvPr id="691202" name="Slide Image Placeholder 691201"/>
          <p:cNvSpPr>
            <a:spLocks noGrp="1" noRot="1" noChangeAspect="1" noTextEdit="1"/>
          </p:cNvSpPr>
          <p:nvPr>
            <p:ph type="sldImg"/>
          </p:nvPr>
        </p:nvSpPr>
        <p:spPr/>
      </p:sp>
      <p:sp>
        <p:nvSpPr>
          <p:cNvPr id="691203" name="Text Placeholder 691202"/>
          <p:cNvSpPr>
            <a:spLocks noGrp="1"/>
          </p:cNvSpPr>
          <p:nvPr>
            <p:ph type="body" idx="1"/>
          </p:nvPr>
        </p:nvSpPr>
        <p:spPr/>
        <p:txBody>
          <a:bodyPr/>
          <a:lstStyle/>
          <a:p>
            <a:pPr lvl="0"/>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141</a:t>
            </a:fld>
            <a:endParaRPr lang="en-US" sz="1200" b="0" dirty="0"/>
          </a:p>
        </p:txBody>
      </p:sp>
      <p:sp>
        <p:nvSpPr>
          <p:cNvPr id="692226" name="Slide Image Placeholder 692225"/>
          <p:cNvSpPr>
            <a:spLocks noGrp="1" noRot="1" noChangeAspect="1" noTextEdit="1"/>
          </p:cNvSpPr>
          <p:nvPr>
            <p:ph type="sldImg"/>
          </p:nvPr>
        </p:nvSpPr>
        <p:spPr/>
      </p:sp>
      <p:sp>
        <p:nvSpPr>
          <p:cNvPr id="692227" name="Text Placeholder 692226"/>
          <p:cNvSpPr>
            <a:spLocks noGrp="1"/>
          </p:cNvSpPr>
          <p:nvPr>
            <p:ph type="body" idx="1"/>
          </p:nvPr>
        </p:nvSpPr>
        <p:spPr/>
        <p:txBody>
          <a:bodyPr/>
          <a:lstStyle/>
          <a:p>
            <a:pPr lvl="0"/>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142</a:t>
            </a:fld>
            <a:endParaRPr lang="en-US" sz="1200" b="0" dirty="0"/>
          </a:p>
        </p:txBody>
      </p:sp>
      <p:sp>
        <p:nvSpPr>
          <p:cNvPr id="693250" name="Slide Image Placeholder 693249"/>
          <p:cNvSpPr>
            <a:spLocks noGrp="1" noRot="1" noChangeAspect="1" noTextEdit="1"/>
          </p:cNvSpPr>
          <p:nvPr>
            <p:ph type="sldImg"/>
          </p:nvPr>
        </p:nvSpPr>
        <p:spPr/>
      </p:sp>
      <p:sp>
        <p:nvSpPr>
          <p:cNvPr id="693251" name="Text Placeholder 693250"/>
          <p:cNvSpPr>
            <a:spLocks noGrp="1"/>
          </p:cNvSpPr>
          <p:nvPr>
            <p:ph type="body" idx="1"/>
          </p:nvPr>
        </p:nvSpPr>
        <p:spPr/>
        <p:txBody>
          <a:bodyPr/>
          <a:lstStyle/>
          <a:p>
            <a:pPr lvl="0"/>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143</a:t>
            </a:fld>
            <a:endParaRPr lang="en-US" sz="1200" b="0" dirty="0"/>
          </a:p>
        </p:txBody>
      </p:sp>
      <p:sp>
        <p:nvSpPr>
          <p:cNvPr id="694274" name="Slide Image Placeholder 694273"/>
          <p:cNvSpPr>
            <a:spLocks noGrp="1" noRot="1" noChangeAspect="1" noTextEdit="1"/>
          </p:cNvSpPr>
          <p:nvPr>
            <p:ph type="sldImg"/>
          </p:nvPr>
        </p:nvSpPr>
        <p:spPr/>
      </p:sp>
      <p:sp>
        <p:nvSpPr>
          <p:cNvPr id="694275" name="Text Placeholder 694274"/>
          <p:cNvSpPr>
            <a:spLocks noGrp="1"/>
          </p:cNvSpPr>
          <p:nvPr>
            <p:ph type="body" idx="1"/>
          </p:nvPr>
        </p:nvSpPr>
        <p:spPr/>
        <p:txBody>
          <a:bodyPr/>
          <a:lstStyle/>
          <a:p>
            <a:pPr lvl="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144</a:t>
            </a:fld>
            <a:endParaRPr lang="en-US" sz="1200" b="0" dirty="0"/>
          </a:p>
        </p:txBody>
      </p:sp>
      <p:sp>
        <p:nvSpPr>
          <p:cNvPr id="695298" name="Slide Image Placeholder 695297"/>
          <p:cNvSpPr>
            <a:spLocks noGrp="1" noRot="1" noChangeAspect="1" noTextEdit="1"/>
          </p:cNvSpPr>
          <p:nvPr>
            <p:ph type="sldImg"/>
          </p:nvPr>
        </p:nvSpPr>
        <p:spPr/>
      </p:sp>
      <p:sp>
        <p:nvSpPr>
          <p:cNvPr id="695299" name="Text Placeholder 695298"/>
          <p:cNvSpPr>
            <a:spLocks noGrp="1"/>
          </p:cNvSpPr>
          <p:nvPr>
            <p:ph type="body" idx="1"/>
          </p:nvPr>
        </p:nvSpPr>
        <p:spPr/>
        <p:txBody>
          <a:bodyPr/>
          <a:lstStyle/>
          <a:p>
            <a:pPr lvl="0"/>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145</a:t>
            </a:fld>
            <a:endParaRPr lang="en-US" sz="1200" b="0" dirty="0"/>
          </a:p>
        </p:txBody>
      </p:sp>
      <p:sp>
        <p:nvSpPr>
          <p:cNvPr id="696322" name="Slide Image Placeholder 696321"/>
          <p:cNvSpPr>
            <a:spLocks noGrp="1" noRot="1" noChangeAspect="1" noTextEdit="1"/>
          </p:cNvSpPr>
          <p:nvPr>
            <p:ph type="sldImg"/>
          </p:nvPr>
        </p:nvSpPr>
        <p:spPr/>
      </p:sp>
      <p:sp>
        <p:nvSpPr>
          <p:cNvPr id="696323" name="Text Placeholder 696322"/>
          <p:cNvSpPr>
            <a:spLocks noGrp="1"/>
          </p:cNvSpPr>
          <p:nvPr>
            <p:ph type="body" idx="1"/>
          </p:nvPr>
        </p:nvSpPr>
        <p:spPr/>
        <p:txBody>
          <a:bodyPr/>
          <a:lstStyle/>
          <a:p>
            <a:pPr lvl="0"/>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146</a:t>
            </a:fld>
            <a:endParaRPr lang="en-US" sz="1200" b="0" dirty="0"/>
          </a:p>
        </p:txBody>
      </p:sp>
      <p:sp>
        <p:nvSpPr>
          <p:cNvPr id="697346" name="Slide Image Placeholder 697345"/>
          <p:cNvSpPr>
            <a:spLocks noGrp="1" noRot="1" noChangeAspect="1" noTextEdit="1"/>
          </p:cNvSpPr>
          <p:nvPr>
            <p:ph type="sldImg"/>
          </p:nvPr>
        </p:nvSpPr>
        <p:spPr/>
      </p:sp>
      <p:sp>
        <p:nvSpPr>
          <p:cNvPr id="697347" name="Text Placeholder 697346"/>
          <p:cNvSpPr>
            <a:spLocks noGrp="1"/>
          </p:cNvSpPr>
          <p:nvPr>
            <p:ph type="body" idx="1"/>
          </p:nvPr>
        </p:nvSpPr>
        <p:spPr/>
        <p:txBody>
          <a:bodyPr/>
          <a:lstStyle/>
          <a:p>
            <a:pPr lvl="0"/>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147</a:t>
            </a:fld>
            <a:endParaRPr lang="en-US" sz="1200" b="0" dirty="0"/>
          </a:p>
        </p:txBody>
      </p:sp>
      <p:sp>
        <p:nvSpPr>
          <p:cNvPr id="698370" name="Slide Image Placeholder 698369"/>
          <p:cNvSpPr>
            <a:spLocks noGrp="1" noRot="1" noChangeAspect="1" noTextEdit="1"/>
          </p:cNvSpPr>
          <p:nvPr>
            <p:ph type="sldImg"/>
          </p:nvPr>
        </p:nvSpPr>
        <p:spPr/>
      </p:sp>
      <p:sp>
        <p:nvSpPr>
          <p:cNvPr id="698371" name="Text Placeholder 698370"/>
          <p:cNvSpPr>
            <a:spLocks noGrp="1"/>
          </p:cNvSpPr>
          <p:nvPr>
            <p:ph type="body" idx="1"/>
          </p:nvPr>
        </p:nvSpPr>
        <p:spPr/>
        <p:txBody>
          <a:bodyPr/>
          <a:lstStyle/>
          <a:p>
            <a:pPr lvl="0"/>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148</a:t>
            </a:fld>
            <a:endParaRPr lang="en-US" sz="1200" b="0" dirty="0"/>
          </a:p>
        </p:txBody>
      </p:sp>
      <p:sp>
        <p:nvSpPr>
          <p:cNvPr id="699394" name="Slide Image Placeholder 699393"/>
          <p:cNvSpPr>
            <a:spLocks noGrp="1" noRot="1" noChangeAspect="1" noTextEdit="1"/>
          </p:cNvSpPr>
          <p:nvPr>
            <p:ph type="sldImg"/>
          </p:nvPr>
        </p:nvSpPr>
        <p:spPr/>
      </p:sp>
      <p:sp>
        <p:nvSpPr>
          <p:cNvPr id="699395" name="Text Placeholder 699394"/>
          <p:cNvSpPr>
            <a:spLocks noGrp="1"/>
          </p:cNvSpPr>
          <p:nvPr>
            <p:ph type="body" idx="1"/>
          </p:nvPr>
        </p:nvSpPr>
        <p:spPr/>
        <p:txBody>
          <a:bodyPr/>
          <a:lstStyle/>
          <a:p>
            <a:pPr lvl="0"/>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149</a:t>
            </a:fld>
            <a:endParaRPr lang="en-US" sz="1200" b="0" dirty="0"/>
          </a:p>
        </p:txBody>
      </p:sp>
      <p:sp>
        <p:nvSpPr>
          <p:cNvPr id="700418" name="Slide Image Placeholder 700417"/>
          <p:cNvSpPr>
            <a:spLocks noGrp="1" noRot="1" noChangeAspect="1" noTextEdit="1"/>
          </p:cNvSpPr>
          <p:nvPr>
            <p:ph type="sldImg"/>
          </p:nvPr>
        </p:nvSpPr>
        <p:spPr/>
      </p:sp>
      <p:sp>
        <p:nvSpPr>
          <p:cNvPr id="700419" name="Text Placeholder 700418"/>
          <p:cNvSpPr>
            <a:spLocks noGrp="1"/>
          </p:cNvSpPr>
          <p:nvPr>
            <p:ph type="body" idx="1"/>
          </p:nvPr>
        </p:nvSpPr>
        <p:spPr/>
        <p:txBody>
          <a:bodyPr/>
          <a:lstStyle/>
          <a:p>
            <a:pPr lvl="0"/>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150</a:t>
            </a:fld>
            <a:endParaRPr lang="en-US" sz="1200" b="0" dirty="0"/>
          </a:p>
        </p:txBody>
      </p:sp>
      <p:sp>
        <p:nvSpPr>
          <p:cNvPr id="701442" name="Slide Image Placeholder 701441"/>
          <p:cNvSpPr>
            <a:spLocks noGrp="1" noRot="1" noChangeAspect="1" noTextEdit="1"/>
          </p:cNvSpPr>
          <p:nvPr>
            <p:ph type="sldImg"/>
          </p:nvPr>
        </p:nvSpPr>
        <p:spPr/>
      </p:sp>
      <p:sp>
        <p:nvSpPr>
          <p:cNvPr id="701443" name="Text Placeholder 701442"/>
          <p:cNvSpPr>
            <a:spLocks noGrp="1"/>
          </p:cNvSpPr>
          <p:nvPr>
            <p:ph type="body" idx="1"/>
          </p:nvPr>
        </p:nvSpPr>
        <p:spPr/>
        <p:txBody>
          <a:bodyPr/>
          <a:lstStyle/>
          <a:p>
            <a:pPr lvl="0"/>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151</a:t>
            </a:fld>
            <a:endParaRPr lang="en-US" sz="1200" b="0" dirty="0"/>
          </a:p>
        </p:txBody>
      </p:sp>
      <p:sp>
        <p:nvSpPr>
          <p:cNvPr id="702466" name="Slide Image Placeholder 702465"/>
          <p:cNvSpPr>
            <a:spLocks noGrp="1" noRot="1" noChangeAspect="1" noTextEdit="1"/>
          </p:cNvSpPr>
          <p:nvPr>
            <p:ph type="sldImg"/>
          </p:nvPr>
        </p:nvSpPr>
        <p:spPr/>
      </p:sp>
      <p:sp>
        <p:nvSpPr>
          <p:cNvPr id="702467" name="Text Placeholder 702466"/>
          <p:cNvSpPr>
            <a:spLocks noGrp="1"/>
          </p:cNvSpPr>
          <p:nvPr>
            <p:ph type="body" idx="1"/>
          </p:nvPr>
        </p:nvSpPr>
        <p:spPr/>
        <p:txBody>
          <a:bodyPr/>
          <a:lstStyle/>
          <a:p>
            <a:pPr lvl="0"/>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152</a:t>
            </a:fld>
            <a:endParaRPr lang="en-US" sz="1200" b="0" dirty="0"/>
          </a:p>
        </p:txBody>
      </p:sp>
      <p:sp>
        <p:nvSpPr>
          <p:cNvPr id="703490" name="Slide Image Placeholder 703489"/>
          <p:cNvSpPr>
            <a:spLocks noGrp="1" noRot="1" noChangeAspect="1" noTextEdit="1"/>
          </p:cNvSpPr>
          <p:nvPr>
            <p:ph type="sldImg"/>
          </p:nvPr>
        </p:nvSpPr>
        <p:spPr/>
      </p:sp>
      <p:sp>
        <p:nvSpPr>
          <p:cNvPr id="703491" name="Text Placeholder 703490"/>
          <p:cNvSpPr>
            <a:spLocks noGrp="1"/>
          </p:cNvSpPr>
          <p:nvPr>
            <p:ph type="body" idx="1"/>
          </p:nvPr>
        </p:nvSpPr>
        <p:spPr/>
        <p:txBody>
          <a:bodyPr/>
          <a:lstStyle/>
          <a:p>
            <a:pPr lvl="0"/>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153</a:t>
            </a:fld>
            <a:endParaRPr lang="en-US" sz="1200" b="0" dirty="0"/>
          </a:p>
        </p:txBody>
      </p:sp>
      <p:sp>
        <p:nvSpPr>
          <p:cNvPr id="704514" name="Slide Image Placeholder 704513"/>
          <p:cNvSpPr>
            <a:spLocks noGrp="1" noRot="1" noChangeAspect="1" noTextEdit="1"/>
          </p:cNvSpPr>
          <p:nvPr>
            <p:ph type="sldImg"/>
          </p:nvPr>
        </p:nvSpPr>
        <p:spPr/>
      </p:sp>
      <p:sp>
        <p:nvSpPr>
          <p:cNvPr id="704515" name="Text Placeholder 704514"/>
          <p:cNvSpPr>
            <a:spLocks noGrp="1"/>
          </p:cNvSpPr>
          <p:nvPr>
            <p:ph type="body" idx="1"/>
          </p:nvPr>
        </p:nvSpPr>
        <p:spPr/>
        <p:txBody>
          <a:bodyPr/>
          <a:lstStyle/>
          <a:p>
            <a:pPr lvl="0"/>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154</a:t>
            </a:fld>
            <a:endParaRPr lang="en-US" sz="1200" b="0" dirty="0"/>
          </a:p>
        </p:txBody>
      </p:sp>
      <p:sp>
        <p:nvSpPr>
          <p:cNvPr id="705538" name="Slide Image Placeholder 705537"/>
          <p:cNvSpPr>
            <a:spLocks noGrp="1" noRot="1" noChangeAspect="1" noTextEdit="1"/>
          </p:cNvSpPr>
          <p:nvPr>
            <p:ph type="sldImg"/>
          </p:nvPr>
        </p:nvSpPr>
        <p:spPr/>
      </p:sp>
      <p:sp>
        <p:nvSpPr>
          <p:cNvPr id="705539" name="Text Placeholder 705538"/>
          <p:cNvSpPr>
            <a:spLocks noGrp="1"/>
          </p:cNvSpPr>
          <p:nvPr>
            <p:ph type="body" idx="1"/>
          </p:nvPr>
        </p:nvSpPr>
        <p:spPr/>
        <p:txBody>
          <a:bodyPr/>
          <a:lstStyle/>
          <a:p>
            <a:pPr lvl="0"/>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155</a:t>
            </a:fld>
            <a:endParaRPr lang="en-US" sz="1200" b="0" dirty="0"/>
          </a:p>
        </p:txBody>
      </p:sp>
      <p:sp>
        <p:nvSpPr>
          <p:cNvPr id="706562" name="Slide Image Placeholder 706561"/>
          <p:cNvSpPr>
            <a:spLocks noGrp="1" noRot="1" noChangeAspect="1" noTextEdit="1"/>
          </p:cNvSpPr>
          <p:nvPr>
            <p:ph type="sldImg"/>
          </p:nvPr>
        </p:nvSpPr>
        <p:spPr/>
      </p:sp>
      <p:sp>
        <p:nvSpPr>
          <p:cNvPr id="706563" name="Text Placeholder 706562"/>
          <p:cNvSpPr>
            <a:spLocks noGrp="1"/>
          </p:cNvSpPr>
          <p:nvPr>
            <p:ph type="body" idx="1"/>
          </p:nvPr>
        </p:nvSpPr>
        <p:spPr/>
        <p:txBody>
          <a:bodyPr/>
          <a:lstStyle/>
          <a:p>
            <a:pPr lvl="0"/>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156</a:t>
            </a:fld>
            <a:endParaRPr lang="en-US" sz="1200" b="0" dirty="0"/>
          </a:p>
        </p:txBody>
      </p:sp>
      <p:sp>
        <p:nvSpPr>
          <p:cNvPr id="708610" name="Slide Image Placeholder 708609"/>
          <p:cNvSpPr>
            <a:spLocks noGrp="1" noRot="1" noChangeAspect="1" noTextEdit="1"/>
          </p:cNvSpPr>
          <p:nvPr>
            <p:ph type="sldImg"/>
          </p:nvPr>
        </p:nvSpPr>
        <p:spPr/>
      </p:sp>
      <p:sp>
        <p:nvSpPr>
          <p:cNvPr id="708611" name="Text Placeholder 708610"/>
          <p:cNvSpPr>
            <a:spLocks noGrp="1"/>
          </p:cNvSpPr>
          <p:nvPr>
            <p:ph type="body" idx="1"/>
          </p:nvPr>
        </p:nvSpPr>
        <p:spPr/>
        <p:txBody>
          <a:bodyPr/>
          <a:lstStyle/>
          <a:p>
            <a:pPr lvl="0"/>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157</a:t>
            </a:fld>
            <a:endParaRPr lang="en-US" sz="1200" b="0" dirty="0"/>
          </a:p>
        </p:txBody>
      </p:sp>
      <p:sp>
        <p:nvSpPr>
          <p:cNvPr id="709634" name="Slide Image Placeholder 709633"/>
          <p:cNvSpPr>
            <a:spLocks noGrp="1" noRot="1" noChangeAspect="1" noTextEdit="1"/>
          </p:cNvSpPr>
          <p:nvPr>
            <p:ph type="sldImg"/>
          </p:nvPr>
        </p:nvSpPr>
        <p:spPr/>
      </p:sp>
      <p:sp>
        <p:nvSpPr>
          <p:cNvPr id="709635" name="Text Placeholder 709634"/>
          <p:cNvSpPr>
            <a:spLocks noGrp="1"/>
          </p:cNvSpPr>
          <p:nvPr>
            <p:ph type="body" idx="1"/>
          </p:nvPr>
        </p:nvSpPr>
        <p:spPr/>
        <p:txBody>
          <a:bodyPr/>
          <a:lstStyle/>
          <a:p>
            <a:pPr lvl="0"/>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158</a:t>
            </a:fld>
            <a:endParaRPr lang="en-US" sz="1200" b="0" dirty="0"/>
          </a:p>
        </p:txBody>
      </p:sp>
      <p:sp>
        <p:nvSpPr>
          <p:cNvPr id="710658" name="Slide Image Placeholder 710657"/>
          <p:cNvSpPr>
            <a:spLocks noGrp="1" noRot="1" noChangeAspect="1" noTextEdit="1"/>
          </p:cNvSpPr>
          <p:nvPr>
            <p:ph type="sldImg"/>
          </p:nvPr>
        </p:nvSpPr>
        <p:spPr/>
      </p:sp>
      <p:sp>
        <p:nvSpPr>
          <p:cNvPr id="710659" name="Text Placeholder 710658"/>
          <p:cNvSpPr>
            <a:spLocks noGrp="1"/>
          </p:cNvSpPr>
          <p:nvPr>
            <p:ph type="body" idx="1"/>
          </p:nvPr>
        </p:nvSpPr>
        <p:spPr/>
        <p:txBody>
          <a:bodyPr/>
          <a:lstStyle/>
          <a:p>
            <a:pPr lvl="0"/>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159</a:t>
            </a:fld>
            <a:endParaRPr lang="en-US" sz="1200" b="0" dirty="0"/>
          </a:p>
        </p:txBody>
      </p:sp>
      <p:sp>
        <p:nvSpPr>
          <p:cNvPr id="711682" name="Slide Image Placeholder 711681"/>
          <p:cNvSpPr>
            <a:spLocks noGrp="1" noRot="1" noChangeAspect="1" noTextEdit="1"/>
          </p:cNvSpPr>
          <p:nvPr>
            <p:ph type="sldImg"/>
          </p:nvPr>
        </p:nvSpPr>
        <p:spPr/>
      </p:sp>
      <p:sp>
        <p:nvSpPr>
          <p:cNvPr id="711683" name="Text Placeholder 711682"/>
          <p:cNvSpPr>
            <a:spLocks noGrp="1"/>
          </p:cNvSpPr>
          <p:nvPr>
            <p:ph type="body" idx="1"/>
          </p:nvPr>
        </p:nvSpPr>
        <p:spPr/>
        <p:txBody>
          <a:bodyPr/>
          <a:lstStyle/>
          <a:p>
            <a:pPr lvl="0"/>
            <a:endParaRPr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160</a:t>
            </a:fld>
            <a:endParaRPr lang="en-US" sz="1200" b="0" dirty="0"/>
          </a:p>
        </p:txBody>
      </p:sp>
      <p:sp>
        <p:nvSpPr>
          <p:cNvPr id="712706" name="Slide Image Placeholder 712705"/>
          <p:cNvSpPr>
            <a:spLocks noGrp="1" noRot="1" noChangeAspect="1" noTextEdit="1"/>
          </p:cNvSpPr>
          <p:nvPr>
            <p:ph type="sldImg"/>
          </p:nvPr>
        </p:nvSpPr>
        <p:spPr/>
      </p:sp>
      <p:sp>
        <p:nvSpPr>
          <p:cNvPr id="712707" name="Text Placeholder 712706"/>
          <p:cNvSpPr>
            <a:spLocks noGrp="1"/>
          </p:cNvSpPr>
          <p:nvPr>
            <p:ph type="body" idx="1"/>
          </p:nvPr>
        </p:nvSpPr>
        <p:spPr/>
        <p:txBody>
          <a:bodyPr/>
          <a:lstStyle/>
          <a:p>
            <a:pPr lvl="0"/>
            <a:endParaRPr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161</a:t>
            </a:fld>
            <a:endParaRPr lang="en-US" sz="1200" b="0" dirty="0"/>
          </a:p>
        </p:txBody>
      </p:sp>
      <p:sp>
        <p:nvSpPr>
          <p:cNvPr id="713730" name="Slide Image Placeholder 713729"/>
          <p:cNvSpPr>
            <a:spLocks noGrp="1" noRot="1" noChangeAspect="1" noTextEdit="1"/>
          </p:cNvSpPr>
          <p:nvPr>
            <p:ph type="sldImg"/>
          </p:nvPr>
        </p:nvSpPr>
        <p:spPr/>
      </p:sp>
      <p:sp>
        <p:nvSpPr>
          <p:cNvPr id="713731" name="Text Placeholder 713730"/>
          <p:cNvSpPr>
            <a:spLocks noGrp="1"/>
          </p:cNvSpPr>
          <p:nvPr>
            <p:ph type="body" idx="1"/>
          </p:nvPr>
        </p:nvSpPr>
        <p:spPr/>
        <p:txBody>
          <a:bodyPr/>
          <a:lstStyle/>
          <a:p>
            <a:pPr lvl="0"/>
            <a:endParaRPr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162</a:t>
            </a:fld>
            <a:endParaRPr lang="en-US" sz="1200" b="0" dirty="0"/>
          </a:p>
        </p:txBody>
      </p:sp>
      <p:sp>
        <p:nvSpPr>
          <p:cNvPr id="714754" name="Slide Image Placeholder 714753"/>
          <p:cNvSpPr>
            <a:spLocks noGrp="1" noRot="1" noChangeAspect="1" noTextEdit="1"/>
          </p:cNvSpPr>
          <p:nvPr>
            <p:ph type="sldImg"/>
          </p:nvPr>
        </p:nvSpPr>
        <p:spPr/>
      </p:sp>
      <p:sp>
        <p:nvSpPr>
          <p:cNvPr id="714755" name="Text Placeholder 714754"/>
          <p:cNvSpPr>
            <a:spLocks noGrp="1"/>
          </p:cNvSpPr>
          <p:nvPr>
            <p:ph type="body" idx="1"/>
          </p:nvPr>
        </p:nvSpPr>
        <p:spPr/>
        <p:txBody>
          <a:bodyPr/>
          <a:lstStyle/>
          <a:p>
            <a:pPr lvl="0"/>
            <a:endParaRPr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163</a:t>
            </a:fld>
            <a:endParaRPr lang="en-US" sz="1200" b="0" dirty="0"/>
          </a:p>
        </p:txBody>
      </p:sp>
      <p:sp>
        <p:nvSpPr>
          <p:cNvPr id="715778" name="Slide Image Placeholder 715777"/>
          <p:cNvSpPr>
            <a:spLocks noGrp="1" noRot="1" noChangeAspect="1" noTextEdit="1"/>
          </p:cNvSpPr>
          <p:nvPr>
            <p:ph type="sldImg"/>
          </p:nvPr>
        </p:nvSpPr>
        <p:spPr/>
      </p:sp>
      <p:sp>
        <p:nvSpPr>
          <p:cNvPr id="715779" name="Text Placeholder 715778"/>
          <p:cNvSpPr>
            <a:spLocks noGrp="1"/>
          </p:cNvSpPr>
          <p:nvPr>
            <p:ph type="body" idx="1"/>
          </p:nvPr>
        </p:nvSpPr>
        <p:spPr/>
        <p:txBody>
          <a:bodyPr/>
          <a:lstStyle/>
          <a:p>
            <a:pPr lvl="0"/>
            <a:endParaRPr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164</a:t>
            </a:fld>
            <a:endParaRPr lang="en-US" sz="1200" b="0" dirty="0"/>
          </a:p>
        </p:txBody>
      </p:sp>
      <p:sp>
        <p:nvSpPr>
          <p:cNvPr id="716802" name="Slide Image Placeholder 716801"/>
          <p:cNvSpPr>
            <a:spLocks noGrp="1" noRot="1" noChangeAspect="1" noTextEdit="1"/>
          </p:cNvSpPr>
          <p:nvPr>
            <p:ph type="sldImg"/>
          </p:nvPr>
        </p:nvSpPr>
        <p:spPr/>
      </p:sp>
      <p:sp>
        <p:nvSpPr>
          <p:cNvPr id="716803" name="Text Placeholder 716802"/>
          <p:cNvSpPr>
            <a:spLocks noGrp="1"/>
          </p:cNvSpPr>
          <p:nvPr>
            <p:ph type="body" idx="1"/>
          </p:nvPr>
        </p:nvSpPr>
        <p:spPr/>
        <p:txBody>
          <a:bodyPr/>
          <a:lstStyle/>
          <a:p>
            <a:pPr lvl="0"/>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165</a:t>
            </a:fld>
            <a:endParaRPr lang="en-US" sz="1200" b="0" dirty="0"/>
          </a:p>
        </p:txBody>
      </p:sp>
      <p:sp>
        <p:nvSpPr>
          <p:cNvPr id="717826" name="Slide Image Placeholder 717825"/>
          <p:cNvSpPr>
            <a:spLocks noGrp="1" noRot="1" noChangeAspect="1" noTextEdit="1"/>
          </p:cNvSpPr>
          <p:nvPr>
            <p:ph type="sldImg"/>
          </p:nvPr>
        </p:nvSpPr>
        <p:spPr/>
      </p:sp>
      <p:sp>
        <p:nvSpPr>
          <p:cNvPr id="717827" name="Text Placeholder 717826"/>
          <p:cNvSpPr>
            <a:spLocks noGrp="1"/>
          </p:cNvSpPr>
          <p:nvPr>
            <p:ph type="body" idx="1"/>
          </p:nvPr>
        </p:nvSpPr>
        <p:spPr/>
        <p:txBody>
          <a:bodyPr/>
          <a:lstStyle/>
          <a:p>
            <a:pPr lvl="0"/>
            <a:endParaRP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166</a:t>
            </a:fld>
            <a:endParaRPr lang="en-US" sz="1200" b="0" dirty="0"/>
          </a:p>
        </p:txBody>
      </p:sp>
      <p:sp>
        <p:nvSpPr>
          <p:cNvPr id="718850" name="Slide Image Placeholder 718849"/>
          <p:cNvSpPr>
            <a:spLocks noGrp="1" noRot="1" noChangeAspect="1" noTextEdit="1"/>
          </p:cNvSpPr>
          <p:nvPr>
            <p:ph type="sldImg"/>
          </p:nvPr>
        </p:nvSpPr>
        <p:spPr/>
      </p:sp>
      <p:sp>
        <p:nvSpPr>
          <p:cNvPr id="718851" name="Text Placeholder 718850"/>
          <p:cNvSpPr>
            <a:spLocks noGrp="1"/>
          </p:cNvSpPr>
          <p:nvPr>
            <p:ph type="body" idx="1"/>
          </p:nvPr>
        </p:nvSpPr>
        <p:spPr/>
        <p:txBody>
          <a:bodyPr/>
          <a:lstStyle/>
          <a:p>
            <a:pPr lvl="0"/>
            <a:endParaRPr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167</a:t>
            </a:fld>
            <a:endParaRPr lang="en-US" sz="1200" b="0" dirty="0"/>
          </a:p>
        </p:txBody>
      </p:sp>
      <p:sp>
        <p:nvSpPr>
          <p:cNvPr id="719874" name="Slide Image Placeholder 719873"/>
          <p:cNvSpPr>
            <a:spLocks noGrp="1" noRot="1" noChangeAspect="1" noTextEdit="1"/>
          </p:cNvSpPr>
          <p:nvPr>
            <p:ph type="sldImg"/>
          </p:nvPr>
        </p:nvSpPr>
        <p:spPr/>
      </p:sp>
      <p:sp>
        <p:nvSpPr>
          <p:cNvPr id="719875" name="Text Placeholder 719874"/>
          <p:cNvSpPr>
            <a:spLocks noGrp="1"/>
          </p:cNvSpPr>
          <p:nvPr>
            <p:ph type="body" idx="1"/>
          </p:nvPr>
        </p:nvSpPr>
        <p:spPr/>
        <p:txBody>
          <a:bodyPr/>
          <a:lstStyle/>
          <a:p>
            <a:pPr lvl="0"/>
            <a:endParaRPr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168</a:t>
            </a:fld>
            <a:endParaRPr lang="en-US" sz="1200" b="0" dirty="0"/>
          </a:p>
        </p:txBody>
      </p:sp>
      <p:sp>
        <p:nvSpPr>
          <p:cNvPr id="720898" name="Slide Image Placeholder 720897"/>
          <p:cNvSpPr>
            <a:spLocks noGrp="1" noRot="1" noChangeAspect="1" noTextEdit="1"/>
          </p:cNvSpPr>
          <p:nvPr>
            <p:ph type="sldImg"/>
          </p:nvPr>
        </p:nvSpPr>
        <p:spPr/>
      </p:sp>
      <p:sp>
        <p:nvSpPr>
          <p:cNvPr id="720899" name="Text Placeholder 720898"/>
          <p:cNvSpPr>
            <a:spLocks noGrp="1"/>
          </p:cNvSpPr>
          <p:nvPr>
            <p:ph type="body" idx="1"/>
          </p:nvPr>
        </p:nvSpPr>
        <p:spPr/>
        <p:txBody>
          <a:bodyPr/>
          <a:lstStyle/>
          <a:p>
            <a:pPr lvl="0"/>
            <a:endParaRPr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169</a:t>
            </a:fld>
            <a:endParaRPr lang="en-US" sz="1200" b="0" dirty="0"/>
          </a:p>
        </p:txBody>
      </p:sp>
      <p:sp>
        <p:nvSpPr>
          <p:cNvPr id="721922" name="Slide Image Placeholder 721921"/>
          <p:cNvSpPr>
            <a:spLocks noGrp="1" noRot="1" noChangeAspect="1" noTextEdit="1"/>
          </p:cNvSpPr>
          <p:nvPr>
            <p:ph type="sldImg"/>
          </p:nvPr>
        </p:nvSpPr>
        <p:spPr/>
      </p:sp>
      <p:sp>
        <p:nvSpPr>
          <p:cNvPr id="721923" name="Text Placeholder 721922"/>
          <p:cNvSpPr>
            <a:spLocks noGrp="1"/>
          </p:cNvSpPr>
          <p:nvPr>
            <p:ph type="body" idx="1"/>
          </p:nvPr>
        </p:nvSpPr>
        <p:spPr/>
        <p:txBody>
          <a:bodyPr/>
          <a:lstStyle/>
          <a:p>
            <a:pPr lvl="0"/>
            <a:endParaRPr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170</a:t>
            </a:fld>
            <a:endParaRPr lang="en-US" sz="1200" b="0" dirty="0"/>
          </a:p>
        </p:txBody>
      </p:sp>
      <p:sp>
        <p:nvSpPr>
          <p:cNvPr id="722946" name="Slide Image Placeholder 722945"/>
          <p:cNvSpPr>
            <a:spLocks noGrp="1" noRot="1" noChangeAspect="1" noTextEdit="1"/>
          </p:cNvSpPr>
          <p:nvPr>
            <p:ph type="sldImg"/>
          </p:nvPr>
        </p:nvSpPr>
        <p:spPr/>
      </p:sp>
      <p:sp>
        <p:nvSpPr>
          <p:cNvPr id="722947" name="Text Placeholder 722946"/>
          <p:cNvSpPr>
            <a:spLocks noGrp="1"/>
          </p:cNvSpPr>
          <p:nvPr>
            <p:ph type="body" idx="1"/>
          </p:nvPr>
        </p:nvSpPr>
        <p:spPr/>
        <p:txBody>
          <a:bodyPr/>
          <a:lstStyle/>
          <a:p>
            <a:pPr lvl="0"/>
            <a:endParaRPr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171</a:t>
            </a:fld>
            <a:endParaRPr lang="en-US" sz="1200" b="0" dirty="0"/>
          </a:p>
        </p:txBody>
      </p:sp>
      <p:sp>
        <p:nvSpPr>
          <p:cNvPr id="723970" name="Slide Image Placeholder 723969"/>
          <p:cNvSpPr>
            <a:spLocks noGrp="1" noRot="1" noChangeAspect="1" noTextEdit="1"/>
          </p:cNvSpPr>
          <p:nvPr>
            <p:ph type="sldImg"/>
          </p:nvPr>
        </p:nvSpPr>
        <p:spPr/>
      </p:sp>
      <p:sp>
        <p:nvSpPr>
          <p:cNvPr id="723971" name="Text Placeholder 723970"/>
          <p:cNvSpPr>
            <a:spLocks noGrp="1"/>
          </p:cNvSpPr>
          <p:nvPr>
            <p:ph type="body" idx="1"/>
          </p:nvPr>
        </p:nvSpPr>
        <p:spPr/>
        <p:txBody>
          <a:bodyPr/>
          <a:lstStyle/>
          <a:p>
            <a:pPr lvl="0"/>
            <a:endParaRPr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172</a:t>
            </a:fld>
            <a:endParaRPr lang="en-US" sz="1200" b="0" dirty="0"/>
          </a:p>
        </p:txBody>
      </p:sp>
      <p:sp>
        <p:nvSpPr>
          <p:cNvPr id="724994" name="Slide Image Placeholder 724993"/>
          <p:cNvSpPr>
            <a:spLocks noGrp="1" noRot="1" noChangeAspect="1" noTextEdit="1"/>
          </p:cNvSpPr>
          <p:nvPr>
            <p:ph type="sldImg"/>
          </p:nvPr>
        </p:nvSpPr>
        <p:spPr/>
      </p:sp>
      <p:sp>
        <p:nvSpPr>
          <p:cNvPr id="724995" name="Text Placeholder 724994"/>
          <p:cNvSpPr>
            <a:spLocks noGrp="1"/>
          </p:cNvSpPr>
          <p:nvPr>
            <p:ph type="body" idx="1"/>
          </p:nvPr>
        </p:nvSpPr>
        <p:spPr/>
        <p:txBody>
          <a:bodyPr/>
          <a:lstStyle/>
          <a:p>
            <a:pPr lvl="0"/>
            <a:endParaRPr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173</a:t>
            </a:fld>
            <a:endParaRPr lang="en-US" sz="1200" b="0" dirty="0"/>
          </a:p>
        </p:txBody>
      </p:sp>
      <p:sp>
        <p:nvSpPr>
          <p:cNvPr id="726018" name="Slide Image Placeholder 726017"/>
          <p:cNvSpPr>
            <a:spLocks noGrp="1" noRot="1" noChangeAspect="1" noTextEdit="1"/>
          </p:cNvSpPr>
          <p:nvPr>
            <p:ph type="sldImg"/>
          </p:nvPr>
        </p:nvSpPr>
        <p:spPr/>
      </p:sp>
      <p:sp>
        <p:nvSpPr>
          <p:cNvPr id="726019" name="Text Placeholder 726018"/>
          <p:cNvSpPr>
            <a:spLocks noGrp="1"/>
          </p:cNvSpPr>
          <p:nvPr>
            <p:ph type="body" idx="1"/>
          </p:nvPr>
        </p:nvSpPr>
        <p:spPr/>
        <p:txBody>
          <a:bodyPr/>
          <a:lstStyle/>
          <a:p>
            <a:pPr lvl="0"/>
            <a:endParaRPr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174</a:t>
            </a:fld>
            <a:endParaRPr lang="en-US" sz="1200" b="0" dirty="0"/>
          </a:p>
        </p:txBody>
      </p:sp>
      <p:sp>
        <p:nvSpPr>
          <p:cNvPr id="727042" name="Slide Image Placeholder 727041"/>
          <p:cNvSpPr>
            <a:spLocks noGrp="1" noRot="1" noChangeAspect="1" noTextEdit="1"/>
          </p:cNvSpPr>
          <p:nvPr>
            <p:ph type="sldImg"/>
          </p:nvPr>
        </p:nvSpPr>
        <p:spPr/>
      </p:sp>
      <p:sp>
        <p:nvSpPr>
          <p:cNvPr id="727043" name="Text Placeholder 727042"/>
          <p:cNvSpPr>
            <a:spLocks noGrp="1"/>
          </p:cNvSpPr>
          <p:nvPr>
            <p:ph type="body" idx="1"/>
          </p:nvPr>
        </p:nvSpPr>
        <p:spPr/>
        <p:txBody>
          <a:bodyPr/>
          <a:lstStyle/>
          <a:p>
            <a:pPr lvl="0"/>
            <a:endParaRPr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175</a:t>
            </a:fld>
            <a:endParaRPr lang="en-US" sz="1200" b="0" dirty="0"/>
          </a:p>
        </p:txBody>
      </p:sp>
      <p:sp>
        <p:nvSpPr>
          <p:cNvPr id="728066" name="Slide Image Placeholder 728065"/>
          <p:cNvSpPr>
            <a:spLocks noGrp="1" noRot="1" noChangeAspect="1" noTextEdit="1"/>
          </p:cNvSpPr>
          <p:nvPr>
            <p:ph type="sldImg"/>
          </p:nvPr>
        </p:nvSpPr>
        <p:spPr/>
      </p:sp>
      <p:sp>
        <p:nvSpPr>
          <p:cNvPr id="728067" name="Text Placeholder 728066"/>
          <p:cNvSpPr>
            <a:spLocks noGrp="1"/>
          </p:cNvSpPr>
          <p:nvPr>
            <p:ph type="body" idx="1"/>
          </p:nvPr>
        </p:nvSpPr>
        <p:spPr/>
        <p:txBody>
          <a:bodyPr/>
          <a:lstStyle/>
          <a:p>
            <a:pPr lvl="0"/>
            <a:endParaRPr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b="0" dirty="0"/>
              <a:t>176</a:t>
            </a:fld>
            <a:endParaRPr lang="en-US" sz="1200" b="0" dirty="0"/>
          </a:p>
        </p:txBody>
      </p:sp>
      <p:sp>
        <p:nvSpPr>
          <p:cNvPr id="729090" name="Slide Image Placeholder 729089"/>
          <p:cNvSpPr>
            <a:spLocks noGrp="1" noRot="1" noChangeAspect="1" noTextEdit="1"/>
          </p:cNvSpPr>
          <p:nvPr>
            <p:ph type="sldImg"/>
          </p:nvPr>
        </p:nvSpPr>
        <p:spPr/>
      </p:sp>
      <p:sp>
        <p:nvSpPr>
          <p:cNvPr id="729091" name="Text Placeholder 729090"/>
          <p:cNvSpPr>
            <a:spLocks noGrp="1"/>
          </p:cNvSpPr>
          <p:nvPr>
            <p:ph type="body" idx="1"/>
          </p:nvPr>
        </p:nvSpPr>
        <p:spPr/>
        <p:txBody>
          <a:bodyPr/>
          <a:lstStyle/>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cSld name="Title Slide">
    <p:bg>
      <p:bgPr>
        <a:solidFill>
          <a:schemeClr val="bg1"/>
        </a:solidFill>
        <a:effectLst/>
      </p:bgPr>
    </p:bg>
    <p:spTree>
      <p:nvGrpSpPr>
        <p:cNvPr id="1" name=""/>
        <p:cNvGrpSpPr/>
        <p:nvPr/>
      </p:nvGrpSpPr>
      <p:grpSpPr>
        <a:xfrm>
          <a:off x="0" y="0"/>
          <a:ext cx="0" cy="0"/>
          <a:chOff x="0" y="0"/>
          <a:chExt cx="0" cy="0"/>
        </a:xfrm>
      </p:grpSpPr>
      <p:grpSp>
        <p:nvGrpSpPr>
          <p:cNvPr id="210946" name="Group 210945"/>
          <p:cNvGrpSpPr/>
          <p:nvPr/>
        </p:nvGrpSpPr>
        <p:grpSpPr>
          <a:xfrm>
            <a:off x="0" y="2438400"/>
            <a:ext cx="9009063" cy="1052513"/>
            <a:chOff x="0" y="1536"/>
            <a:chExt cx="5675" cy="663"/>
          </a:xfrm>
        </p:grpSpPr>
        <p:grpSp>
          <p:nvGrpSpPr>
            <p:cNvPr id="210947" name="Group 210946"/>
            <p:cNvGrpSpPr/>
            <p:nvPr/>
          </p:nvGrpSpPr>
          <p:grpSpPr>
            <a:xfrm>
              <a:off x="183" y="1604"/>
              <a:ext cx="448" cy="299"/>
              <a:chOff x="720" y="336"/>
              <a:chExt cx="624" cy="432"/>
            </a:xfrm>
          </p:grpSpPr>
          <p:sp>
            <p:nvSpPr>
              <p:cNvPr id="210948" name="Rectangles 210947"/>
              <p:cNvSpPr/>
              <p:nvPr/>
            </p:nvSpPr>
            <p:spPr>
              <a:xfrm>
                <a:off x="720" y="336"/>
                <a:ext cx="384" cy="432"/>
              </a:xfrm>
              <a:prstGeom prst="rect">
                <a:avLst/>
              </a:prstGeom>
              <a:solidFill>
                <a:schemeClr val="folHlink"/>
              </a:solidFill>
              <a:ln w="9525">
                <a:noFill/>
              </a:ln>
            </p:spPr>
            <p:txBody>
              <a:bodyPr/>
              <a:lstStyle/>
              <a:p>
                <a:endParaRPr lang="en-US"/>
              </a:p>
            </p:txBody>
          </p:sp>
          <p:sp>
            <p:nvSpPr>
              <p:cNvPr id="210949" name="Rectangles 210948"/>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en-US"/>
              </a:p>
            </p:txBody>
          </p:sp>
        </p:grpSp>
        <p:grpSp>
          <p:nvGrpSpPr>
            <p:cNvPr id="210950" name="Group 210949"/>
            <p:cNvGrpSpPr/>
            <p:nvPr/>
          </p:nvGrpSpPr>
          <p:grpSpPr>
            <a:xfrm>
              <a:off x="261" y="1870"/>
              <a:ext cx="465" cy="299"/>
              <a:chOff x="912" y="2640"/>
              <a:chExt cx="672" cy="432"/>
            </a:xfrm>
          </p:grpSpPr>
          <p:sp>
            <p:nvSpPr>
              <p:cNvPr id="210951" name="Rectangles 210950"/>
              <p:cNvSpPr/>
              <p:nvPr/>
            </p:nvSpPr>
            <p:spPr>
              <a:xfrm>
                <a:off x="912" y="2640"/>
                <a:ext cx="384" cy="432"/>
              </a:xfrm>
              <a:prstGeom prst="rect">
                <a:avLst/>
              </a:prstGeom>
              <a:solidFill>
                <a:schemeClr val="accent2"/>
              </a:solidFill>
              <a:ln w="9525">
                <a:noFill/>
              </a:ln>
            </p:spPr>
            <p:txBody>
              <a:bodyPr/>
              <a:lstStyle/>
              <a:p>
                <a:endParaRPr lang="en-US"/>
              </a:p>
            </p:txBody>
          </p:sp>
          <p:sp>
            <p:nvSpPr>
              <p:cNvPr id="210952" name="Rectangles 210951"/>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en-US"/>
              </a:p>
            </p:txBody>
          </p:sp>
        </p:grpSp>
        <p:sp>
          <p:nvSpPr>
            <p:cNvPr id="210953" name="Rectangles 210952"/>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en-US"/>
            </a:p>
          </p:txBody>
        </p:sp>
        <p:sp>
          <p:nvSpPr>
            <p:cNvPr id="210954" name="Rectangles 210953"/>
            <p:cNvSpPr/>
            <p:nvPr/>
          </p:nvSpPr>
          <p:spPr>
            <a:xfrm>
              <a:off x="400" y="1536"/>
              <a:ext cx="20" cy="663"/>
            </a:xfrm>
            <a:prstGeom prst="rect">
              <a:avLst/>
            </a:prstGeom>
            <a:solidFill>
              <a:schemeClr val="bg2"/>
            </a:solidFill>
            <a:ln w="9525">
              <a:noFill/>
            </a:ln>
          </p:spPr>
          <p:txBody>
            <a:bodyPr/>
            <a:lstStyle/>
            <a:p>
              <a:endParaRPr lang="en-US"/>
            </a:p>
          </p:txBody>
        </p:sp>
        <p:sp>
          <p:nvSpPr>
            <p:cNvPr id="210955" name="Rectangles 210954"/>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en-US"/>
            </a:p>
          </p:txBody>
        </p:sp>
      </p:grpSp>
      <p:sp>
        <p:nvSpPr>
          <p:cNvPr id="210956" name="Title 210955"/>
          <p:cNvSpPr>
            <a:spLocks noGrp="1"/>
          </p:cNvSpPr>
          <p:nvPr>
            <p:ph type="ctrTitle"/>
          </p:nvPr>
        </p:nvSpPr>
        <p:spPr>
          <a:xfrm>
            <a:off x="990600" y="1676400"/>
            <a:ext cx="7772400" cy="1462088"/>
          </a:xfrm>
          <a:prstGeom prst="rect">
            <a:avLst/>
          </a:prstGeom>
          <a:noFill/>
          <a:ln w="9525">
            <a:noFill/>
          </a:ln>
        </p:spPr>
        <p:txBody>
          <a:bodyPr anchor="b" anchorCtr="0"/>
          <a:lstStyle>
            <a:lvl1pPr lvl="0">
              <a:buClrTx/>
              <a:buSzTx/>
              <a:buFontTx/>
              <a:defRPr/>
            </a:lvl1pPr>
          </a:lstStyle>
          <a:p>
            <a:pPr lvl="0"/>
            <a:r>
              <a:rPr dirty="0"/>
              <a:t>Click to edit Master title style</a:t>
            </a:r>
          </a:p>
        </p:txBody>
      </p:sp>
      <p:sp>
        <p:nvSpPr>
          <p:cNvPr id="210957" name="Subtitle 21095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dirty="0"/>
              <a:t>Click to edit Master subtitle style</a:t>
            </a:r>
          </a:p>
        </p:txBody>
      </p:sp>
      <p:sp>
        <p:nvSpPr>
          <p:cNvPr id="210958" name="Date Placeholder 210957"/>
          <p:cNvSpPr>
            <a:spLocks noGrp="1"/>
          </p:cNvSpPr>
          <p:nvPr>
            <p:ph type="dt" sz="half" idx="2"/>
          </p:nvPr>
        </p:nvSpPr>
        <p:spPr>
          <a:xfrm>
            <a:off x="990600" y="6248400"/>
            <a:ext cx="1905000" cy="457200"/>
          </a:xfrm>
          <a:prstGeom prst="rect">
            <a:avLst/>
          </a:prstGeom>
          <a:noFill/>
          <a:ln w="9525">
            <a:noFill/>
          </a:ln>
        </p:spPr>
        <p:txBody>
          <a:bodyPr anchor="b" anchorCtr="0"/>
          <a:lstStyle>
            <a:lvl1pPr>
              <a:defRPr sz="1400" b="0">
                <a:solidFill>
                  <a:schemeClr val="bg2"/>
                </a:solidFill>
                <a:latin typeface="Tahoma" charset="0"/>
              </a:defRPr>
            </a:lvl1pPr>
          </a:lstStyle>
          <a:p>
            <a:pPr lvl="0" eaLnBrk="1" hangingPunct="1"/>
            <a:endParaRPr lang="en-US">
              <a:latin typeface="Times New Roman" charset="0"/>
            </a:endParaRPr>
          </a:p>
        </p:txBody>
      </p:sp>
      <p:sp>
        <p:nvSpPr>
          <p:cNvPr id="210959" name="Footer Placeholder 210958"/>
          <p:cNvSpPr>
            <a:spLocks noGrp="1"/>
          </p:cNvSpPr>
          <p:nvPr>
            <p:ph type="ftr" sz="quarter" idx="3"/>
          </p:nvPr>
        </p:nvSpPr>
        <p:spPr>
          <a:xfrm>
            <a:off x="3429000" y="6248400"/>
            <a:ext cx="2895600" cy="457200"/>
          </a:xfrm>
          <a:prstGeom prst="rect">
            <a:avLst/>
          </a:prstGeom>
          <a:noFill/>
          <a:ln w="9525">
            <a:noFill/>
          </a:ln>
        </p:spPr>
        <p:txBody>
          <a:bodyPr anchor="b" anchorCtr="0"/>
          <a:lstStyle>
            <a:lvl1pPr algn="ctr">
              <a:defRPr sz="1400" b="0">
                <a:solidFill>
                  <a:schemeClr val="bg2"/>
                </a:solidFill>
                <a:latin typeface="Tahoma" charset="0"/>
              </a:defRPr>
            </a:lvl1pPr>
          </a:lstStyle>
          <a:p>
            <a:pPr lvl="0" eaLnBrk="1" hangingPunct="1"/>
            <a:endParaRPr lang="en-US"/>
          </a:p>
        </p:txBody>
      </p:sp>
      <p:sp>
        <p:nvSpPr>
          <p:cNvPr id="210960" name="Slide Number Placeholder 210959"/>
          <p:cNvSpPr>
            <a:spLocks noGrp="1"/>
          </p:cNvSpPr>
          <p:nvPr>
            <p:ph type="sldNum" sz="quarter" idx="4"/>
          </p:nvPr>
        </p:nvSpPr>
        <p:spPr>
          <a:xfrm>
            <a:off x="6858000" y="6248400"/>
            <a:ext cx="1905000" cy="457200"/>
          </a:xfrm>
          <a:prstGeom prst="rect">
            <a:avLst/>
          </a:prstGeom>
          <a:noFill/>
          <a:ln w="9525">
            <a:noFill/>
          </a:ln>
        </p:spPr>
        <p:txBody>
          <a:bodyPr anchor="b" anchorCtr="0"/>
          <a:lstStyle>
            <a:lvl1pPr algn="r">
              <a:defRPr sz="1400" b="0">
                <a:solidFill>
                  <a:schemeClr val="bg2"/>
                </a:solidFill>
                <a:latin typeface="Tahoma" charset="0"/>
              </a:defRPr>
            </a:lvl1pPr>
          </a:lstStyle>
          <a:p>
            <a:pPr eaLnBrk="1" hangingPunct="1"/>
            <a:fld id="{9A0DB2DC-4C9A-4742-B13C-FB6460FD3503}" type="slidenum">
              <a:rPr lang="en-US"/>
              <a:t>‹#›</a:t>
            </a:fld>
            <a:endParaRPr lang="en-US">
              <a:latin typeface="Times New Roman" charset="0"/>
            </a:endParaRPr>
          </a:p>
        </p:txBody>
      </p:sp>
      <p:sp>
        <p:nvSpPr>
          <p:cNvPr id="210961" name="Text Box 210960"/>
          <p:cNvSpPr txBox="1"/>
          <p:nvPr/>
        </p:nvSpPr>
        <p:spPr>
          <a:xfrm>
            <a:off x="0" y="6553200"/>
            <a:ext cx="2209800" cy="304800"/>
          </a:xfrm>
          <a:prstGeom prst="rect">
            <a:avLst/>
          </a:prstGeom>
          <a:noFill/>
          <a:ln w="9525">
            <a:noFill/>
          </a:ln>
        </p:spPr>
        <p:txBody>
          <a:bodyPr>
            <a:spAutoFit/>
          </a:bodyPr>
          <a:lstStyle/>
          <a:p>
            <a:pPr lvl="0" eaLnBrk="1" hangingPunct="1">
              <a:spcBef>
                <a:spcPct val="50000"/>
              </a:spcBef>
            </a:pPr>
            <a:r>
              <a:rPr sz="1400" b="0" dirty="0">
                <a:latin typeface="McGrawHill-Italic" pitchFamily="2" charset="0"/>
              </a:rPr>
              <a:t>McGraw-Hill</a:t>
            </a:r>
            <a:endParaRPr sz="2400" b="0" dirty="0">
              <a:latin typeface="Times New Roman" charset="0"/>
            </a:endParaRPr>
          </a:p>
        </p:txBody>
      </p:sp>
      <p:sp>
        <p:nvSpPr>
          <p:cNvPr id="210962" name="Text Box 210961"/>
          <p:cNvSpPr txBox="1"/>
          <p:nvPr/>
        </p:nvSpPr>
        <p:spPr>
          <a:xfrm>
            <a:off x="4572000" y="6553200"/>
            <a:ext cx="4572000" cy="304800"/>
          </a:xfrm>
          <a:prstGeom prst="rect">
            <a:avLst/>
          </a:prstGeom>
          <a:noFill/>
          <a:ln w="9525">
            <a:noFill/>
          </a:ln>
        </p:spPr>
        <p:txBody>
          <a:bodyPr>
            <a:spAutoFit/>
          </a:bodyPr>
          <a:lstStyle/>
          <a:p>
            <a:pPr lvl="0" algn="r" eaLnBrk="1" hangingPunct="1">
              <a:spcBef>
                <a:spcPct val="50000"/>
              </a:spcBef>
              <a:buChar char="©"/>
            </a:pPr>
            <a:r>
              <a:rPr sz="1400" b="0" dirty="0">
                <a:latin typeface="McGrawHill-Italic" pitchFamily="2" charset="0"/>
              </a:rPr>
              <a:t>The McGraw-Hill Companies, Inc., 2000</a:t>
            </a:r>
            <a:endParaRPr sz="2400" b="0" dirty="0">
              <a:latin typeface="Times New Roman"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628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628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p>
            <a:pPr lvl="0"/>
            <a:fld id="{BB962C8B-B14F-4D97-AF65-F5344CB8AC3E}" type="datetime1">
              <a:rPr lang="en-US"/>
              <a:t>11/1/2025</a:t>
            </a:fld>
            <a:endParaRPr lang="en-US"/>
          </a:p>
        </p:txBody>
      </p:sp>
      <p:sp>
        <p:nvSpPr>
          <p:cNvPr id="6" name="Footer Placeholder 5"/>
          <p:cNvSpPr>
            <a:spLocks noGrp="1"/>
          </p:cNvSpPr>
          <p:nvPr>
            <p:ph type="ftr" sz="quarter" idx="11"/>
          </p:nvPr>
        </p:nvSpPr>
        <p:spPr>
          <a:xfrm>
            <a:off x="3124200" y="6248400"/>
            <a:ext cx="2895600" cy="457200"/>
          </a:xfrm>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9150" y="1825625"/>
            <a:ext cx="3886200" cy="209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9150" y="4076700"/>
            <a:ext cx="3886200" cy="210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p>
            <a:pPr lvl="0"/>
            <a:fld id="{BB962C8B-B14F-4D97-AF65-F5344CB8AC3E}" type="datetime1">
              <a:rPr lang="en-US"/>
              <a:t>11/1/2025</a:t>
            </a:fld>
            <a:endParaRPr lang="en-US"/>
          </a:p>
        </p:txBody>
      </p:sp>
      <p:sp>
        <p:nvSpPr>
          <p:cNvPr id="7" name="Footer Placeholder 6"/>
          <p:cNvSpPr>
            <a:spLocks noGrp="1"/>
          </p:cNvSpPr>
          <p:nvPr>
            <p:ph type="ftr" sz="quarter" idx="11"/>
          </p:nvPr>
        </p:nvSpPr>
        <p:spPr>
          <a:xfrm>
            <a:off x="3124200" y="6248400"/>
            <a:ext cx="2895600" cy="457200"/>
          </a:xfrm>
        </p:spPr>
        <p:txBody>
          <a:bodyPr/>
          <a:lstStyle/>
          <a:p>
            <a:pPr lvl="0"/>
            <a:endParaRPr lang="en-US"/>
          </a:p>
        </p:txBody>
      </p:sp>
      <p:sp>
        <p:nvSpPr>
          <p:cNvPr id="8" name="Slide Number Placeholder 7"/>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
  <p:cSld name="Title Slide">
    <p:bg>
      <p:bgPr>
        <a:solidFill>
          <a:schemeClr val="bg1"/>
        </a:solidFill>
        <a:effectLst/>
      </p:bgPr>
    </p:bg>
    <p:spTree>
      <p:nvGrpSpPr>
        <p:cNvPr id="1" name=""/>
        <p:cNvGrpSpPr/>
        <p:nvPr/>
      </p:nvGrpSpPr>
      <p:grpSpPr>
        <a:xfrm>
          <a:off x="0" y="0"/>
          <a:ext cx="0" cy="0"/>
          <a:chOff x="0" y="0"/>
          <a:chExt cx="0" cy="0"/>
        </a:xfrm>
      </p:grpSpPr>
      <p:grpSp>
        <p:nvGrpSpPr>
          <p:cNvPr id="210946" name="Group 210945"/>
          <p:cNvGrpSpPr/>
          <p:nvPr/>
        </p:nvGrpSpPr>
        <p:grpSpPr>
          <a:xfrm>
            <a:off x="0" y="2438400"/>
            <a:ext cx="9009063" cy="1052513"/>
            <a:chOff x="0" y="1536"/>
            <a:chExt cx="5675" cy="663"/>
          </a:xfrm>
        </p:grpSpPr>
        <p:grpSp>
          <p:nvGrpSpPr>
            <p:cNvPr id="210947" name="Group 210946"/>
            <p:cNvGrpSpPr/>
            <p:nvPr/>
          </p:nvGrpSpPr>
          <p:grpSpPr>
            <a:xfrm>
              <a:off x="183" y="1604"/>
              <a:ext cx="448" cy="299"/>
              <a:chOff x="720" y="336"/>
              <a:chExt cx="624" cy="432"/>
            </a:xfrm>
          </p:grpSpPr>
          <p:sp>
            <p:nvSpPr>
              <p:cNvPr id="210948" name="Rectangles 210947"/>
              <p:cNvSpPr/>
              <p:nvPr/>
            </p:nvSpPr>
            <p:spPr>
              <a:xfrm>
                <a:off x="720" y="336"/>
                <a:ext cx="384" cy="432"/>
              </a:xfrm>
              <a:prstGeom prst="rect">
                <a:avLst/>
              </a:prstGeom>
              <a:solidFill>
                <a:schemeClr val="folHlink"/>
              </a:solidFill>
              <a:ln w="9525">
                <a:noFill/>
              </a:ln>
            </p:spPr>
            <p:txBody>
              <a:bodyPr/>
              <a:lstStyle/>
              <a:p>
                <a:endParaRPr lang="en-US" sz="2800"/>
              </a:p>
            </p:txBody>
          </p:sp>
          <p:sp>
            <p:nvSpPr>
              <p:cNvPr id="210949" name="Rectangles 210948"/>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en-US" sz="2800"/>
              </a:p>
            </p:txBody>
          </p:sp>
        </p:grpSp>
        <p:grpSp>
          <p:nvGrpSpPr>
            <p:cNvPr id="210950" name="Group 210949"/>
            <p:cNvGrpSpPr/>
            <p:nvPr/>
          </p:nvGrpSpPr>
          <p:grpSpPr>
            <a:xfrm>
              <a:off x="261" y="1870"/>
              <a:ext cx="465" cy="299"/>
              <a:chOff x="912" y="2640"/>
              <a:chExt cx="672" cy="432"/>
            </a:xfrm>
          </p:grpSpPr>
          <p:sp>
            <p:nvSpPr>
              <p:cNvPr id="210951" name="Rectangles 210950"/>
              <p:cNvSpPr/>
              <p:nvPr/>
            </p:nvSpPr>
            <p:spPr>
              <a:xfrm>
                <a:off x="912" y="2640"/>
                <a:ext cx="384" cy="432"/>
              </a:xfrm>
              <a:prstGeom prst="rect">
                <a:avLst/>
              </a:prstGeom>
              <a:solidFill>
                <a:schemeClr val="accent2"/>
              </a:solidFill>
              <a:ln w="9525">
                <a:noFill/>
              </a:ln>
            </p:spPr>
            <p:txBody>
              <a:bodyPr/>
              <a:lstStyle/>
              <a:p>
                <a:endParaRPr lang="en-US" sz="2800"/>
              </a:p>
            </p:txBody>
          </p:sp>
          <p:sp>
            <p:nvSpPr>
              <p:cNvPr id="210952" name="Rectangles 210951"/>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en-US" sz="2800"/>
              </a:p>
            </p:txBody>
          </p:sp>
        </p:grpSp>
        <p:sp>
          <p:nvSpPr>
            <p:cNvPr id="210953" name="Rectangles 210952"/>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en-US" sz="2800"/>
            </a:p>
          </p:txBody>
        </p:sp>
        <p:sp>
          <p:nvSpPr>
            <p:cNvPr id="210954" name="Rectangles 210953"/>
            <p:cNvSpPr/>
            <p:nvPr/>
          </p:nvSpPr>
          <p:spPr>
            <a:xfrm>
              <a:off x="400" y="1536"/>
              <a:ext cx="20" cy="663"/>
            </a:xfrm>
            <a:prstGeom prst="rect">
              <a:avLst/>
            </a:prstGeom>
            <a:solidFill>
              <a:schemeClr val="bg2"/>
            </a:solidFill>
            <a:ln w="9525">
              <a:noFill/>
            </a:ln>
          </p:spPr>
          <p:txBody>
            <a:bodyPr/>
            <a:lstStyle/>
            <a:p>
              <a:endParaRPr lang="en-US" sz="2800"/>
            </a:p>
          </p:txBody>
        </p:sp>
        <p:sp>
          <p:nvSpPr>
            <p:cNvPr id="210955" name="Rectangles 210954"/>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en-US" sz="2800"/>
            </a:p>
          </p:txBody>
        </p:sp>
      </p:grpSp>
      <p:sp>
        <p:nvSpPr>
          <p:cNvPr id="210956" name="Title 210955"/>
          <p:cNvSpPr>
            <a:spLocks noGrp="1"/>
          </p:cNvSpPr>
          <p:nvPr>
            <p:ph type="ctrTitle"/>
          </p:nvPr>
        </p:nvSpPr>
        <p:spPr>
          <a:xfrm>
            <a:off x="990600" y="1676400"/>
            <a:ext cx="7772400" cy="1462088"/>
          </a:xfrm>
          <a:prstGeom prst="rect">
            <a:avLst/>
          </a:prstGeom>
          <a:noFill/>
          <a:ln w="9525">
            <a:noFill/>
          </a:ln>
        </p:spPr>
        <p:txBody>
          <a:bodyPr anchor="b" anchorCtr="0"/>
          <a:lstStyle>
            <a:lvl1pPr lvl="0">
              <a:buClrTx/>
              <a:buSzTx/>
              <a:buFontTx/>
              <a:defRPr/>
            </a:lvl1pPr>
          </a:lstStyle>
          <a:p>
            <a:pPr lvl="0"/>
            <a:r>
              <a:rPr dirty="0"/>
              <a:t>Click to edit Master title style</a:t>
            </a:r>
          </a:p>
        </p:txBody>
      </p:sp>
      <p:sp>
        <p:nvSpPr>
          <p:cNvPr id="210957" name="Subtitle 21095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dirty="0"/>
              <a:t>Click to edit Master subtitle style</a:t>
            </a:r>
          </a:p>
        </p:txBody>
      </p:sp>
      <p:sp>
        <p:nvSpPr>
          <p:cNvPr id="210958" name="Date Placeholder 210957"/>
          <p:cNvSpPr>
            <a:spLocks noGrp="1"/>
          </p:cNvSpPr>
          <p:nvPr>
            <p:ph type="dt" sz="half" idx="2"/>
          </p:nvPr>
        </p:nvSpPr>
        <p:spPr>
          <a:xfrm>
            <a:off x="990600" y="6248400"/>
            <a:ext cx="1905000" cy="457200"/>
          </a:xfrm>
          <a:prstGeom prst="rect">
            <a:avLst/>
          </a:prstGeom>
          <a:noFill/>
          <a:ln w="9525">
            <a:noFill/>
          </a:ln>
        </p:spPr>
        <p:txBody>
          <a:bodyPr anchor="b" anchorCtr="0"/>
          <a:lstStyle>
            <a:lvl1pPr>
              <a:defRPr sz="1400" b="0" i="0">
                <a:solidFill>
                  <a:schemeClr val="bg2"/>
                </a:solidFill>
                <a:latin typeface="Tahoma" charset="0"/>
              </a:defRPr>
            </a:lvl1pPr>
          </a:lstStyle>
          <a:p>
            <a:pPr lvl="0" eaLnBrk="1" hangingPunct="1"/>
            <a:endParaRPr lang="en-US"/>
          </a:p>
        </p:txBody>
      </p:sp>
      <p:sp>
        <p:nvSpPr>
          <p:cNvPr id="210959" name="Footer Placeholder 210958"/>
          <p:cNvSpPr>
            <a:spLocks noGrp="1"/>
          </p:cNvSpPr>
          <p:nvPr>
            <p:ph type="ftr" sz="quarter" idx="3"/>
          </p:nvPr>
        </p:nvSpPr>
        <p:spPr>
          <a:xfrm>
            <a:off x="3429000" y="6248400"/>
            <a:ext cx="2895600" cy="457200"/>
          </a:xfrm>
          <a:prstGeom prst="rect">
            <a:avLst/>
          </a:prstGeom>
          <a:noFill/>
          <a:ln w="9525">
            <a:noFill/>
          </a:ln>
        </p:spPr>
        <p:txBody>
          <a:bodyPr anchor="b" anchorCtr="0"/>
          <a:lstStyle>
            <a:lvl1pPr algn="ctr">
              <a:defRPr sz="1400" b="0" i="0">
                <a:solidFill>
                  <a:schemeClr val="bg2"/>
                </a:solidFill>
                <a:latin typeface="Tahoma" charset="0"/>
              </a:defRPr>
            </a:lvl1pPr>
          </a:lstStyle>
          <a:p>
            <a:pPr lvl="0" eaLnBrk="1" hangingPunct="1"/>
            <a:r>
              <a:rPr lang="en-US"/>
              <a:t>3.#</a:t>
            </a:r>
          </a:p>
        </p:txBody>
      </p:sp>
      <p:sp>
        <p:nvSpPr>
          <p:cNvPr id="210960" name="Slide Number Placeholder 210959"/>
          <p:cNvSpPr>
            <a:spLocks noGrp="1"/>
          </p:cNvSpPr>
          <p:nvPr>
            <p:ph type="sldNum" sz="quarter" idx="4"/>
          </p:nvPr>
        </p:nvSpPr>
        <p:spPr>
          <a:xfrm>
            <a:off x="6858000" y="6248400"/>
            <a:ext cx="1905000" cy="457200"/>
          </a:xfrm>
          <a:prstGeom prst="rect">
            <a:avLst/>
          </a:prstGeom>
          <a:noFill/>
          <a:ln w="9525">
            <a:noFill/>
          </a:ln>
        </p:spPr>
        <p:txBody>
          <a:bodyPr anchor="b" anchorCtr="0"/>
          <a:lstStyle>
            <a:lvl1pPr algn="r">
              <a:defRPr sz="1400" b="0" i="0">
                <a:solidFill>
                  <a:schemeClr val="bg2"/>
                </a:solidFill>
                <a:latin typeface="Tahoma" charset="0"/>
              </a:defRPr>
            </a:lvl1pPr>
          </a:lstStyle>
          <a:p>
            <a:pPr eaLnBrk="1" hangingPunct="1"/>
            <a:fld id="{9A0DB2DC-4C9A-4742-B13C-FB6460FD3503}" type="slidenum">
              <a:rPr lang="en-US"/>
              <a:t>‹#›</a:t>
            </a:fld>
            <a:endParaRPr lang="en-US"/>
          </a:p>
        </p:txBody>
      </p:sp>
      <p:sp>
        <p:nvSpPr>
          <p:cNvPr id="210961" name="Text Box 210960"/>
          <p:cNvSpPr txBox="1"/>
          <p:nvPr userDrawn="1"/>
        </p:nvSpPr>
        <p:spPr>
          <a:xfrm>
            <a:off x="0" y="6553200"/>
            <a:ext cx="2209800" cy="304800"/>
          </a:xfrm>
          <a:prstGeom prst="rect">
            <a:avLst/>
          </a:prstGeom>
          <a:noFill/>
          <a:ln w="9525">
            <a:noFill/>
          </a:ln>
        </p:spPr>
        <p:txBody>
          <a:bodyPr>
            <a:spAutoFit/>
          </a:bodyPr>
          <a:lstStyle/>
          <a:p>
            <a:pPr lvl="0" eaLnBrk="1" hangingPunct="1">
              <a:spcBef>
                <a:spcPct val="50000"/>
              </a:spcBef>
            </a:pPr>
            <a:r>
              <a:rPr sz="1400" b="0" i="0" baseline="0" dirty="0">
                <a:latin typeface="McGrawHill-Italic" pitchFamily="2" charset="0"/>
              </a:rPr>
              <a:t>McGraw-Hill</a:t>
            </a:r>
            <a:endParaRPr sz="2400" b="0" i="0" baseline="0" dirty="0"/>
          </a:p>
        </p:txBody>
      </p:sp>
      <p:sp>
        <p:nvSpPr>
          <p:cNvPr id="210962" name="Text Box 210961"/>
          <p:cNvSpPr txBox="1"/>
          <p:nvPr userDrawn="1"/>
        </p:nvSpPr>
        <p:spPr>
          <a:xfrm>
            <a:off x="4572000" y="6553200"/>
            <a:ext cx="4572000" cy="304800"/>
          </a:xfrm>
          <a:prstGeom prst="rect">
            <a:avLst/>
          </a:prstGeom>
          <a:noFill/>
          <a:ln w="9525">
            <a:noFill/>
          </a:ln>
        </p:spPr>
        <p:txBody>
          <a:bodyPr>
            <a:spAutoFit/>
          </a:bodyPr>
          <a:lstStyle/>
          <a:p>
            <a:pPr lvl="0" algn="r" eaLnBrk="1" hangingPunct="1">
              <a:spcBef>
                <a:spcPct val="50000"/>
              </a:spcBef>
              <a:buChar char="©"/>
            </a:pPr>
            <a:r>
              <a:rPr sz="1400" b="0" i="0" baseline="0" dirty="0">
                <a:latin typeface="McGrawHill-Italic" pitchFamily="2" charset="0"/>
              </a:rPr>
              <a:t>The McGraw-Hill Companies, Inc., 2000</a:t>
            </a:r>
            <a:endParaRPr sz="2400" b="0" i="0" baseline="0" dirty="0"/>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628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628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title">
  <p:cSld name="Title Slide">
    <p:bg>
      <p:bgPr>
        <a:solidFill>
          <a:schemeClr val="bg1"/>
        </a:solidFill>
        <a:effectLst/>
      </p:bgPr>
    </p:bg>
    <p:spTree>
      <p:nvGrpSpPr>
        <p:cNvPr id="1" name=""/>
        <p:cNvGrpSpPr/>
        <p:nvPr/>
      </p:nvGrpSpPr>
      <p:grpSpPr>
        <a:xfrm>
          <a:off x="0" y="0"/>
          <a:ext cx="0" cy="0"/>
          <a:chOff x="0" y="0"/>
          <a:chExt cx="0" cy="0"/>
        </a:xfrm>
      </p:grpSpPr>
      <p:grpSp>
        <p:nvGrpSpPr>
          <p:cNvPr id="210946" name="Group 210945"/>
          <p:cNvGrpSpPr/>
          <p:nvPr/>
        </p:nvGrpSpPr>
        <p:grpSpPr>
          <a:xfrm>
            <a:off x="0" y="2438400"/>
            <a:ext cx="9009063" cy="1052513"/>
            <a:chOff x="0" y="1536"/>
            <a:chExt cx="5675" cy="663"/>
          </a:xfrm>
        </p:grpSpPr>
        <p:grpSp>
          <p:nvGrpSpPr>
            <p:cNvPr id="210947" name="Group 210946"/>
            <p:cNvGrpSpPr/>
            <p:nvPr/>
          </p:nvGrpSpPr>
          <p:grpSpPr>
            <a:xfrm>
              <a:off x="183" y="1604"/>
              <a:ext cx="448" cy="299"/>
              <a:chOff x="720" y="336"/>
              <a:chExt cx="624" cy="432"/>
            </a:xfrm>
          </p:grpSpPr>
          <p:sp>
            <p:nvSpPr>
              <p:cNvPr id="210948" name="Rectangles 210947"/>
              <p:cNvSpPr/>
              <p:nvPr/>
            </p:nvSpPr>
            <p:spPr>
              <a:xfrm>
                <a:off x="720" y="336"/>
                <a:ext cx="384" cy="432"/>
              </a:xfrm>
              <a:prstGeom prst="rect">
                <a:avLst/>
              </a:prstGeom>
              <a:solidFill>
                <a:schemeClr val="folHlink"/>
              </a:solidFill>
              <a:ln w="9525">
                <a:noFill/>
              </a:ln>
            </p:spPr>
            <p:txBody>
              <a:bodyPr/>
              <a:lstStyle/>
              <a:p>
                <a:endParaRPr lang="en-US"/>
              </a:p>
            </p:txBody>
          </p:sp>
          <p:sp>
            <p:nvSpPr>
              <p:cNvPr id="210949" name="Rectangles 210948"/>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en-US"/>
              </a:p>
            </p:txBody>
          </p:sp>
        </p:grpSp>
        <p:grpSp>
          <p:nvGrpSpPr>
            <p:cNvPr id="210950" name="Group 210949"/>
            <p:cNvGrpSpPr/>
            <p:nvPr/>
          </p:nvGrpSpPr>
          <p:grpSpPr>
            <a:xfrm>
              <a:off x="261" y="1870"/>
              <a:ext cx="465" cy="299"/>
              <a:chOff x="912" y="2640"/>
              <a:chExt cx="672" cy="432"/>
            </a:xfrm>
          </p:grpSpPr>
          <p:sp>
            <p:nvSpPr>
              <p:cNvPr id="210951" name="Rectangles 210950"/>
              <p:cNvSpPr/>
              <p:nvPr/>
            </p:nvSpPr>
            <p:spPr>
              <a:xfrm>
                <a:off x="912" y="2640"/>
                <a:ext cx="384" cy="432"/>
              </a:xfrm>
              <a:prstGeom prst="rect">
                <a:avLst/>
              </a:prstGeom>
              <a:solidFill>
                <a:schemeClr val="accent2"/>
              </a:solidFill>
              <a:ln w="9525">
                <a:noFill/>
              </a:ln>
            </p:spPr>
            <p:txBody>
              <a:bodyPr/>
              <a:lstStyle/>
              <a:p>
                <a:endParaRPr lang="en-US"/>
              </a:p>
            </p:txBody>
          </p:sp>
          <p:sp>
            <p:nvSpPr>
              <p:cNvPr id="210952" name="Rectangles 210951"/>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en-US"/>
              </a:p>
            </p:txBody>
          </p:sp>
        </p:grpSp>
        <p:sp>
          <p:nvSpPr>
            <p:cNvPr id="210953" name="Rectangles 210952"/>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en-US"/>
            </a:p>
          </p:txBody>
        </p:sp>
        <p:sp>
          <p:nvSpPr>
            <p:cNvPr id="210954" name="Rectangles 210953"/>
            <p:cNvSpPr/>
            <p:nvPr/>
          </p:nvSpPr>
          <p:spPr>
            <a:xfrm>
              <a:off x="400" y="1536"/>
              <a:ext cx="20" cy="663"/>
            </a:xfrm>
            <a:prstGeom prst="rect">
              <a:avLst/>
            </a:prstGeom>
            <a:solidFill>
              <a:schemeClr val="bg2"/>
            </a:solidFill>
            <a:ln w="9525">
              <a:noFill/>
            </a:ln>
          </p:spPr>
          <p:txBody>
            <a:bodyPr/>
            <a:lstStyle/>
            <a:p>
              <a:endParaRPr lang="en-US"/>
            </a:p>
          </p:txBody>
        </p:sp>
        <p:sp>
          <p:nvSpPr>
            <p:cNvPr id="210955" name="Rectangles 210954"/>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en-US"/>
            </a:p>
          </p:txBody>
        </p:sp>
      </p:grpSp>
      <p:sp>
        <p:nvSpPr>
          <p:cNvPr id="210956" name="Title 210955"/>
          <p:cNvSpPr>
            <a:spLocks noGrp="1"/>
          </p:cNvSpPr>
          <p:nvPr>
            <p:ph type="ctrTitle"/>
          </p:nvPr>
        </p:nvSpPr>
        <p:spPr>
          <a:xfrm>
            <a:off x="990600" y="1676400"/>
            <a:ext cx="7772400" cy="1462088"/>
          </a:xfrm>
          <a:prstGeom prst="rect">
            <a:avLst/>
          </a:prstGeom>
          <a:noFill/>
          <a:ln w="9525">
            <a:noFill/>
          </a:ln>
        </p:spPr>
        <p:txBody>
          <a:bodyPr anchor="b" anchorCtr="0"/>
          <a:lstStyle>
            <a:lvl1pPr lvl="0">
              <a:buClrTx/>
              <a:buSzTx/>
              <a:buFontTx/>
              <a:defRPr/>
            </a:lvl1pPr>
          </a:lstStyle>
          <a:p>
            <a:pPr lvl="0"/>
            <a:r>
              <a:rPr dirty="0"/>
              <a:t>Click to edit Master title style</a:t>
            </a:r>
          </a:p>
        </p:txBody>
      </p:sp>
      <p:sp>
        <p:nvSpPr>
          <p:cNvPr id="210957" name="Subtitle 21095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dirty="0"/>
              <a:t>Click to edit Master subtitle style</a:t>
            </a:r>
          </a:p>
        </p:txBody>
      </p:sp>
      <p:sp>
        <p:nvSpPr>
          <p:cNvPr id="210958" name="Date Placeholder 210957"/>
          <p:cNvSpPr>
            <a:spLocks noGrp="1"/>
          </p:cNvSpPr>
          <p:nvPr>
            <p:ph type="dt" sz="half" idx="2"/>
          </p:nvPr>
        </p:nvSpPr>
        <p:spPr>
          <a:xfrm>
            <a:off x="990600" y="6248400"/>
            <a:ext cx="1905000" cy="457200"/>
          </a:xfrm>
          <a:prstGeom prst="rect">
            <a:avLst/>
          </a:prstGeom>
          <a:noFill/>
          <a:ln w="9525">
            <a:noFill/>
          </a:ln>
        </p:spPr>
        <p:txBody>
          <a:bodyPr anchor="b" anchorCtr="0"/>
          <a:lstStyle>
            <a:lvl1pPr>
              <a:defRPr sz="1400" b="0">
                <a:solidFill>
                  <a:schemeClr val="bg2"/>
                </a:solidFill>
                <a:latin typeface="Tahoma" charset="0"/>
              </a:defRPr>
            </a:lvl1pPr>
          </a:lstStyle>
          <a:p>
            <a:pPr lvl="0" eaLnBrk="1" hangingPunct="1"/>
            <a:endParaRPr lang="en-US">
              <a:latin typeface="Times New Roman" charset="0"/>
            </a:endParaRPr>
          </a:p>
        </p:txBody>
      </p:sp>
      <p:sp>
        <p:nvSpPr>
          <p:cNvPr id="210959" name="Footer Placeholder 210958"/>
          <p:cNvSpPr>
            <a:spLocks noGrp="1"/>
          </p:cNvSpPr>
          <p:nvPr>
            <p:ph type="ftr" sz="quarter" idx="3"/>
          </p:nvPr>
        </p:nvSpPr>
        <p:spPr>
          <a:xfrm>
            <a:off x="3429000" y="6248400"/>
            <a:ext cx="2895600" cy="457200"/>
          </a:xfrm>
          <a:prstGeom prst="rect">
            <a:avLst/>
          </a:prstGeom>
          <a:noFill/>
          <a:ln w="9525">
            <a:noFill/>
          </a:ln>
        </p:spPr>
        <p:txBody>
          <a:bodyPr anchor="b" anchorCtr="0"/>
          <a:lstStyle>
            <a:lvl1pPr algn="ctr">
              <a:defRPr sz="1400" b="0">
                <a:solidFill>
                  <a:schemeClr val="bg2"/>
                </a:solidFill>
                <a:latin typeface="Tahoma" charset="0"/>
              </a:defRPr>
            </a:lvl1pPr>
          </a:lstStyle>
          <a:p>
            <a:pPr lvl="0" eaLnBrk="1" hangingPunct="1"/>
            <a:endParaRPr lang="en-US"/>
          </a:p>
        </p:txBody>
      </p:sp>
      <p:sp>
        <p:nvSpPr>
          <p:cNvPr id="210960" name="Slide Number Placeholder 210959"/>
          <p:cNvSpPr>
            <a:spLocks noGrp="1"/>
          </p:cNvSpPr>
          <p:nvPr>
            <p:ph type="sldNum" sz="quarter" idx="4"/>
          </p:nvPr>
        </p:nvSpPr>
        <p:spPr>
          <a:xfrm>
            <a:off x="6858000" y="6248400"/>
            <a:ext cx="1905000" cy="457200"/>
          </a:xfrm>
          <a:prstGeom prst="rect">
            <a:avLst/>
          </a:prstGeom>
          <a:noFill/>
          <a:ln w="9525">
            <a:noFill/>
          </a:ln>
        </p:spPr>
        <p:txBody>
          <a:bodyPr anchor="b" anchorCtr="0"/>
          <a:lstStyle>
            <a:lvl1pPr algn="r">
              <a:defRPr sz="1400" b="0">
                <a:solidFill>
                  <a:schemeClr val="bg2"/>
                </a:solidFill>
                <a:latin typeface="Tahoma" charset="0"/>
              </a:defRPr>
            </a:lvl1pPr>
          </a:lstStyle>
          <a:p>
            <a:pPr eaLnBrk="1" hangingPunct="1"/>
            <a:fld id="{9A0DB2DC-4C9A-4742-B13C-FB6460FD3503}" type="slidenum">
              <a:rPr lang="en-US"/>
              <a:t>‹#›</a:t>
            </a:fld>
            <a:endParaRPr lang="en-US">
              <a:latin typeface="Times New Roman" charset="0"/>
            </a:endParaRPr>
          </a:p>
        </p:txBody>
      </p:sp>
      <p:sp>
        <p:nvSpPr>
          <p:cNvPr id="210961" name="Text Box 210960"/>
          <p:cNvSpPr txBox="1"/>
          <p:nvPr/>
        </p:nvSpPr>
        <p:spPr>
          <a:xfrm>
            <a:off x="0" y="6553200"/>
            <a:ext cx="2209800" cy="304800"/>
          </a:xfrm>
          <a:prstGeom prst="rect">
            <a:avLst/>
          </a:prstGeom>
          <a:noFill/>
          <a:ln w="9525">
            <a:noFill/>
          </a:ln>
        </p:spPr>
        <p:txBody>
          <a:bodyPr>
            <a:spAutoFit/>
          </a:bodyPr>
          <a:lstStyle/>
          <a:p>
            <a:pPr lvl="0" eaLnBrk="1" hangingPunct="1">
              <a:spcBef>
                <a:spcPct val="50000"/>
              </a:spcBef>
            </a:pPr>
            <a:r>
              <a:rPr sz="1400" b="0" dirty="0">
                <a:latin typeface="McGrawHill-Italic" pitchFamily="2" charset="0"/>
              </a:rPr>
              <a:t>McGraw-Hill</a:t>
            </a:r>
            <a:endParaRPr sz="2400" b="0" dirty="0">
              <a:latin typeface="Times New Roman" charset="0"/>
            </a:endParaRPr>
          </a:p>
        </p:txBody>
      </p:sp>
      <p:sp>
        <p:nvSpPr>
          <p:cNvPr id="210962" name="Text Box 210961"/>
          <p:cNvSpPr txBox="1"/>
          <p:nvPr/>
        </p:nvSpPr>
        <p:spPr>
          <a:xfrm>
            <a:off x="4572000" y="6553200"/>
            <a:ext cx="4572000" cy="304800"/>
          </a:xfrm>
          <a:prstGeom prst="rect">
            <a:avLst/>
          </a:prstGeom>
          <a:noFill/>
          <a:ln w="9525">
            <a:noFill/>
          </a:ln>
        </p:spPr>
        <p:txBody>
          <a:bodyPr>
            <a:spAutoFit/>
          </a:bodyPr>
          <a:lstStyle/>
          <a:p>
            <a:pPr lvl="0" algn="r" eaLnBrk="1" hangingPunct="1">
              <a:spcBef>
                <a:spcPct val="50000"/>
              </a:spcBef>
              <a:buChar char="©"/>
            </a:pPr>
            <a:r>
              <a:rPr sz="1400" b="0" dirty="0">
                <a:latin typeface="McGrawHill-Italic" pitchFamily="2" charset="0"/>
              </a:rPr>
              <a:t>The McGraw-Hill Companies, Inc., 2000</a:t>
            </a:r>
            <a:endParaRPr sz="2400" b="0" dirty="0">
              <a:latin typeface="Times New Roman" charset="0"/>
            </a:endParaRPr>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628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628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Slide Number Placeholder 209932"/>
          <p:cNvSpPr>
            <a:spLocks noGrp="1"/>
          </p:cNvSpPr>
          <p:nvPr>
            <p:ph type="sldNum" sz="quarter" idx="4"/>
          </p:nvPr>
        </p:nvSpPr>
        <p:spPr>
          <a:xfrm>
            <a:off x="0" y="6400800"/>
            <a:ext cx="1905000" cy="457200"/>
          </a:xfrm>
          <a:prstGeom prst="rect">
            <a:avLst/>
          </a:prstGeom>
          <a:noFill/>
          <a:ln w="9525">
            <a:noFill/>
          </a:ln>
        </p:spPr>
        <p:txBody>
          <a:bodyPr anchor="b" anchorCtr="0"/>
          <a:lstStyle>
            <a:lvl1pPr>
              <a:defRPr sz="2000" b="1">
                <a:latin typeface="Arial" panose="02080604020202020204" pitchFamily="34" charset="0"/>
              </a:defRPr>
            </a:lvl1p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Slide Number Placeholder 209932"/>
          <p:cNvSpPr>
            <a:spLocks noGrp="1"/>
          </p:cNvSpPr>
          <p:nvPr>
            <p:ph type="sldNum" sz="quarter" idx="4"/>
          </p:nvPr>
        </p:nvSpPr>
        <p:spPr>
          <a:xfrm>
            <a:off x="0" y="6400800"/>
            <a:ext cx="1905000" cy="457200"/>
          </a:xfrm>
          <a:prstGeom prst="rect">
            <a:avLst/>
          </a:prstGeom>
          <a:noFill/>
          <a:ln w="9525">
            <a:noFill/>
          </a:ln>
        </p:spPr>
        <p:txBody>
          <a:bodyPr anchor="b" anchorCtr="0"/>
          <a:lstStyle>
            <a:lvl1pPr>
              <a:defRPr sz="2000" b="1" i="0">
                <a:latin typeface="Arial" panose="02080604020202020204" pitchFamily="34" charset="0"/>
              </a:defRPr>
            </a:lvl1pPr>
          </a:lstStyle>
          <a:p>
            <a:pPr lvl="0" eaLnBrk="1" hangingPunct="1"/>
            <a:r>
              <a:t>3.</a:t>
            </a:r>
            <a:fld id="{9A0DB2DC-4C9A-4742-B13C-FB6460FD3503}" type="slidenum">
              <a:rPr lang="en-US" sz="2000" b="1" i="0">
                <a:latin typeface="Arial" panose="02080604020202020204" pitchFamily="34" charset="0"/>
              </a:rPr>
              <a:t>‹#›</a:t>
            </a:fld>
            <a:endParaRPr lang="en-US" sz="2000" b="1" i="0">
              <a:latin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hdr="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2pPr>
      <a:lvl3pPr marL="914400" lvl="2"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3pPr>
      <a:lvl4pPr marL="1371600" lvl="3"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4pPr>
      <a:lvl5pPr marL="1828800" lvl="4"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5pPr>
      <a:lvl6pPr marL="2286000" lvl="5"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6pPr>
      <a:lvl7pPr marL="2743200" lvl="6"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7pPr>
      <a:lvl8pPr marL="3200400" lvl="7"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8pPr>
      <a:lvl9pPr marL="3657600" lvl="8" indent="0" algn="l" defTabSz="914400" rtl="0" eaLnBrk="0" fontAlgn="base" latinLnBrk="0" hangingPunct="0">
        <a:lnSpc>
          <a:spcPct val="100000"/>
        </a:lnSpc>
        <a:spcBef>
          <a:spcPct val="0"/>
        </a:spcBef>
        <a:spcAft>
          <a:spcPct val="0"/>
        </a:spcAft>
        <a:buNone/>
        <a:defRPr sz="2800" b="1" i="1" u="none" kern="1200" baseline="-18000">
          <a:solidFill>
            <a:schemeClr val="tx1"/>
          </a:solidFill>
          <a:latin typeface="Times New Roman" charset="0"/>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Slide Number Placeholder 209932"/>
          <p:cNvSpPr>
            <a:spLocks noGrp="1"/>
          </p:cNvSpPr>
          <p:nvPr>
            <p:ph type="sldNum" sz="quarter" idx="4"/>
          </p:nvPr>
        </p:nvSpPr>
        <p:spPr>
          <a:xfrm>
            <a:off x="0" y="6400800"/>
            <a:ext cx="1905000" cy="457200"/>
          </a:xfrm>
          <a:prstGeom prst="rect">
            <a:avLst/>
          </a:prstGeom>
          <a:noFill/>
          <a:ln w="9525">
            <a:noFill/>
          </a:ln>
        </p:spPr>
        <p:txBody>
          <a:bodyPr anchor="b" anchorCtr="0"/>
          <a:lstStyle>
            <a:lvl1pPr>
              <a:defRPr sz="2000" b="1">
                <a:latin typeface="Arial" panose="02080604020202020204" pitchFamily="34" charset="0"/>
              </a:defRPr>
            </a:lvl1pPr>
          </a:lstStyle>
          <a:p>
            <a:pPr lvl="0" eaLnBrk="1" hangingPunct="1"/>
            <a:r>
              <a:t>1.</a:t>
            </a:r>
            <a:fld id="{9A0DB2DC-4C9A-4742-B13C-FB6460FD3503}" type="slidenum">
              <a:rPr lang="en-US" sz="2000" b="1">
                <a:latin typeface="Arial" panose="02080604020202020204" pitchFamily="34" charset="0"/>
              </a:rPr>
              <a:t>‹#›</a:t>
            </a:fld>
            <a:endParaRPr lang="en-US" sz="2000" b="1">
              <a:latin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Arial" panose="0208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mundi.net/maps/maps_020/walru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4.png"/></Relationships>
</file>

<file path=ppt/slides/_rels/slide1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22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2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4.xml"/></Relationships>
</file>

<file path=ppt/slides/_rels/slide2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1</a:t>
            </a:fld>
            <a:endParaRPr lang="en-US" sz="2000" b="1">
              <a:latin typeface="Arial" panose="02080604020202020204" pitchFamily="34" charset="0"/>
            </a:endParaRPr>
          </a:p>
        </p:txBody>
      </p:sp>
      <p:sp>
        <p:nvSpPr>
          <p:cNvPr id="898051" name="Rectangles 898050"/>
          <p:cNvSpPr/>
          <p:nvPr/>
        </p:nvSpPr>
        <p:spPr>
          <a:xfrm>
            <a:off x="1143000" y="2514600"/>
            <a:ext cx="6858000" cy="2185214"/>
          </a:xfrm>
          <a:prstGeom prst="rect">
            <a:avLst/>
          </a:prstGeom>
          <a:noFill/>
          <a:ln w="9525">
            <a:noFill/>
          </a:ln>
        </p:spPr>
        <p:txBody>
          <a:bodyPr>
            <a:spAutoFit/>
          </a:bodyPr>
          <a:lstStyle/>
          <a:p>
            <a:pPr algn="ctr"/>
            <a:r>
              <a:rPr sz="4400" dirty="0">
                <a:solidFill>
                  <a:schemeClr val="tx2"/>
                </a:solidFill>
                <a:latin typeface="Arial" panose="02080604020202020204" pitchFamily="34" charset="0"/>
              </a:rPr>
              <a:t>Chapter </a:t>
            </a:r>
            <a:r>
              <a:rPr lang="en-US" sz="4400" dirty="0">
                <a:solidFill>
                  <a:schemeClr val="tx2"/>
                </a:solidFill>
                <a:latin typeface="Arial" panose="02080604020202020204" pitchFamily="34" charset="0"/>
              </a:rPr>
              <a:t>One </a:t>
            </a:r>
            <a:endParaRPr sz="4400" dirty="0">
              <a:solidFill>
                <a:schemeClr val="tx2"/>
              </a:solidFill>
              <a:latin typeface="Arial" panose="02080604020202020204" pitchFamily="34" charset="0"/>
            </a:endParaRPr>
          </a:p>
          <a:p>
            <a:pPr algn="ctr"/>
            <a:endParaRPr sz="2000" dirty="0">
              <a:solidFill>
                <a:schemeClr val="tx2"/>
              </a:solidFill>
              <a:latin typeface="Arial" panose="02080604020202020204" pitchFamily="34" charset="0"/>
            </a:endParaRPr>
          </a:p>
          <a:p>
            <a:pPr algn="ctr"/>
            <a:r>
              <a:rPr lang="en-GB" sz="3600" dirty="0"/>
              <a:t>Data Communication and Computer Networking Basics </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t>Objectives</a:t>
            </a:r>
            <a:endParaRPr lang="en-GB"/>
          </a:p>
        </p:txBody>
      </p:sp>
      <p:sp>
        <p:nvSpPr>
          <p:cNvPr id="4099" name="Content Placeholder 2"/>
          <p:cNvSpPr>
            <a:spLocks noGrp="1"/>
          </p:cNvSpPr>
          <p:nvPr>
            <p:ph idx="1"/>
          </p:nvPr>
        </p:nvSpPr>
        <p:spPr/>
        <p:txBody>
          <a:bodyPr/>
          <a:lstStyle/>
          <a:p>
            <a:r>
              <a:rPr lang="en-US" dirty="0">
                <a:latin typeface="Times" pitchFamily="18" charset="0"/>
                <a:cs typeface="Times" pitchFamily="18" charset="0"/>
              </a:rPr>
              <a:t>At the end of this Chapter Students should be able to:</a:t>
            </a:r>
          </a:p>
          <a:p>
            <a:pPr lvl="1"/>
            <a:r>
              <a:rPr lang="en-US" dirty="0">
                <a:latin typeface="Times" pitchFamily="18" charset="0"/>
                <a:cs typeface="Times" pitchFamily="18" charset="0"/>
              </a:rPr>
              <a:t>Understand the concept of Network, Data communication</a:t>
            </a:r>
          </a:p>
          <a:p>
            <a:pPr lvl="1"/>
            <a:r>
              <a:rPr lang="en-US" dirty="0">
                <a:latin typeface="Times" pitchFamily="18" charset="0"/>
                <a:cs typeface="Times" pitchFamily="18" charset="0"/>
              </a:rPr>
              <a:t>Know  the components of data communication</a:t>
            </a:r>
          </a:p>
          <a:p>
            <a:pPr lvl="1"/>
            <a:r>
              <a:rPr lang="en-US" dirty="0">
                <a:latin typeface="Times" pitchFamily="18" charset="0"/>
                <a:cs typeface="Times" pitchFamily="18" charset="0"/>
              </a:rPr>
              <a:t>Identify the various application of Networks</a:t>
            </a:r>
          </a:p>
          <a:p>
            <a:pPr lvl="1"/>
            <a:r>
              <a:rPr lang="en-US" dirty="0">
                <a:latin typeface="Times" pitchFamily="18" charset="0"/>
                <a:cs typeface="Times" pitchFamily="18" charset="0"/>
              </a:rPr>
              <a:t>Understand the classification of Network</a:t>
            </a:r>
          </a:p>
        </p:txBody>
      </p:sp>
      <p:sp>
        <p:nvSpPr>
          <p:cNvPr id="4100" name="Slide Number Placeholder 3"/>
          <p:cNvSpPr>
            <a:spLocks noGrp="1"/>
          </p:cNvSpPr>
          <p:nvPr>
            <p:ph type="sldNum" sz="quarter" idx="4294967295"/>
          </p:nvPr>
        </p:nvSpPr>
        <p:spPr>
          <a:xfrm>
            <a:off x="8534400" y="6629400"/>
            <a:ext cx="533400" cy="152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D5FF5CCB-9992-4648-83E1-5C9A9A9B375E}" type="slidenum">
              <a:rPr lang="de-DE" altLang="en-US">
                <a:solidFill>
                  <a:schemeClr val="bg2"/>
                </a:solidFill>
                <a:latin typeface="Times New Roman" pitchFamily="18" charset="0"/>
              </a:rPr>
              <a:pPr/>
              <a:t>2</a:t>
            </a:fld>
            <a:endParaRPr lang="de-DE" altLang="en-US">
              <a:solidFill>
                <a:schemeClr val="bg2"/>
              </a:solidFill>
              <a:latin typeface="Times New Roman" pitchFamily="18" charset="0"/>
            </a:endParaRPr>
          </a:p>
        </p:txBody>
      </p:sp>
    </p:spTree>
    <p:extLst>
      <p:ext uri="{BB962C8B-B14F-4D97-AF65-F5344CB8AC3E}">
        <p14:creationId xmlns:p14="http://schemas.microsoft.com/office/powerpoint/2010/main" val="2874693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endParaRPr lang="en-GB" dirty="0"/>
          </a:p>
        </p:txBody>
      </p:sp>
      <p:sp>
        <p:nvSpPr>
          <p:cNvPr id="3" name="Content Placeholder 2"/>
          <p:cNvSpPr>
            <a:spLocks noGrp="1"/>
          </p:cNvSpPr>
          <p:nvPr>
            <p:ph idx="1"/>
          </p:nvPr>
        </p:nvSpPr>
        <p:spPr/>
        <p:txBody>
          <a:bodyPr/>
          <a:lstStyle/>
          <a:p>
            <a:pPr lvl="1"/>
            <a:r>
              <a:rPr lang="en-US" dirty="0">
                <a:latin typeface="Times" pitchFamily="18" charset="0"/>
                <a:cs typeface="Times" pitchFamily="18" charset="0"/>
              </a:rPr>
              <a:t>Discuss the different shape of a network with their respective cons and </a:t>
            </a:r>
            <a:r>
              <a:rPr lang="en-US" dirty="0" err="1">
                <a:latin typeface="Times" pitchFamily="18" charset="0"/>
                <a:cs typeface="Times" pitchFamily="18" charset="0"/>
              </a:rPr>
              <a:t>prons</a:t>
            </a:r>
            <a:r>
              <a:rPr lang="en-US" dirty="0">
                <a:latin typeface="Times" pitchFamily="18" charset="0"/>
                <a:cs typeface="Times" pitchFamily="18" charset="0"/>
              </a:rPr>
              <a:t>.</a:t>
            </a:r>
          </a:p>
          <a:p>
            <a:pPr lvl="1"/>
            <a:r>
              <a:rPr lang="en-US" dirty="0">
                <a:latin typeface="Times" pitchFamily="18" charset="0"/>
                <a:cs typeface="Times" pitchFamily="18" charset="0"/>
              </a:rPr>
              <a:t>Describe the use of Network protocol and their significance</a:t>
            </a:r>
          </a:p>
          <a:p>
            <a:pPr lvl="1"/>
            <a:r>
              <a:rPr lang="en-US" dirty="0">
                <a:latin typeface="Times" pitchFamily="18" charset="0"/>
                <a:cs typeface="Times" pitchFamily="18" charset="0"/>
              </a:rPr>
              <a:t>Know the  Network reference model both OSI as well as TCP/IP models</a:t>
            </a:r>
            <a:endParaRPr lang="en-GB" dirty="0">
              <a:latin typeface="Times" pitchFamily="18" charset="0"/>
              <a:cs typeface="Times" pitchFamily="18" charset="0"/>
            </a:endParaRPr>
          </a:p>
          <a:p>
            <a:endParaRPr lang="en-GB" dirty="0"/>
          </a:p>
        </p:txBody>
      </p:sp>
      <p:sp>
        <p:nvSpPr>
          <p:cNvPr id="4" name="Slide Number Placeholder 3"/>
          <p:cNvSpPr>
            <a:spLocks noGrp="1"/>
          </p:cNvSpPr>
          <p:nvPr>
            <p:ph type="sldNum" sz="quarter" idx="12"/>
          </p:nvPr>
        </p:nvSpPr>
        <p:spPr/>
        <p:txBody>
          <a:bodyPr/>
          <a:lstStyle/>
          <a:p>
            <a:pPr lvl="0" eaLnBrk="1" hangingPunct="1"/>
            <a:r>
              <a:rPr lang="en-GB"/>
              <a:t>1.</a:t>
            </a:r>
            <a:fld id="{9A0DB2DC-4C9A-4742-B13C-FB6460FD3503}" type="slidenum">
              <a:rPr lang="en-GB" sz="2000" b="1" smtClean="0">
                <a:latin typeface="Arial" panose="02080604020202020204" pitchFamily="34" charset="0"/>
              </a:rPr>
              <a:t>3</a:t>
            </a:fld>
            <a:endParaRPr lang="en-GB" sz="2000" b="1">
              <a:latin typeface="Arial" panose="02080604020202020204" pitchFamily="34" charset="0"/>
            </a:endParaRPr>
          </a:p>
        </p:txBody>
      </p:sp>
    </p:spTree>
    <p:extLst>
      <p:ext uri="{BB962C8B-B14F-4D97-AF65-F5344CB8AC3E}">
        <p14:creationId xmlns:p14="http://schemas.microsoft.com/office/powerpoint/2010/main" val="1478607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4294967295"/>
          </p:nvPr>
        </p:nvSpPr>
        <p:spPr>
          <a:xfrm>
            <a:off x="8534400" y="6629400"/>
            <a:ext cx="533400" cy="152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39A2A51-D988-42C3-B2E5-C33A2747581A}" type="slidenum">
              <a:rPr lang="de-DE" altLang="en-US">
                <a:solidFill>
                  <a:schemeClr val="bg2"/>
                </a:solidFill>
                <a:latin typeface="Times New Roman" pitchFamily="18" charset="0"/>
              </a:rPr>
              <a:pPr/>
              <a:t>4</a:t>
            </a:fld>
            <a:endParaRPr lang="de-DE" altLang="en-US">
              <a:solidFill>
                <a:schemeClr val="bg2"/>
              </a:solidFill>
              <a:latin typeface="Times New Roman" pitchFamily="18" charset="0"/>
            </a:endParaRPr>
          </a:p>
        </p:txBody>
      </p:sp>
      <p:sp>
        <p:nvSpPr>
          <p:cNvPr id="5123" name="Rectangle 2"/>
          <p:cNvSpPr>
            <a:spLocks noGrp="1" noChangeArrowheads="1"/>
          </p:cNvSpPr>
          <p:nvPr>
            <p:ph type="title"/>
          </p:nvPr>
        </p:nvSpPr>
        <p:spPr/>
        <p:txBody>
          <a:bodyPr/>
          <a:lstStyle/>
          <a:p>
            <a:pPr eaLnBrk="1" hangingPunct="1"/>
            <a:r>
              <a:rPr lang="en-US" altLang="en-US" dirty="0"/>
              <a:t>Introduction</a:t>
            </a:r>
          </a:p>
        </p:txBody>
      </p:sp>
      <p:sp>
        <p:nvSpPr>
          <p:cNvPr id="5124" name="Rectangle 5"/>
          <p:cNvSpPr>
            <a:spLocks noChangeArrowheads="1"/>
          </p:cNvSpPr>
          <p:nvPr/>
        </p:nvSpPr>
        <p:spPr bwMode="auto">
          <a:xfrm>
            <a:off x="0" y="1718734"/>
            <a:ext cx="88392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35013" lvl="1" indent="-390525" eaLnBrk="1" hangingPunct="1">
              <a:spcBef>
                <a:spcPct val="20000"/>
              </a:spcBef>
              <a:buClr>
                <a:schemeClr val="folHlink"/>
              </a:buClr>
              <a:buSzPct val="120000"/>
              <a:buFont typeface="Wingdings" pitchFamily="2" charset="2"/>
              <a:buChar char="§"/>
            </a:pPr>
            <a:r>
              <a:rPr lang="en-US" altLang="en-US" sz="2300" dirty="0">
                <a:latin typeface="+mn-lt"/>
              </a:rPr>
              <a:t>Old paradigm:</a:t>
            </a:r>
            <a:r>
              <a:rPr lang="en-US" altLang="en-US" sz="2300" b="0" dirty="0">
                <a:latin typeface="+mn-lt"/>
              </a:rPr>
              <a:t> a single powerful computer serving all the needs of an organization</a:t>
            </a:r>
          </a:p>
          <a:p>
            <a:pPr marL="735013" lvl="1" indent="-390525" eaLnBrk="1" hangingPunct="1">
              <a:spcBef>
                <a:spcPct val="20000"/>
              </a:spcBef>
              <a:buClr>
                <a:schemeClr val="folHlink"/>
              </a:buClr>
              <a:buSzPct val="120000"/>
              <a:buFont typeface="Wingdings" pitchFamily="2" charset="2"/>
              <a:buChar char="§"/>
            </a:pPr>
            <a:r>
              <a:rPr lang="en-US" altLang="en-US" sz="2300" dirty="0">
                <a:latin typeface="+mn-lt"/>
              </a:rPr>
              <a:t>New paradigm† </a:t>
            </a:r>
            <a:r>
              <a:rPr lang="en-US" altLang="en-US" sz="2300" b="0" dirty="0">
                <a:latin typeface="+mn-lt"/>
              </a:rPr>
              <a:t>- Computer networks: a large number of separate (autonomous) but internetworked (being able to exchange information) computers doing the job</a:t>
            </a:r>
          </a:p>
          <a:p>
            <a:pPr marL="1257300" lvl="2" indent="-520700" eaLnBrk="1" hangingPunct="1">
              <a:spcBef>
                <a:spcPct val="20000"/>
              </a:spcBef>
              <a:buClr>
                <a:schemeClr val="folHlink"/>
              </a:buClr>
              <a:buSzPct val="120000"/>
              <a:buFont typeface="Wingdings" pitchFamily="2" charset="2"/>
              <a:buChar char="§"/>
            </a:pPr>
            <a:r>
              <a:rPr lang="en-US" altLang="en-US" sz="2300" b="0" dirty="0">
                <a:latin typeface="+mn-lt"/>
              </a:rPr>
              <a:t>Merging of computer and communications technologies – no geographical barrier</a:t>
            </a:r>
          </a:p>
          <a:p>
            <a:pPr marL="1257300" lvl="2" indent="-520700" eaLnBrk="1" hangingPunct="1">
              <a:spcBef>
                <a:spcPct val="20000"/>
              </a:spcBef>
              <a:buClr>
                <a:schemeClr val="folHlink"/>
              </a:buClr>
              <a:buSzPct val="120000"/>
              <a:buFont typeface="Wingdings" pitchFamily="2" charset="2"/>
              <a:buChar char="§"/>
            </a:pPr>
            <a:r>
              <a:rPr lang="en-US" altLang="en-US" sz="2300" b="0" dirty="0">
                <a:latin typeface="+mn-lt"/>
              </a:rPr>
              <a:t>Connection: copper wire, fiber optics, microwaves, infrared, communication satellites, …</a:t>
            </a:r>
            <a:endParaRPr lang="fr-FR" altLang="en-US" sz="2300" b="0" dirty="0">
              <a:latin typeface="+mn-lt"/>
            </a:endParaRPr>
          </a:p>
        </p:txBody>
      </p:sp>
      <p:sp>
        <p:nvSpPr>
          <p:cNvPr id="5125" name="Rectangle 6"/>
          <p:cNvSpPr>
            <a:spLocks noChangeArrowheads="1"/>
          </p:cNvSpPr>
          <p:nvPr/>
        </p:nvSpPr>
        <p:spPr bwMode="auto">
          <a:xfrm>
            <a:off x="304800" y="5638800"/>
            <a:ext cx="8686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spcBef>
                <a:spcPct val="20000"/>
              </a:spcBef>
              <a:buClr>
                <a:schemeClr val="tx1"/>
              </a:buClr>
              <a:buSzPct val="75000"/>
              <a:buFont typeface="Arial Unicode MS" pitchFamily="34" charset="-128"/>
              <a:buChar char="†"/>
            </a:pPr>
            <a:r>
              <a:rPr lang="en-US" altLang="en-US" sz="2300" b="0" dirty="0">
                <a:solidFill>
                  <a:srgbClr val="FF0000"/>
                </a:solidFill>
                <a:latin typeface="+mn-lt"/>
              </a:rPr>
              <a:t>Plus new applications: distributed processing (grid and cluster computing, pervasive computing, …), WWW, …</a:t>
            </a:r>
          </a:p>
        </p:txBody>
      </p:sp>
      <p:sp>
        <p:nvSpPr>
          <p:cNvPr id="5126" name="Line 7"/>
          <p:cNvSpPr>
            <a:spLocks noChangeShapeType="1"/>
          </p:cNvSpPr>
          <p:nvPr/>
        </p:nvSpPr>
        <p:spPr bwMode="auto">
          <a:xfrm>
            <a:off x="0" y="5562600"/>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3414461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pPr eaLnBrk="1" hangingPunct="1">
              <a:defRPr/>
            </a:pPr>
            <a:r>
              <a:rPr lang="en-US"/>
              <a:t>Introduction</a:t>
            </a:r>
          </a:p>
        </p:txBody>
      </p:sp>
      <p:sp>
        <p:nvSpPr>
          <p:cNvPr id="9219" name="Rectangle 1027"/>
          <p:cNvSpPr>
            <a:spLocks noGrp="1" noChangeArrowheads="1"/>
          </p:cNvSpPr>
          <p:nvPr>
            <p:ph type="body" idx="1"/>
          </p:nvPr>
        </p:nvSpPr>
        <p:spPr/>
        <p:txBody>
          <a:bodyPr/>
          <a:lstStyle/>
          <a:p>
            <a:pPr marL="609600" indent="-609600" eaLnBrk="1" hangingPunct="1">
              <a:lnSpc>
                <a:spcPct val="90000"/>
              </a:lnSpc>
              <a:buClr>
                <a:schemeClr val="tx2"/>
              </a:buClr>
              <a:buSzPct val="60000"/>
            </a:pPr>
            <a:r>
              <a:rPr lang="en-US" sz="2800" dirty="0"/>
              <a:t>Data communications and networking</a:t>
            </a:r>
          </a:p>
          <a:p>
            <a:pPr marL="990600" lvl="1" indent="-533400" eaLnBrk="1" hangingPunct="1">
              <a:lnSpc>
                <a:spcPct val="90000"/>
              </a:lnSpc>
              <a:buClr>
                <a:schemeClr val="tx2"/>
              </a:buClr>
              <a:buSzPct val="60000"/>
            </a:pPr>
            <a:r>
              <a:rPr lang="en-US" sz="2300" dirty="0"/>
              <a:t>Change the way we do business and the way we live</a:t>
            </a:r>
          </a:p>
          <a:p>
            <a:pPr marL="990600" lvl="1" indent="-533400" eaLnBrk="1" hangingPunct="1">
              <a:lnSpc>
                <a:spcPct val="90000"/>
              </a:lnSpc>
              <a:buClr>
                <a:schemeClr val="tx2"/>
              </a:buClr>
              <a:buSzPct val="60000"/>
            </a:pPr>
            <a:r>
              <a:rPr lang="en-US" sz="2300" dirty="0"/>
              <a:t>Business decisions have to be made more quickly</a:t>
            </a:r>
          </a:p>
          <a:p>
            <a:pPr marL="990600" lvl="1" indent="-533400" eaLnBrk="1" hangingPunct="1">
              <a:lnSpc>
                <a:spcPct val="90000"/>
              </a:lnSpc>
              <a:buClr>
                <a:schemeClr val="tx2"/>
              </a:buClr>
              <a:buSzPct val="60000"/>
            </a:pPr>
            <a:r>
              <a:rPr lang="en-US" sz="2300" dirty="0"/>
              <a:t>Decision depends on immediate access to accurate information</a:t>
            </a:r>
          </a:p>
          <a:p>
            <a:pPr marL="990600" lvl="1" indent="-533400" eaLnBrk="1" hangingPunct="1">
              <a:lnSpc>
                <a:spcPct val="90000"/>
              </a:lnSpc>
              <a:buClr>
                <a:schemeClr val="tx2"/>
              </a:buClr>
              <a:buSzPct val="60000"/>
            </a:pPr>
            <a:r>
              <a:rPr lang="en-US" sz="2300" dirty="0"/>
              <a:t>Business today rely on computer networks and internetworks</a:t>
            </a:r>
          </a:p>
          <a:p>
            <a:pPr marL="990600" lvl="1" indent="-533400" eaLnBrk="1" hangingPunct="1">
              <a:lnSpc>
                <a:spcPct val="90000"/>
              </a:lnSpc>
              <a:buClr>
                <a:schemeClr val="tx2"/>
              </a:buClr>
              <a:buSzPct val="60000"/>
            </a:pPr>
            <a:endParaRPr lang="en-US" sz="2300" dirty="0"/>
          </a:p>
          <a:p>
            <a:pPr marL="990600" lvl="1" indent="-533400" eaLnBrk="1" hangingPunct="1">
              <a:lnSpc>
                <a:spcPct val="90000"/>
              </a:lnSpc>
              <a:buClr>
                <a:schemeClr val="tx2"/>
              </a:buClr>
              <a:buSzPct val="60000"/>
            </a:pPr>
            <a:r>
              <a:rPr lang="en-US" sz="2300" dirty="0"/>
              <a:t>Before get hooked up, we need to know:</a:t>
            </a:r>
          </a:p>
          <a:p>
            <a:pPr marL="1371600" lvl="2" indent="-457200" eaLnBrk="1" hangingPunct="1">
              <a:lnSpc>
                <a:spcPct val="90000"/>
              </a:lnSpc>
              <a:buClr>
                <a:schemeClr val="tx2"/>
              </a:buClr>
            </a:pPr>
            <a:r>
              <a:rPr lang="en-US" sz="2100" dirty="0"/>
              <a:t>How networks operate</a:t>
            </a:r>
          </a:p>
          <a:p>
            <a:pPr marL="1371600" lvl="2" indent="-457200" eaLnBrk="1" hangingPunct="1">
              <a:lnSpc>
                <a:spcPct val="90000"/>
              </a:lnSpc>
              <a:buClr>
                <a:schemeClr val="tx2"/>
              </a:buClr>
            </a:pPr>
            <a:r>
              <a:rPr lang="en-US" sz="2100" dirty="0"/>
              <a:t>What types of technologies are available</a:t>
            </a:r>
          </a:p>
          <a:p>
            <a:pPr marL="1371600" lvl="2" indent="-457200" eaLnBrk="1" hangingPunct="1">
              <a:lnSpc>
                <a:spcPct val="90000"/>
              </a:lnSpc>
              <a:buClr>
                <a:schemeClr val="tx2"/>
              </a:buClr>
            </a:pPr>
            <a:r>
              <a:rPr lang="en-US" sz="2100" dirty="0"/>
              <a:t>Which design best fills which set of needs</a:t>
            </a:r>
          </a:p>
        </p:txBody>
      </p:sp>
    </p:spTree>
    <p:extLst>
      <p:ext uri="{BB962C8B-B14F-4D97-AF65-F5344CB8AC3E}">
        <p14:creationId xmlns:p14="http://schemas.microsoft.com/office/powerpoint/2010/main" val="285537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n-US"/>
              <a:t>Introduction</a:t>
            </a:r>
          </a:p>
        </p:txBody>
      </p:sp>
      <p:sp>
        <p:nvSpPr>
          <p:cNvPr id="10243" name="Rectangle 3"/>
          <p:cNvSpPr>
            <a:spLocks noGrp="1" noChangeArrowheads="1"/>
          </p:cNvSpPr>
          <p:nvPr>
            <p:ph type="body" idx="1"/>
          </p:nvPr>
        </p:nvSpPr>
        <p:spPr/>
        <p:txBody>
          <a:bodyPr/>
          <a:lstStyle/>
          <a:p>
            <a:pPr lvl="1" eaLnBrk="1" hangingPunct="1">
              <a:buClr>
                <a:schemeClr val="tx2"/>
              </a:buClr>
              <a:buSzPct val="60000"/>
            </a:pPr>
            <a:r>
              <a:rPr lang="en-US" sz="2300" dirty="0"/>
              <a:t>Development of the PC changes a lot in business, industry, science and education.</a:t>
            </a:r>
          </a:p>
          <a:p>
            <a:pPr lvl="1" eaLnBrk="1" hangingPunct="1">
              <a:buClr>
                <a:schemeClr val="tx2"/>
              </a:buClr>
              <a:buSzPct val="60000"/>
            </a:pPr>
            <a:r>
              <a:rPr lang="en-US" sz="2300" dirty="0"/>
              <a:t>Similar revolution is occurring in data communication and networking</a:t>
            </a:r>
          </a:p>
          <a:p>
            <a:pPr lvl="2" eaLnBrk="1" hangingPunct="1">
              <a:buClr>
                <a:schemeClr val="tx2"/>
              </a:buClr>
            </a:pPr>
            <a:r>
              <a:rPr lang="en-US" sz="2100" dirty="0"/>
              <a:t>Technologies advances are making it possible for communications links to carry more and faster signals</a:t>
            </a:r>
          </a:p>
          <a:p>
            <a:pPr lvl="2" eaLnBrk="1" hangingPunct="1">
              <a:buClr>
                <a:schemeClr val="tx2"/>
              </a:buClr>
            </a:pPr>
            <a:r>
              <a:rPr lang="en-US" sz="2100" dirty="0"/>
              <a:t>Services are evolving to allow the use of this expanded capacity</a:t>
            </a:r>
          </a:p>
          <a:p>
            <a:pPr lvl="2" eaLnBrk="1" hangingPunct="1">
              <a:buClr>
                <a:schemeClr val="tx2"/>
              </a:buClr>
            </a:pPr>
            <a:r>
              <a:rPr lang="en-US" sz="2100" dirty="0"/>
              <a:t>For example telephone services extended to have:</a:t>
            </a:r>
          </a:p>
          <a:p>
            <a:pPr lvl="3" eaLnBrk="1" hangingPunct="1">
              <a:buClr>
                <a:schemeClr val="tx2"/>
              </a:buClr>
              <a:buSzPct val="60000"/>
            </a:pPr>
            <a:r>
              <a:rPr lang="en-US" sz="1800" dirty="0"/>
              <a:t>Conference calling</a:t>
            </a:r>
          </a:p>
          <a:p>
            <a:pPr lvl="3" eaLnBrk="1" hangingPunct="1">
              <a:buClr>
                <a:schemeClr val="tx2"/>
              </a:buClr>
              <a:buSzPct val="60000"/>
            </a:pPr>
            <a:r>
              <a:rPr lang="en-US" sz="1800" dirty="0"/>
              <a:t>Call waiting</a:t>
            </a:r>
          </a:p>
          <a:p>
            <a:pPr lvl="3" eaLnBrk="1" hangingPunct="1">
              <a:buClr>
                <a:schemeClr val="tx2"/>
              </a:buClr>
              <a:buSzPct val="60000"/>
            </a:pPr>
            <a:r>
              <a:rPr lang="en-US" sz="1800" dirty="0"/>
              <a:t>Voice mail</a:t>
            </a:r>
          </a:p>
          <a:p>
            <a:pPr lvl="3" eaLnBrk="1" hangingPunct="1">
              <a:buClr>
                <a:schemeClr val="tx2"/>
              </a:buClr>
              <a:buSzPct val="60000"/>
            </a:pPr>
            <a:r>
              <a:rPr lang="en-US" sz="1800" dirty="0"/>
              <a:t>Caller ID</a:t>
            </a:r>
            <a:endParaRPr lang="en-US" dirty="0"/>
          </a:p>
        </p:txBody>
      </p:sp>
    </p:spTree>
    <p:extLst>
      <p:ext uri="{BB962C8B-B14F-4D97-AF65-F5344CB8AC3E}">
        <p14:creationId xmlns:p14="http://schemas.microsoft.com/office/powerpoint/2010/main" val="2040221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en-US"/>
              <a:t>1.1 Data Communications</a:t>
            </a:r>
          </a:p>
        </p:txBody>
      </p:sp>
      <p:sp>
        <p:nvSpPr>
          <p:cNvPr id="11267" name="Rectangle 3"/>
          <p:cNvSpPr>
            <a:spLocks noGrp="1" noChangeArrowheads="1"/>
          </p:cNvSpPr>
          <p:nvPr>
            <p:ph type="body" idx="1"/>
          </p:nvPr>
        </p:nvSpPr>
        <p:spPr>
          <a:xfrm>
            <a:off x="381000" y="1981200"/>
            <a:ext cx="8077200" cy="4114800"/>
          </a:xfrm>
        </p:spPr>
        <p:txBody>
          <a:bodyPr/>
          <a:lstStyle/>
          <a:p>
            <a:pPr marL="990600" lvl="1" indent="-533400" eaLnBrk="1" hangingPunct="1">
              <a:buFont typeface="Wingdings" pitchFamily="2" charset="2"/>
              <a:buNone/>
            </a:pPr>
            <a:r>
              <a:rPr lang="en-US"/>
              <a:t>Communication:</a:t>
            </a:r>
          </a:p>
          <a:p>
            <a:pPr marL="1371600" lvl="2" indent="-457200" eaLnBrk="1" hangingPunct="1">
              <a:buClr>
                <a:schemeClr val="tx2"/>
              </a:buClr>
            </a:pPr>
            <a:r>
              <a:rPr lang="en-US"/>
              <a:t>Means </a:t>
            </a:r>
            <a:r>
              <a:rPr lang="en-US">
                <a:solidFill>
                  <a:srgbClr val="3333FF"/>
                </a:solidFill>
              </a:rPr>
              <a:t>sharing information</a:t>
            </a:r>
          </a:p>
          <a:p>
            <a:pPr marL="1752600" lvl="3" indent="-381000" eaLnBrk="1" hangingPunct="1">
              <a:buClr>
                <a:schemeClr val="tx2"/>
              </a:buClr>
            </a:pPr>
            <a:r>
              <a:rPr lang="en-US"/>
              <a:t>Local (face to face)  or remote (over distance)</a:t>
            </a:r>
          </a:p>
          <a:p>
            <a:pPr marL="1371600" lvl="2" indent="-457200" eaLnBrk="1" hangingPunct="1">
              <a:buClr>
                <a:schemeClr val="tx2"/>
              </a:buClr>
            </a:pPr>
            <a:r>
              <a:rPr lang="en-US"/>
              <a:t>Telecommunication </a:t>
            </a:r>
          </a:p>
          <a:p>
            <a:pPr marL="1752600" lvl="3" indent="-381000" eaLnBrk="1" hangingPunct="1"/>
            <a:r>
              <a:rPr lang="en-US"/>
              <a:t>Telephone, telegraph and television</a:t>
            </a:r>
          </a:p>
          <a:p>
            <a:pPr marL="1752600" lvl="3" indent="-381000" eaLnBrk="1" hangingPunct="1"/>
            <a:r>
              <a:rPr lang="en-US"/>
              <a:t>Means communication at a distance</a:t>
            </a:r>
          </a:p>
          <a:p>
            <a:pPr marL="1752600" lvl="3" indent="-381000" eaLnBrk="1" hangingPunct="1"/>
            <a:r>
              <a:rPr lang="en-US"/>
              <a:t>Tele is Greek for far</a:t>
            </a:r>
          </a:p>
          <a:p>
            <a:pPr marL="1371600" lvl="2" indent="-457200" eaLnBrk="1" hangingPunct="1"/>
            <a:endParaRPr lang="en-US"/>
          </a:p>
          <a:p>
            <a:pPr marL="990600" lvl="1" indent="-533400" eaLnBrk="1" hangingPunct="1">
              <a:buFont typeface="Wingdings" pitchFamily="2" charset="2"/>
              <a:buNone/>
            </a:pPr>
            <a:endParaRPr lang="en-US"/>
          </a:p>
        </p:txBody>
      </p:sp>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841875"/>
            <a:ext cx="3048000"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3148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en-US"/>
              <a:t>Data Communications</a:t>
            </a:r>
          </a:p>
        </p:txBody>
      </p:sp>
      <p:sp>
        <p:nvSpPr>
          <p:cNvPr id="12291" name="Rectangle 3"/>
          <p:cNvSpPr>
            <a:spLocks noGrp="1" noChangeArrowheads="1"/>
          </p:cNvSpPr>
          <p:nvPr>
            <p:ph type="body" idx="1"/>
          </p:nvPr>
        </p:nvSpPr>
        <p:spPr>
          <a:xfrm>
            <a:off x="381000" y="1981200"/>
            <a:ext cx="8077200" cy="4114800"/>
          </a:xfrm>
        </p:spPr>
        <p:txBody>
          <a:bodyPr/>
          <a:lstStyle/>
          <a:p>
            <a:pPr marL="990600" lvl="1" indent="-533400" eaLnBrk="1" hangingPunct="1">
              <a:buClr>
                <a:schemeClr val="tx2"/>
              </a:buClr>
              <a:buSzPct val="60000"/>
              <a:buFont typeface="Wingdings" pitchFamily="2" charset="2"/>
              <a:buNone/>
            </a:pPr>
            <a:r>
              <a:rPr lang="en-US">
                <a:solidFill>
                  <a:srgbClr val="3333FF"/>
                </a:solidFill>
              </a:rPr>
              <a:t>Data</a:t>
            </a:r>
            <a:r>
              <a:rPr lang="en-US"/>
              <a:t>:</a:t>
            </a:r>
          </a:p>
          <a:p>
            <a:pPr marL="1371600" lvl="2" indent="-457200" eaLnBrk="1" hangingPunct="1">
              <a:buClr>
                <a:schemeClr val="tx2"/>
              </a:buClr>
            </a:pPr>
            <a:r>
              <a:rPr lang="en-US"/>
              <a:t>Refers to </a:t>
            </a:r>
            <a:r>
              <a:rPr lang="en-US">
                <a:solidFill>
                  <a:srgbClr val="3333FF"/>
                </a:solidFill>
              </a:rPr>
              <a:t>information</a:t>
            </a:r>
          </a:p>
          <a:p>
            <a:pPr marL="1752600" lvl="3" indent="-381000" eaLnBrk="1" hangingPunct="1">
              <a:buClr>
                <a:schemeClr val="tx2"/>
              </a:buClr>
            </a:pPr>
            <a:r>
              <a:rPr lang="en-US"/>
              <a:t>Presented in any form </a:t>
            </a:r>
          </a:p>
          <a:p>
            <a:pPr marL="1752600" lvl="3" indent="-381000" eaLnBrk="1" hangingPunct="1">
              <a:buClr>
                <a:schemeClr val="tx2"/>
              </a:buClr>
            </a:pPr>
            <a:r>
              <a:rPr lang="en-US"/>
              <a:t>Agreed upon by the parties ( creating &amp; using)</a:t>
            </a:r>
          </a:p>
          <a:p>
            <a:pPr marL="1371600" lvl="2" indent="-457200" eaLnBrk="1" hangingPunct="1">
              <a:buClr>
                <a:schemeClr val="tx2"/>
              </a:buClr>
            </a:pPr>
            <a:endParaRPr lang="en-US"/>
          </a:p>
          <a:p>
            <a:pPr marL="990600" lvl="1" indent="-533400" eaLnBrk="1" hangingPunct="1">
              <a:buClr>
                <a:schemeClr val="tx2"/>
              </a:buClr>
              <a:buSzPct val="60000"/>
              <a:buFont typeface="Wingdings" pitchFamily="2" charset="2"/>
              <a:buNone/>
            </a:pPr>
            <a:r>
              <a:rPr lang="en-US">
                <a:solidFill>
                  <a:srgbClr val="3333FF"/>
                </a:solidFill>
              </a:rPr>
              <a:t>Data communication</a:t>
            </a:r>
            <a:r>
              <a:rPr lang="en-US"/>
              <a:t> : is the exchange of data between two devices via some form of transmission medium (wire cable). </a:t>
            </a:r>
          </a:p>
        </p:txBody>
      </p:sp>
    </p:spTree>
    <p:extLst>
      <p:ext uri="{BB962C8B-B14F-4D97-AF65-F5344CB8AC3E}">
        <p14:creationId xmlns:p14="http://schemas.microsoft.com/office/powerpoint/2010/main" val="3906771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defRPr/>
            </a:pPr>
            <a:r>
              <a:rPr lang="en-US"/>
              <a:t>Data Communications</a:t>
            </a:r>
          </a:p>
        </p:txBody>
      </p:sp>
      <p:sp>
        <p:nvSpPr>
          <p:cNvPr id="13315" name="Rectangle 3"/>
          <p:cNvSpPr>
            <a:spLocks noGrp="1" noChangeArrowheads="1"/>
          </p:cNvSpPr>
          <p:nvPr>
            <p:ph type="body" idx="1"/>
          </p:nvPr>
        </p:nvSpPr>
        <p:spPr>
          <a:xfrm>
            <a:off x="381000" y="1981200"/>
            <a:ext cx="8382000" cy="4114800"/>
          </a:xfrm>
        </p:spPr>
        <p:txBody>
          <a:bodyPr/>
          <a:lstStyle/>
          <a:p>
            <a:pPr marL="990600" lvl="1" indent="-533400" eaLnBrk="1" hangingPunct="1"/>
            <a:r>
              <a:rPr lang="en-US" sz="2300">
                <a:solidFill>
                  <a:srgbClr val="CC0000"/>
                </a:solidFill>
              </a:rPr>
              <a:t>Communication system</a:t>
            </a:r>
            <a:r>
              <a:rPr lang="en-US" sz="2300"/>
              <a:t> made up of a combination of </a:t>
            </a:r>
            <a:r>
              <a:rPr lang="en-US" sz="2300">
                <a:solidFill>
                  <a:srgbClr val="3333FF"/>
                </a:solidFill>
              </a:rPr>
              <a:t>hardware</a:t>
            </a:r>
            <a:r>
              <a:rPr lang="en-US" sz="2300"/>
              <a:t> and </a:t>
            </a:r>
            <a:r>
              <a:rPr lang="en-US" sz="2300">
                <a:solidFill>
                  <a:srgbClr val="3333FF"/>
                </a:solidFill>
              </a:rPr>
              <a:t>software</a:t>
            </a:r>
            <a:endParaRPr lang="en-US" sz="2300"/>
          </a:p>
          <a:p>
            <a:pPr marL="990600" lvl="1" indent="-533400" eaLnBrk="1" hangingPunct="1"/>
            <a:r>
              <a:rPr lang="en-US" sz="2300"/>
              <a:t>Effectiveness of data communication  system depends on:</a:t>
            </a:r>
          </a:p>
          <a:p>
            <a:pPr marL="1371600" lvl="2" indent="-457200" eaLnBrk="1" hangingPunct="1">
              <a:buFont typeface="Wingdings" pitchFamily="2" charset="2"/>
              <a:buAutoNum type="arabicPeriod"/>
            </a:pPr>
            <a:r>
              <a:rPr lang="en-US" sz="2100">
                <a:solidFill>
                  <a:srgbClr val="CC0000"/>
                </a:solidFill>
              </a:rPr>
              <a:t>Delivery</a:t>
            </a:r>
            <a:r>
              <a:rPr lang="en-US" sz="2100"/>
              <a:t> : The system must deliver data to correct destination. Data received by the indented user only</a:t>
            </a:r>
          </a:p>
          <a:p>
            <a:pPr marL="1371600" lvl="2" indent="-457200" eaLnBrk="1" hangingPunct="1">
              <a:buFont typeface="Wingdings" pitchFamily="2" charset="2"/>
              <a:buAutoNum type="arabicPeriod"/>
            </a:pPr>
            <a:r>
              <a:rPr lang="en-US" sz="2100">
                <a:solidFill>
                  <a:srgbClr val="CC0000"/>
                </a:solidFill>
              </a:rPr>
              <a:t>Accuracy</a:t>
            </a:r>
            <a:r>
              <a:rPr lang="en-US" sz="2100"/>
              <a:t>: The system must deliver data accurately (no change).</a:t>
            </a:r>
          </a:p>
          <a:p>
            <a:pPr marL="1752600" lvl="3" indent="-381000" eaLnBrk="1" hangingPunct="1"/>
            <a:r>
              <a:rPr lang="en-US" sz="1800"/>
              <a:t> Data changed &amp; uncorrected is unusable</a:t>
            </a:r>
          </a:p>
        </p:txBody>
      </p:sp>
    </p:spTree>
    <p:extLst>
      <p:ext uri="{BB962C8B-B14F-4D97-AF65-F5344CB8AC3E}">
        <p14:creationId xmlns:p14="http://schemas.microsoft.com/office/powerpoint/2010/main" val="3693665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defRPr/>
            </a:pPr>
            <a:r>
              <a:rPr lang="en-US"/>
              <a:t>Data Communications</a:t>
            </a:r>
          </a:p>
        </p:txBody>
      </p:sp>
      <p:sp>
        <p:nvSpPr>
          <p:cNvPr id="14339" name="Rectangle 3"/>
          <p:cNvSpPr>
            <a:spLocks noGrp="1" noChangeArrowheads="1"/>
          </p:cNvSpPr>
          <p:nvPr>
            <p:ph type="body" idx="1"/>
          </p:nvPr>
        </p:nvSpPr>
        <p:spPr>
          <a:xfrm>
            <a:off x="381000" y="1981200"/>
            <a:ext cx="8382000" cy="4114800"/>
          </a:xfrm>
        </p:spPr>
        <p:txBody>
          <a:bodyPr/>
          <a:lstStyle/>
          <a:p>
            <a:pPr marL="1371600" lvl="2" indent="-457200" eaLnBrk="1" hangingPunct="1">
              <a:buFont typeface="Wingdings" pitchFamily="2" charset="2"/>
              <a:buAutoNum type="arabicPeriod" startAt="3"/>
            </a:pPr>
            <a:r>
              <a:rPr lang="en-US" sz="2100">
                <a:solidFill>
                  <a:srgbClr val="CC0000"/>
                </a:solidFill>
              </a:rPr>
              <a:t>Timeliness</a:t>
            </a:r>
            <a:r>
              <a:rPr lang="en-US" sz="2100"/>
              <a:t>: The system must deliver data in timely manner</a:t>
            </a:r>
          </a:p>
          <a:p>
            <a:pPr marL="1752600" lvl="3" indent="-381000" eaLnBrk="1" hangingPunct="1"/>
            <a:r>
              <a:rPr lang="en-US" sz="1800"/>
              <a:t>Data arrived late are useless</a:t>
            </a:r>
          </a:p>
          <a:p>
            <a:pPr marL="1752600" lvl="3" indent="-381000" eaLnBrk="1" hangingPunct="1"/>
            <a:r>
              <a:rPr lang="en-US" sz="1800"/>
              <a:t>In the same order (video and audio) &amp; without delay (Real time transmission)</a:t>
            </a:r>
          </a:p>
          <a:p>
            <a:pPr marL="1371600" lvl="2" indent="-457200" eaLnBrk="1" hangingPunct="1">
              <a:buFont typeface="Wingdings" pitchFamily="2" charset="2"/>
              <a:buAutoNum type="arabicPeriod" startAt="4"/>
            </a:pPr>
            <a:r>
              <a:rPr lang="en-US">
                <a:solidFill>
                  <a:srgbClr val="CC0000"/>
                </a:solidFill>
              </a:rPr>
              <a:t>Jitter</a:t>
            </a:r>
            <a:r>
              <a:rPr lang="en-US"/>
              <a:t>: Variation in the packet arrival time (uneven quality in the video is the result)</a:t>
            </a:r>
          </a:p>
        </p:txBody>
      </p:sp>
    </p:spTree>
    <p:extLst>
      <p:ext uri="{BB962C8B-B14F-4D97-AF65-F5344CB8AC3E}">
        <p14:creationId xmlns:p14="http://schemas.microsoft.com/office/powerpoint/2010/main" val="392143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n-US"/>
              <a:t>Data Communications</a:t>
            </a:r>
          </a:p>
        </p:txBody>
      </p:sp>
      <p:pic>
        <p:nvPicPr>
          <p:cNvPr id="15363" name="Picture 5" descr="Click for larger imag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52600"/>
            <a:ext cx="7620000"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9447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12</a:t>
            </a:fld>
            <a:endParaRPr lang="en-US" sz="2000" b="1">
              <a:latin typeface="Arial" panose="02080604020202020204" pitchFamily="34" charset="0"/>
            </a:endParaRPr>
          </a:p>
        </p:txBody>
      </p:sp>
      <p:sp>
        <p:nvSpPr>
          <p:cNvPr id="565250" name="Rectangles 565249"/>
          <p:cNvSpPr/>
          <p:nvPr/>
        </p:nvSpPr>
        <p:spPr>
          <a:xfrm>
            <a:off x="0" y="0"/>
            <a:ext cx="9144000" cy="9144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dirty="0">
              <a:effectLst>
                <a:outerShdw blurRad="38100" dist="38100" dir="2700000">
                  <a:srgbClr val="FFFFFF"/>
                </a:outerShdw>
              </a:effectLst>
              <a:latin typeface="Times New Roman" charset="0"/>
            </a:endParaRPr>
          </a:p>
        </p:txBody>
      </p:sp>
      <p:sp>
        <p:nvSpPr>
          <p:cNvPr id="565251" name="Text Box 565250"/>
          <p:cNvSpPr txBox="1"/>
          <p:nvPr/>
        </p:nvSpPr>
        <p:spPr>
          <a:xfrm>
            <a:off x="228600" y="195263"/>
            <a:ext cx="6206956" cy="584775"/>
          </a:xfrm>
          <a:prstGeom prst="rect">
            <a:avLst/>
          </a:prstGeom>
          <a:noFill/>
          <a:ln w="9525">
            <a:noFill/>
          </a:ln>
        </p:spPr>
        <p:txBody>
          <a:bodyPr wrap="none" anchor="t" anchorCtr="0">
            <a:spAutoFit/>
          </a:bodyPr>
          <a:lstStyle/>
          <a:p>
            <a:r>
              <a:rPr dirty="0">
                <a:effectLst>
                  <a:outerShdw blurRad="38100" dist="38100" dir="2700000">
                    <a:srgbClr val="C0C0C0"/>
                  </a:outerShdw>
                </a:effectLst>
                <a:latin typeface="Times" charset="0"/>
              </a:rPr>
              <a:t>1-1   DATA COMMUNICATIONS</a:t>
            </a:r>
          </a:p>
        </p:txBody>
      </p:sp>
      <p:sp>
        <p:nvSpPr>
          <p:cNvPr id="565252" name="Text Box 565251"/>
          <p:cNvSpPr txBox="1"/>
          <p:nvPr/>
        </p:nvSpPr>
        <p:spPr>
          <a:xfrm>
            <a:off x="8229600" y="6400800"/>
            <a:ext cx="184150" cy="366713"/>
          </a:xfrm>
          <a:prstGeom prst="rect">
            <a:avLst/>
          </a:prstGeom>
          <a:noFill/>
          <a:ln w="9525">
            <a:noFill/>
          </a:ln>
        </p:spPr>
        <p:txBody>
          <a:bodyPr wrap="none" anchor="t" anchorCtr="0">
            <a:spAutoFit/>
          </a:bodyPr>
          <a:lstStyle/>
          <a:p>
            <a:endParaRPr sz="1800" dirty="0">
              <a:latin typeface="Times New Roman" charset="0"/>
            </a:endParaRPr>
          </a:p>
        </p:txBody>
      </p:sp>
      <p:sp>
        <p:nvSpPr>
          <p:cNvPr id="565253" name="Rectangles 565252"/>
          <p:cNvSpPr/>
          <p:nvPr/>
        </p:nvSpPr>
        <p:spPr>
          <a:xfrm>
            <a:off x="76200" y="1120795"/>
            <a:ext cx="8610600" cy="3970318"/>
          </a:xfrm>
          <a:prstGeom prst="rect">
            <a:avLst/>
          </a:prstGeom>
          <a:noFill/>
          <a:ln w="9525">
            <a:noFill/>
          </a:ln>
        </p:spPr>
        <p:txBody>
          <a:bodyPr anchor="ctr" anchorCtr="0">
            <a:spAutoFit/>
          </a:bodyPr>
          <a:lstStyle/>
          <a:p>
            <a:pPr algn="just" eaLnBrk="1" hangingPunct="1"/>
            <a:r>
              <a:rPr lang="en-US" sz="2800" i="1" dirty="0">
                <a:solidFill>
                  <a:srgbClr val="FF0000"/>
                </a:solidFill>
                <a:effectLst>
                  <a:outerShdw blurRad="38100" dist="38100" dir="2700000">
                    <a:srgbClr val="C0C0C0"/>
                  </a:outerShdw>
                </a:effectLst>
                <a:latin typeface="Times New Roman" charset="0"/>
              </a:rPr>
              <a:t>Definition:</a:t>
            </a:r>
          </a:p>
          <a:p>
            <a:pPr marL="457200" indent="-457200" algn="just" eaLnBrk="1" hangingPunct="1">
              <a:buFont typeface="Arial" pitchFamily="34" charset="0"/>
              <a:buChar char="•"/>
            </a:pPr>
            <a:r>
              <a:rPr sz="2800" i="1" dirty="0">
                <a:effectLst>
                  <a:outerShdw blurRad="38100" dist="38100" dir="2700000">
                    <a:srgbClr val="C0C0C0"/>
                  </a:outerShdw>
                </a:effectLst>
                <a:latin typeface="Times New Roman" charset="0"/>
              </a:rPr>
              <a:t>The term </a:t>
            </a:r>
            <a:r>
              <a:rPr sz="2800" i="1" dirty="0">
                <a:solidFill>
                  <a:schemeClr val="hlink"/>
                </a:solidFill>
                <a:effectLst>
                  <a:outerShdw blurRad="38100" dist="38100" dir="2700000">
                    <a:srgbClr val="C0C0C0"/>
                  </a:outerShdw>
                </a:effectLst>
                <a:latin typeface="Times New Roman" charset="0"/>
              </a:rPr>
              <a:t>telecommunication</a:t>
            </a:r>
            <a:r>
              <a:rPr sz="2800" i="1" dirty="0">
                <a:effectLst>
                  <a:outerShdw blurRad="38100" dist="38100" dir="2700000">
                    <a:srgbClr val="C0C0C0"/>
                  </a:outerShdw>
                </a:effectLst>
                <a:latin typeface="Times New Roman" charset="0"/>
              </a:rPr>
              <a:t> means communication at a distance. </a:t>
            </a:r>
            <a:endParaRPr lang="en-US" sz="2800" i="1" dirty="0">
              <a:effectLst>
                <a:outerShdw blurRad="38100" dist="38100" dir="2700000">
                  <a:srgbClr val="C0C0C0"/>
                </a:outerShdw>
              </a:effectLst>
              <a:latin typeface="Times New Roman" charset="0"/>
            </a:endParaRPr>
          </a:p>
          <a:p>
            <a:pPr marL="457200" indent="-457200" algn="just" eaLnBrk="1" hangingPunct="1">
              <a:buFont typeface="Arial" pitchFamily="34" charset="0"/>
              <a:buChar char="•"/>
            </a:pPr>
            <a:r>
              <a:rPr sz="2800" i="1" dirty="0">
                <a:effectLst>
                  <a:outerShdw blurRad="38100" dist="38100" dir="2700000">
                    <a:srgbClr val="C0C0C0"/>
                  </a:outerShdw>
                </a:effectLst>
                <a:latin typeface="Times New Roman" charset="0"/>
              </a:rPr>
              <a:t>The word </a:t>
            </a:r>
            <a:r>
              <a:rPr sz="2800" i="1" dirty="0">
                <a:solidFill>
                  <a:schemeClr val="hlink"/>
                </a:solidFill>
                <a:effectLst>
                  <a:outerShdw blurRad="38100" dist="38100" dir="2700000">
                    <a:srgbClr val="C0C0C0"/>
                  </a:outerShdw>
                </a:effectLst>
                <a:latin typeface="Times New Roman" charset="0"/>
              </a:rPr>
              <a:t>data</a:t>
            </a:r>
            <a:r>
              <a:rPr sz="2800" i="1" dirty="0">
                <a:effectLst>
                  <a:outerShdw blurRad="38100" dist="38100" dir="2700000">
                    <a:srgbClr val="C0C0C0"/>
                  </a:outerShdw>
                </a:effectLst>
                <a:latin typeface="Times New Roman" charset="0"/>
              </a:rPr>
              <a:t> refers to information presented in whatever form is agreed upon by the parties creating and using the data. </a:t>
            </a:r>
            <a:endParaRPr lang="en-US" sz="2800" i="1" dirty="0">
              <a:effectLst>
                <a:outerShdw blurRad="38100" dist="38100" dir="2700000">
                  <a:srgbClr val="C0C0C0"/>
                </a:outerShdw>
              </a:effectLst>
              <a:latin typeface="Times New Roman" charset="0"/>
            </a:endParaRPr>
          </a:p>
          <a:p>
            <a:pPr marL="457200" indent="-457200" algn="just" eaLnBrk="1" hangingPunct="1">
              <a:buFont typeface="Arial" pitchFamily="34" charset="0"/>
              <a:buChar char="•"/>
            </a:pPr>
            <a:r>
              <a:rPr sz="2800" i="1" dirty="0">
                <a:solidFill>
                  <a:schemeClr val="hlink"/>
                </a:solidFill>
                <a:effectLst>
                  <a:outerShdw blurRad="38100" dist="38100" dir="2700000">
                    <a:srgbClr val="C0C0C0"/>
                  </a:outerShdw>
                </a:effectLst>
                <a:latin typeface="Times New Roman" charset="0"/>
              </a:rPr>
              <a:t>Data communications</a:t>
            </a:r>
            <a:r>
              <a:rPr sz="2800" i="1" dirty="0">
                <a:effectLst>
                  <a:outerShdw blurRad="38100" dist="38100" dir="2700000">
                    <a:srgbClr val="C0C0C0"/>
                  </a:outerShdw>
                </a:effectLst>
                <a:latin typeface="Times New Roman" charset="0"/>
              </a:rPr>
              <a:t> are the exchange of data between two devices via some form of transmission medium such as a wire cable. </a:t>
            </a:r>
          </a:p>
        </p:txBody>
      </p:sp>
      <p:sp>
        <p:nvSpPr>
          <p:cNvPr id="565279" name="Rectangles 565278"/>
          <p:cNvSpPr/>
          <p:nvPr/>
        </p:nvSpPr>
        <p:spPr>
          <a:xfrm>
            <a:off x="376311" y="5589905"/>
            <a:ext cx="8758555" cy="829945"/>
          </a:xfrm>
          <a:prstGeom prst="rect">
            <a:avLst/>
          </a:prstGeom>
          <a:noFill/>
          <a:ln w="9525">
            <a:noFill/>
          </a:ln>
        </p:spPr>
        <p:txBody>
          <a:bodyPr wrap="square">
            <a:spAutoFit/>
          </a:bodyPr>
          <a:lstStyle/>
          <a:p>
            <a:pPr>
              <a:buSzPct val="117000"/>
              <a:buFont typeface="Wingdings" panose="05000000000000000000" pitchFamily="2" charset="2"/>
              <a:buChar char="§"/>
            </a:pPr>
            <a:r>
              <a:rPr lang="fr-FR" altLang="x-none" sz="2400" dirty="0">
                <a:solidFill>
                  <a:srgbClr val="0033CC"/>
                </a:solidFill>
                <a:latin typeface="Times New Roman" charset="0"/>
              </a:rPr>
              <a:t> Components of a data communications system</a:t>
            </a:r>
          </a:p>
          <a:p>
            <a:pPr>
              <a:buClr>
                <a:schemeClr val="folHlink"/>
              </a:buClr>
              <a:buSzPct val="117000"/>
              <a:buFont typeface="Wingdings" panose="05000000000000000000" pitchFamily="2" charset="2"/>
              <a:buChar char="§"/>
            </a:pPr>
            <a:r>
              <a:rPr sz="2400" dirty="0">
                <a:solidFill>
                  <a:srgbClr val="0033CC"/>
                </a:solidFill>
                <a:latin typeface="Times New Roman" charset="0"/>
              </a:rPr>
              <a:t> Data Flow</a:t>
            </a:r>
          </a:p>
        </p:txBody>
      </p:sp>
      <p:sp>
        <p:nvSpPr>
          <p:cNvPr id="565280" name="Text Box 565279"/>
          <p:cNvSpPr txBox="1"/>
          <p:nvPr/>
        </p:nvSpPr>
        <p:spPr>
          <a:xfrm>
            <a:off x="746934" y="5091113"/>
            <a:ext cx="4867275" cy="519113"/>
          </a:xfrm>
          <a:prstGeom prst="rect">
            <a:avLst/>
          </a:prstGeom>
          <a:noFill/>
          <a:ln w="76200">
            <a:noFill/>
          </a:ln>
        </p:spPr>
        <p:txBody>
          <a:bodyPr wrap="none" anchor="t" anchorCtr="0">
            <a:spAutoFit/>
          </a:bodyPr>
          <a:lstStyle/>
          <a:p>
            <a:pPr algn="ctr"/>
            <a:r>
              <a:rPr sz="2800" i="1" u="sng" dirty="0">
                <a:solidFill>
                  <a:schemeClr val="hlink"/>
                </a:solidFill>
                <a:effectLst>
                  <a:outerShdw blurRad="38100" dist="38100" dir="2700000">
                    <a:srgbClr val="C0C0C0"/>
                  </a:outerShdw>
                </a:effectLst>
                <a:latin typeface="Times New Roman" charset="0"/>
              </a:rPr>
              <a:t>Topics discussed in this section: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13</a:t>
            </a:fld>
            <a:endParaRPr lang="en-US" sz="2000" b="1">
              <a:latin typeface="Arial" panose="02080604020202020204" pitchFamily="34" charset="0"/>
            </a:endParaRPr>
          </a:p>
        </p:txBody>
      </p:sp>
      <p:sp>
        <p:nvSpPr>
          <p:cNvPr id="861186" name="Straight Connector 861185"/>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861187" name="Straight Connector 861186"/>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861188" name="Text Box 861187"/>
          <p:cNvSpPr txBox="1"/>
          <p:nvPr/>
        </p:nvSpPr>
        <p:spPr>
          <a:xfrm>
            <a:off x="304800" y="381000"/>
            <a:ext cx="8701405" cy="460375"/>
          </a:xfrm>
          <a:prstGeom prst="rect">
            <a:avLst/>
          </a:prstGeom>
          <a:noFill/>
          <a:ln w="9525">
            <a:noFill/>
          </a:ln>
        </p:spPr>
        <p:txBody>
          <a:bodyPr wrap="square">
            <a:spAutoFit/>
          </a:bodyPr>
          <a:lstStyle/>
          <a:p>
            <a:r>
              <a:rPr sz="2400">
                <a:solidFill>
                  <a:schemeClr val="folHlink"/>
                </a:solidFill>
                <a:latin typeface="Times New Roman" charset="0"/>
              </a:rPr>
              <a:t>Figure 1.1  </a:t>
            </a:r>
            <a:r>
              <a:rPr sz="2000" i="1">
                <a:latin typeface="Times New Roman" charset="0"/>
              </a:rPr>
              <a:t>Components of a data communication system</a:t>
            </a:r>
          </a:p>
        </p:txBody>
      </p:sp>
      <p:sp>
        <p:nvSpPr>
          <p:cNvPr id="861189" name="Straight Connector 861188"/>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861190" name="Picture 861189"/>
          <p:cNvPicPr>
            <a:picLocks noChangeAspect="1"/>
          </p:cNvPicPr>
          <p:nvPr/>
        </p:nvPicPr>
        <p:blipFill>
          <a:blip r:embed="rId3"/>
          <a:stretch>
            <a:fillRect/>
          </a:stretch>
        </p:blipFill>
        <p:spPr>
          <a:xfrm>
            <a:off x="782638" y="2593975"/>
            <a:ext cx="7065962" cy="1825625"/>
          </a:xfrm>
          <a:prstGeom prst="rect">
            <a:avLst/>
          </a:prstGeom>
          <a:noFill/>
          <a:ln w="9525">
            <a:noFill/>
          </a:ln>
        </p:spPr>
      </p:pic>
      <p:sp>
        <p:nvSpPr>
          <p:cNvPr id="3" name="TextBox 2"/>
          <p:cNvSpPr txBox="1"/>
          <p:nvPr/>
        </p:nvSpPr>
        <p:spPr>
          <a:xfrm>
            <a:off x="782638" y="1178650"/>
            <a:ext cx="7299908" cy="1446550"/>
          </a:xfrm>
          <a:prstGeom prst="rect">
            <a:avLst/>
          </a:prstGeom>
          <a:noFill/>
        </p:spPr>
        <p:txBody>
          <a:bodyPr wrap="square" rtlCol="0">
            <a:spAutoFit/>
          </a:bodyPr>
          <a:lstStyle/>
          <a:p>
            <a:pPr lvl="1" indent="-457200">
              <a:buFont typeface="Arial" pitchFamily="34" charset="0"/>
              <a:buChar char="•"/>
            </a:pPr>
            <a:r>
              <a:rPr lang="en-US" sz="2800" dirty="0"/>
              <a:t>A data communication system is made up of </a:t>
            </a:r>
            <a:r>
              <a:rPr lang="en-US" sz="2800" dirty="0">
                <a:solidFill>
                  <a:srgbClr val="CC0000"/>
                </a:solidFill>
              </a:rPr>
              <a:t>five</a:t>
            </a:r>
            <a:r>
              <a:rPr lang="en-US" sz="2800" dirty="0"/>
              <a:t> components</a:t>
            </a:r>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a:t>Components</a:t>
            </a:r>
          </a:p>
        </p:txBody>
      </p:sp>
      <p:sp>
        <p:nvSpPr>
          <p:cNvPr id="17411" name="Rectangle 3"/>
          <p:cNvSpPr>
            <a:spLocks noGrp="1" noChangeArrowheads="1"/>
          </p:cNvSpPr>
          <p:nvPr>
            <p:ph type="body" idx="1"/>
          </p:nvPr>
        </p:nvSpPr>
        <p:spPr>
          <a:xfrm>
            <a:off x="381000" y="1981200"/>
            <a:ext cx="8077200" cy="4114800"/>
          </a:xfrm>
        </p:spPr>
        <p:txBody>
          <a:bodyPr/>
          <a:lstStyle/>
          <a:p>
            <a:pPr marL="990600" lvl="1" indent="-533400" eaLnBrk="1" hangingPunct="1">
              <a:buFontTx/>
              <a:buAutoNum type="arabicPeriod"/>
            </a:pPr>
            <a:r>
              <a:rPr lang="en-US" sz="2300">
                <a:solidFill>
                  <a:srgbClr val="3333FF"/>
                </a:solidFill>
              </a:rPr>
              <a:t>Message</a:t>
            </a:r>
            <a:r>
              <a:rPr lang="en-US" sz="2300"/>
              <a:t>: the information (data) to be communicated</a:t>
            </a:r>
          </a:p>
          <a:p>
            <a:pPr marL="1371600" lvl="2" indent="-457200" eaLnBrk="1" hangingPunct="1">
              <a:buFontTx/>
              <a:buChar char="–"/>
            </a:pPr>
            <a:r>
              <a:rPr lang="en-US" sz="2100"/>
              <a:t>Consist of text, numbers, pictures, audio, or video</a:t>
            </a:r>
          </a:p>
          <a:p>
            <a:pPr marL="990600" lvl="1" indent="-533400" eaLnBrk="1" hangingPunct="1">
              <a:buFontTx/>
              <a:buAutoNum type="arabicPeriod"/>
            </a:pPr>
            <a:r>
              <a:rPr lang="en-US" sz="2300">
                <a:solidFill>
                  <a:srgbClr val="3333FF"/>
                </a:solidFill>
              </a:rPr>
              <a:t>Sender</a:t>
            </a:r>
            <a:r>
              <a:rPr lang="en-US" sz="2300"/>
              <a:t>: the device that sends the data message</a:t>
            </a:r>
          </a:p>
          <a:p>
            <a:pPr marL="1371600" lvl="2" indent="-457200" eaLnBrk="1" hangingPunct="1">
              <a:buFontTx/>
              <a:buChar char="–"/>
            </a:pPr>
            <a:r>
              <a:rPr lang="en-US" sz="2100"/>
              <a:t>Computer, workstation, telephone handset, video camera, …</a:t>
            </a:r>
          </a:p>
          <a:p>
            <a:pPr marL="990600" lvl="1" indent="-533400" eaLnBrk="1" hangingPunct="1">
              <a:buFontTx/>
              <a:buAutoNum type="arabicPeriod"/>
            </a:pPr>
            <a:r>
              <a:rPr lang="en-US" sz="2300">
                <a:solidFill>
                  <a:srgbClr val="3333FF"/>
                </a:solidFill>
              </a:rPr>
              <a:t>Receiver</a:t>
            </a:r>
            <a:r>
              <a:rPr lang="en-US" sz="2300"/>
              <a:t>: the device that receives the message</a:t>
            </a:r>
          </a:p>
          <a:p>
            <a:pPr marL="1371600" lvl="2" indent="-457200" eaLnBrk="1" hangingPunct="1">
              <a:buFontTx/>
              <a:buChar char="–"/>
            </a:pPr>
            <a:r>
              <a:rPr lang="en-US" sz="2100"/>
              <a:t>Computer, workstation, telephone handset, television, ….</a:t>
            </a:r>
          </a:p>
        </p:txBody>
      </p:sp>
    </p:spTree>
    <p:extLst>
      <p:ext uri="{BB962C8B-B14F-4D97-AF65-F5344CB8AC3E}">
        <p14:creationId xmlns:p14="http://schemas.microsoft.com/office/powerpoint/2010/main" val="426430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defRPr/>
            </a:pPr>
            <a:r>
              <a:rPr lang="en-US"/>
              <a:t>Components</a:t>
            </a:r>
          </a:p>
        </p:txBody>
      </p:sp>
      <p:sp>
        <p:nvSpPr>
          <p:cNvPr id="145411" name="Rectangle 3"/>
          <p:cNvSpPr>
            <a:spLocks noGrp="1" noChangeArrowheads="1"/>
          </p:cNvSpPr>
          <p:nvPr>
            <p:ph type="body" idx="1"/>
          </p:nvPr>
        </p:nvSpPr>
        <p:spPr>
          <a:xfrm>
            <a:off x="381000" y="1981200"/>
            <a:ext cx="8077200" cy="4114800"/>
          </a:xfrm>
        </p:spPr>
        <p:txBody>
          <a:bodyPr/>
          <a:lstStyle/>
          <a:p>
            <a:pPr marL="990600" lvl="1" indent="-533400" eaLnBrk="1" hangingPunct="1">
              <a:buFontTx/>
              <a:buAutoNum type="arabicPeriod" startAt="4"/>
            </a:pPr>
            <a:r>
              <a:rPr lang="en-US" sz="2300">
                <a:solidFill>
                  <a:srgbClr val="3333FF"/>
                </a:solidFill>
              </a:rPr>
              <a:t>Medium</a:t>
            </a:r>
            <a:r>
              <a:rPr lang="en-US" sz="2300"/>
              <a:t>: The physical path by which a message travels from sender to receiver</a:t>
            </a:r>
          </a:p>
          <a:p>
            <a:pPr marL="1371600" lvl="2" indent="-457200" eaLnBrk="1" hangingPunct="1">
              <a:buFontTx/>
              <a:buChar char="–"/>
            </a:pPr>
            <a:r>
              <a:rPr lang="en-US"/>
              <a:t>twisted pair, coaxial cable, fiber-optic, radio waves</a:t>
            </a:r>
          </a:p>
        </p:txBody>
      </p:sp>
      <p:pic>
        <p:nvPicPr>
          <p:cNvPr id="1454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750" y="3409950"/>
            <a:ext cx="2895600" cy="160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1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5053013"/>
            <a:ext cx="2209800"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1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3717925"/>
            <a:ext cx="26003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20" name="Picture 12" descr="1s-microwave-antenn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6813" y="4306888"/>
            <a:ext cx="1814512"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24581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1">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53" presetClass="entr" presetSubtype="0" fill="hold" nodeType="afterEffect">
                                  <p:stCondLst>
                                    <p:cond delay="0"/>
                                  </p:stCondLst>
                                  <p:childTnLst>
                                    <p:set>
                                      <p:cBhvr>
                                        <p:cTn id="9" dur="1" fill="hold">
                                          <p:stCondLst>
                                            <p:cond delay="0"/>
                                          </p:stCondLst>
                                        </p:cTn>
                                        <p:tgtEl>
                                          <p:spTgt spid="145414"/>
                                        </p:tgtEl>
                                        <p:attrNameLst>
                                          <p:attrName>style.visibility</p:attrName>
                                        </p:attrNameLst>
                                      </p:cBhvr>
                                      <p:to>
                                        <p:strVal val="visible"/>
                                      </p:to>
                                    </p:set>
                                    <p:anim calcmode="lin" valueType="num">
                                      <p:cBhvr>
                                        <p:cTn id="10" dur="3000" fill="hold"/>
                                        <p:tgtEl>
                                          <p:spTgt spid="145414"/>
                                        </p:tgtEl>
                                        <p:attrNameLst>
                                          <p:attrName>ppt_w</p:attrName>
                                        </p:attrNameLst>
                                      </p:cBhvr>
                                      <p:tavLst>
                                        <p:tav tm="0">
                                          <p:val>
                                            <p:fltVal val="0"/>
                                          </p:val>
                                        </p:tav>
                                        <p:tav tm="100000">
                                          <p:val>
                                            <p:strVal val="#ppt_w"/>
                                          </p:val>
                                        </p:tav>
                                      </p:tavLst>
                                    </p:anim>
                                    <p:anim calcmode="lin" valueType="num">
                                      <p:cBhvr>
                                        <p:cTn id="11" dur="3000" fill="hold"/>
                                        <p:tgtEl>
                                          <p:spTgt spid="145414"/>
                                        </p:tgtEl>
                                        <p:attrNameLst>
                                          <p:attrName>ppt_h</p:attrName>
                                        </p:attrNameLst>
                                      </p:cBhvr>
                                      <p:tavLst>
                                        <p:tav tm="0">
                                          <p:val>
                                            <p:fltVal val="0"/>
                                          </p:val>
                                        </p:tav>
                                        <p:tav tm="100000">
                                          <p:val>
                                            <p:strVal val="#ppt_h"/>
                                          </p:val>
                                        </p:tav>
                                      </p:tavLst>
                                    </p:anim>
                                    <p:animEffect transition="in" filter="fade">
                                      <p:cBhvr>
                                        <p:cTn id="12" dur="3000"/>
                                        <p:tgtEl>
                                          <p:spTgt spid="145414"/>
                                        </p:tgtEl>
                                      </p:cBhvr>
                                    </p:animEffect>
                                  </p:childTnLst>
                                </p:cTn>
                              </p:par>
                            </p:childTnLst>
                          </p:cTn>
                        </p:par>
                        <p:par>
                          <p:cTn id="13" fill="hold" nodeType="afterGroup">
                            <p:stCondLst>
                              <p:cond delay="3000"/>
                            </p:stCondLst>
                            <p:childTnLst>
                              <p:par>
                                <p:cTn id="14" presetID="53" presetClass="entr" presetSubtype="0" fill="hold" nodeType="afterEffect">
                                  <p:stCondLst>
                                    <p:cond delay="0"/>
                                  </p:stCondLst>
                                  <p:childTnLst>
                                    <p:set>
                                      <p:cBhvr>
                                        <p:cTn id="15" dur="1" fill="hold">
                                          <p:stCondLst>
                                            <p:cond delay="0"/>
                                          </p:stCondLst>
                                        </p:cTn>
                                        <p:tgtEl>
                                          <p:spTgt spid="145419"/>
                                        </p:tgtEl>
                                        <p:attrNameLst>
                                          <p:attrName>style.visibility</p:attrName>
                                        </p:attrNameLst>
                                      </p:cBhvr>
                                      <p:to>
                                        <p:strVal val="visible"/>
                                      </p:to>
                                    </p:set>
                                    <p:anim calcmode="lin" valueType="num">
                                      <p:cBhvr>
                                        <p:cTn id="16" dur="3000" fill="hold"/>
                                        <p:tgtEl>
                                          <p:spTgt spid="145419"/>
                                        </p:tgtEl>
                                        <p:attrNameLst>
                                          <p:attrName>ppt_w</p:attrName>
                                        </p:attrNameLst>
                                      </p:cBhvr>
                                      <p:tavLst>
                                        <p:tav tm="0">
                                          <p:val>
                                            <p:fltVal val="0"/>
                                          </p:val>
                                        </p:tav>
                                        <p:tav tm="100000">
                                          <p:val>
                                            <p:strVal val="#ppt_w"/>
                                          </p:val>
                                        </p:tav>
                                      </p:tavLst>
                                    </p:anim>
                                    <p:anim calcmode="lin" valueType="num">
                                      <p:cBhvr>
                                        <p:cTn id="17" dur="3000" fill="hold"/>
                                        <p:tgtEl>
                                          <p:spTgt spid="145419"/>
                                        </p:tgtEl>
                                        <p:attrNameLst>
                                          <p:attrName>ppt_h</p:attrName>
                                        </p:attrNameLst>
                                      </p:cBhvr>
                                      <p:tavLst>
                                        <p:tav tm="0">
                                          <p:val>
                                            <p:fltVal val="0"/>
                                          </p:val>
                                        </p:tav>
                                        <p:tav tm="100000">
                                          <p:val>
                                            <p:strVal val="#ppt_h"/>
                                          </p:val>
                                        </p:tav>
                                      </p:tavLst>
                                    </p:anim>
                                    <p:animEffect transition="in" filter="fade">
                                      <p:cBhvr>
                                        <p:cTn id="18" dur="3000"/>
                                        <p:tgtEl>
                                          <p:spTgt spid="145419"/>
                                        </p:tgtEl>
                                      </p:cBhvr>
                                    </p:animEffect>
                                  </p:childTnLst>
                                </p:cTn>
                              </p:par>
                            </p:childTnLst>
                          </p:cTn>
                        </p:par>
                        <p:par>
                          <p:cTn id="19" fill="hold" nodeType="afterGroup">
                            <p:stCondLst>
                              <p:cond delay="6000"/>
                            </p:stCondLst>
                            <p:childTnLst>
                              <p:par>
                                <p:cTn id="20" presetID="53" presetClass="entr" presetSubtype="0" fill="hold" nodeType="afterEffect">
                                  <p:stCondLst>
                                    <p:cond delay="0"/>
                                  </p:stCondLst>
                                  <p:childTnLst>
                                    <p:set>
                                      <p:cBhvr>
                                        <p:cTn id="21" dur="1" fill="hold">
                                          <p:stCondLst>
                                            <p:cond delay="0"/>
                                          </p:stCondLst>
                                        </p:cTn>
                                        <p:tgtEl>
                                          <p:spTgt spid="145416"/>
                                        </p:tgtEl>
                                        <p:attrNameLst>
                                          <p:attrName>style.visibility</p:attrName>
                                        </p:attrNameLst>
                                      </p:cBhvr>
                                      <p:to>
                                        <p:strVal val="visible"/>
                                      </p:to>
                                    </p:set>
                                    <p:anim calcmode="lin" valueType="num">
                                      <p:cBhvr>
                                        <p:cTn id="22" dur="3000" fill="hold"/>
                                        <p:tgtEl>
                                          <p:spTgt spid="145416"/>
                                        </p:tgtEl>
                                        <p:attrNameLst>
                                          <p:attrName>ppt_w</p:attrName>
                                        </p:attrNameLst>
                                      </p:cBhvr>
                                      <p:tavLst>
                                        <p:tav tm="0">
                                          <p:val>
                                            <p:fltVal val="0"/>
                                          </p:val>
                                        </p:tav>
                                        <p:tav tm="100000">
                                          <p:val>
                                            <p:strVal val="#ppt_w"/>
                                          </p:val>
                                        </p:tav>
                                      </p:tavLst>
                                    </p:anim>
                                    <p:anim calcmode="lin" valueType="num">
                                      <p:cBhvr>
                                        <p:cTn id="23" dur="3000" fill="hold"/>
                                        <p:tgtEl>
                                          <p:spTgt spid="145416"/>
                                        </p:tgtEl>
                                        <p:attrNameLst>
                                          <p:attrName>ppt_h</p:attrName>
                                        </p:attrNameLst>
                                      </p:cBhvr>
                                      <p:tavLst>
                                        <p:tav tm="0">
                                          <p:val>
                                            <p:fltVal val="0"/>
                                          </p:val>
                                        </p:tav>
                                        <p:tav tm="100000">
                                          <p:val>
                                            <p:strVal val="#ppt_h"/>
                                          </p:val>
                                        </p:tav>
                                      </p:tavLst>
                                    </p:anim>
                                    <p:animEffect transition="in" filter="fade">
                                      <p:cBhvr>
                                        <p:cTn id="24" dur="3000"/>
                                        <p:tgtEl>
                                          <p:spTgt spid="145416"/>
                                        </p:tgtEl>
                                      </p:cBhvr>
                                    </p:animEffect>
                                  </p:childTnLst>
                                </p:cTn>
                              </p:par>
                            </p:childTnLst>
                          </p:cTn>
                        </p:par>
                        <p:par>
                          <p:cTn id="25" fill="hold" nodeType="afterGroup">
                            <p:stCondLst>
                              <p:cond delay="9000"/>
                            </p:stCondLst>
                            <p:childTnLst>
                              <p:par>
                                <p:cTn id="26" presetID="53" presetClass="entr" presetSubtype="0" fill="hold" nodeType="afterEffect">
                                  <p:stCondLst>
                                    <p:cond delay="0"/>
                                  </p:stCondLst>
                                  <p:childTnLst>
                                    <p:set>
                                      <p:cBhvr>
                                        <p:cTn id="27" dur="1" fill="hold">
                                          <p:stCondLst>
                                            <p:cond delay="0"/>
                                          </p:stCondLst>
                                        </p:cTn>
                                        <p:tgtEl>
                                          <p:spTgt spid="145420"/>
                                        </p:tgtEl>
                                        <p:attrNameLst>
                                          <p:attrName>style.visibility</p:attrName>
                                        </p:attrNameLst>
                                      </p:cBhvr>
                                      <p:to>
                                        <p:strVal val="visible"/>
                                      </p:to>
                                    </p:set>
                                    <p:anim calcmode="lin" valueType="num">
                                      <p:cBhvr>
                                        <p:cTn id="28" dur="3000" fill="hold"/>
                                        <p:tgtEl>
                                          <p:spTgt spid="145420"/>
                                        </p:tgtEl>
                                        <p:attrNameLst>
                                          <p:attrName>ppt_w</p:attrName>
                                        </p:attrNameLst>
                                      </p:cBhvr>
                                      <p:tavLst>
                                        <p:tav tm="0">
                                          <p:val>
                                            <p:fltVal val="0"/>
                                          </p:val>
                                        </p:tav>
                                        <p:tav tm="100000">
                                          <p:val>
                                            <p:strVal val="#ppt_w"/>
                                          </p:val>
                                        </p:tav>
                                      </p:tavLst>
                                    </p:anim>
                                    <p:anim calcmode="lin" valueType="num">
                                      <p:cBhvr>
                                        <p:cTn id="29" dur="3000" fill="hold"/>
                                        <p:tgtEl>
                                          <p:spTgt spid="145420"/>
                                        </p:tgtEl>
                                        <p:attrNameLst>
                                          <p:attrName>ppt_h</p:attrName>
                                        </p:attrNameLst>
                                      </p:cBhvr>
                                      <p:tavLst>
                                        <p:tav tm="0">
                                          <p:val>
                                            <p:fltVal val="0"/>
                                          </p:val>
                                        </p:tav>
                                        <p:tav tm="100000">
                                          <p:val>
                                            <p:strVal val="#ppt_h"/>
                                          </p:val>
                                        </p:tav>
                                      </p:tavLst>
                                    </p:anim>
                                    <p:animEffect transition="in" filter="fade">
                                      <p:cBhvr>
                                        <p:cTn id="30" dur="3000"/>
                                        <p:tgtEl>
                                          <p:spTgt spid="145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eaLnBrk="1" hangingPunct="1">
              <a:defRPr/>
            </a:pPr>
            <a:r>
              <a:rPr lang="en-US"/>
              <a:t>Components</a:t>
            </a:r>
          </a:p>
        </p:txBody>
      </p:sp>
      <p:sp>
        <p:nvSpPr>
          <p:cNvPr id="19459" name="Rectangle 3"/>
          <p:cNvSpPr>
            <a:spLocks noGrp="1" noChangeArrowheads="1"/>
          </p:cNvSpPr>
          <p:nvPr>
            <p:ph type="body" idx="1"/>
          </p:nvPr>
        </p:nvSpPr>
        <p:spPr>
          <a:xfrm>
            <a:off x="381000" y="1981200"/>
            <a:ext cx="8077200" cy="4114800"/>
          </a:xfrm>
        </p:spPr>
        <p:txBody>
          <a:bodyPr/>
          <a:lstStyle/>
          <a:p>
            <a:pPr marL="990600" lvl="1" indent="-533400" eaLnBrk="1" hangingPunct="1">
              <a:buFontTx/>
              <a:buAutoNum type="arabicPeriod" startAt="5"/>
            </a:pPr>
            <a:r>
              <a:rPr lang="en-US" sz="2300">
                <a:solidFill>
                  <a:srgbClr val="3333FF"/>
                </a:solidFill>
              </a:rPr>
              <a:t>Protocol</a:t>
            </a:r>
            <a:r>
              <a:rPr lang="en-US" sz="2300"/>
              <a:t>: a set of rules that govern data communications</a:t>
            </a:r>
          </a:p>
          <a:p>
            <a:pPr marL="1371600" lvl="2" indent="-457200" eaLnBrk="1" hangingPunct="1">
              <a:buFontTx/>
              <a:buChar char="–"/>
            </a:pPr>
            <a:r>
              <a:rPr lang="en-US" sz="2100"/>
              <a:t> An agreement between the communicating devices</a:t>
            </a:r>
          </a:p>
          <a:p>
            <a:pPr marL="1371600" lvl="2" indent="-457200" eaLnBrk="1" hangingPunct="1">
              <a:buFontTx/>
              <a:buChar char="–"/>
            </a:pPr>
            <a:r>
              <a:rPr lang="en-US" sz="2100"/>
              <a:t> Devices may be connected but not communicating (no protocol)</a:t>
            </a:r>
          </a:p>
          <a:p>
            <a:pPr marL="1371600" lvl="2" indent="-457200" eaLnBrk="1" hangingPunct="1">
              <a:buFontTx/>
              <a:buChar char="–"/>
            </a:pPr>
            <a:r>
              <a:rPr lang="en-US" sz="2100"/>
              <a:t>Arabic speaker with Japanese speaker</a:t>
            </a:r>
            <a:endParaRPr lang="en-US" sz="2500"/>
          </a:p>
        </p:txBody>
      </p:sp>
    </p:spTree>
    <p:extLst>
      <p:ext uri="{BB962C8B-B14F-4D97-AF65-F5344CB8AC3E}">
        <p14:creationId xmlns:p14="http://schemas.microsoft.com/office/powerpoint/2010/main" val="2581254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defRPr/>
            </a:pPr>
            <a:r>
              <a:rPr lang="en-US"/>
              <a:t>Data Representation</a:t>
            </a:r>
          </a:p>
        </p:txBody>
      </p:sp>
      <p:sp>
        <p:nvSpPr>
          <p:cNvPr id="58377" name="Rectangle 9"/>
          <p:cNvSpPr>
            <a:spLocks noChangeArrowheads="1"/>
          </p:cNvSpPr>
          <p:nvPr/>
        </p:nvSpPr>
        <p:spPr bwMode="auto">
          <a:xfrm>
            <a:off x="1219200" y="1981200"/>
            <a:ext cx="1143000" cy="762000"/>
          </a:xfrm>
          <a:prstGeom prst="rect">
            <a:avLst/>
          </a:prstGeom>
          <a:solidFill>
            <a:schemeClr val="accent1"/>
          </a:solidFill>
          <a:ln w="9525">
            <a:noFill/>
            <a:miter lim="800000"/>
            <a:headEnd/>
            <a:tailEnd/>
          </a:ln>
          <a:effectLst/>
        </p:spPr>
        <p:txBody>
          <a:bodyPr wrap="none" lIns="92075" tIns="46038" rIns="92075" bIns="46038" anchor="ctr"/>
          <a:lstStyle/>
          <a:p>
            <a:pPr algn="ctr" rtl="0">
              <a:defRPr/>
            </a:pPr>
            <a:r>
              <a:rPr lang="en-US">
                <a:solidFill>
                  <a:schemeClr val="bg2"/>
                </a:solidFill>
                <a:effectLst>
                  <a:outerShdw blurRad="38100" dist="38100" dir="2700000" algn="tl">
                    <a:srgbClr val="000000"/>
                  </a:outerShdw>
                </a:effectLst>
                <a:latin typeface="Arial" pitchFamily="34" charset="0"/>
                <a:cs typeface="Times New Roman" pitchFamily="18" charset="0"/>
              </a:rPr>
              <a:t>Text</a:t>
            </a:r>
          </a:p>
        </p:txBody>
      </p:sp>
      <p:sp>
        <p:nvSpPr>
          <p:cNvPr id="58383" name="Rectangle 15"/>
          <p:cNvSpPr>
            <a:spLocks noChangeArrowheads="1"/>
          </p:cNvSpPr>
          <p:nvPr/>
        </p:nvSpPr>
        <p:spPr bwMode="auto">
          <a:xfrm>
            <a:off x="5029200" y="4495800"/>
            <a:ext cx="1143000" cy="762000"/>
          </a:xfrm>
          <a:prstGeom prst="rect">
            <a:avLst/>
          </a:prstGeom>
          <a:solidFill>
            <a:schemeClr val="accent1"/>
          </a:solidFill>
          <a:ln w="9525">
            <a:noFill/>
            <a:miter lim="800000"/>
            <a:headEnd/>
            <a:tailEnd/>
          </a:ln>
          <a:effectLst/>
        </p:spPr>
        <p:txBody>
          <a:bodyPr wrap="none" lIns="92075" tIns="46038" rIns="92075" bIns="46038" anchor="ctr"/>
          <a:lstStyle/>
          <a:p>
            <a:pPr algn="ctr" rtl="0">
              <a:defRPr/>
            </a:pPr>
            <a:r>
              <a:rPr lang="en-US">
                <a:solidFill>
                  <a:schemeClr val="bg2"/>
                </a:solidFill>
                <a:effectLst>
                  <a:outerShdw blurRad="38100" dist="38100" dir="2700000" algn="tl">
                    <a:srgbClr val="000000"/>
                  </a:outerShdw>
                </a:effectLst>
                <a:latin typeface="Arial" pitchFamily="34" charset="0"/>
                <a:cs typeface="Times New Roman" pitchFamily="18" charset="0"/>
              </a:rPr>
              <a:t>Audio</a:t>
            </a:r>
          </a:p>
        </p:txBody>
      </p:sp>
      <p:sp>
        <p:nvSpPr>
          <p:cNvPr id="58384" name="Rectangle 16"/>
          <p:cNvSpPr>
            <a:spLocks noChangeArrowheads="1"/>
          </p:cNvSpPr>
          <p:nvPr/>
        </p:nvSpPr>
        <p:spPr bwMode="auto">
          <a:xfrm>
            <a:off x="6248400" y="5334000"/>
            <a:ext cx="1143000" cy="762000"/>
          </a:xfrm>
          <a:prstGeom prst="rect">
            <a:avLst/>
          </a:prstGeom>
          <a:solidFill>
            <a:schemeClr val="accent1"/>
          </a:solidFill>
          <a:ln w="9525">
            <a:noFill/>
            <a:miter lim="800000"/>
            <a:headEnd/>
            <a:tailEnd/>
          </a:ln>
          <a:effectLst/>
        </p:spPr>
        <p:txBody>
          <a:bodyPr wrap="none" lIns="92075" tIns="46038" rIns="92075" bIns="46038" anchor="ctr"/>
          <a:lstStyle/>
          <a:p>
            <a:pPr algn="ctr" rtl="0">
              <a:defRPr/>
            </a:pPr>
            <a:r>
              <a:rPr lang="en-US">
                <a:solidFill>
                  <a:schemeClr val="bg2"/>
                </a:solidFill>
                <a:effectLst>
                  <a:outerShdw blurRad="38100" dist="38100" dir="2700000" algn="tl">
                    <a:srgbClr val="000000"/>
                  </a:outerShdw>
                </a:effectLst>
                <a:latin typeface="Arial" pitchFamily="34" charset="0"/>
                <a:cs typeface="Times New Roman" pitchFamily="18" charset="0"/>
              </a:rPr>
              <a:t>Video</a:t>
            </a:r>
          </a:p>
        </p:txBody>
      </p:sp>
      <p:sp>
        <p:nvSpPr>
          <p:cNvPr id="58385" name="Rectangle 17"/>
          <p:cNvSpPr>
            <a:spLocks noChangeArrowheads="1"/>
          </p:cNvSpPr>
          <p:nvPr/>
        </p:nvSpPr>
        <p:spPr bwMode="auto">
          <a:xfrm>
            <a:off x="2438400" y="2819400"/>
            <a:ext cx="1295400" cy="762000"/>
          </a:xfrm>
          <a:prstGeom prst="rect">
            <a:avLst/>
          </a:prstGeom>
          <a:solidFill>
            <a:schemeClr val="accent1"/>
          </a:solidFill>
          <a:ln w="9525">
            <a:noFill/>
            <a:miter lim="800000"/>
            <a:headEnd/>
            <a:tailEnd/>
          </a:ln>
          <a:effectLst/>
        </p:spPr>
        <p:txBody>
          <a:bodyPr wrap="none" lIns="92075" tIns="46038" rIns="92075" bIns="46038" anchor="ctr"/>
          <a:lstStyle/>
          <a:p>
            <a:pPr algn="ctr" rtl="0">
              <a:defRPr/>
            </a:pPr>
            <a:r>
              <a:rPr lang="en-US">
                <a:solidFill>
                  <a:schemeClr val="bg2"/>
                </a:solidFill>
                <a:effectLst>
                  <a:outerShdw blurRad="38100" dist="38100" dir="2700000" algn="tl">
                    <a:srgbClr val="000000"/>
                  </a:outerShdw>
                </a:effectLst>
                <a:latin typeface="Arial" pitchFamily="34" charset="0"/>
                <a:cs typeface="Times New Roman" pitchFamily="18" charset="0"/>
              </a:rPr>
              <a:t>Numbers</a:t>
            </a:r>
          </a:p>
        </p:txBody>
      </p:sp>
      <p:sp>
        <p:nvSpPr>
          <p:cNvPr id="58386" name="Rectangle 18"/>
          <p:cNvSpPr>
            <a:spLocks noChangeArrowheads="1"/>
          </p:cNvSpPr>
          <p:nvPr/>
        </p:nvSpPr>
        <p:spPr bwMode="auto">
          <a:xfrm>
            <a:off x="3886200" y="3581400"/>
            <a:ext cx="1143000" cy="762000"/>
          </a:xfrm>
          <a:prstGeom prst="rect">
            <a:avLst/>
          </a:prstGeom>
          <a:solidFill>
            <a:schemeClr val="accent1"/>
          </a:solidFill>
          <a:ln w="9525">
            <a:noFill/>
            <a:miter lim="800000"/>
            <a:headEnd/>
            <a:tailEnd/>
          </a:ln>
          <a:effectLst/>
        </p:spPr>
        <p:txBody>
          <a:bodyPr wrap="none" lIns="92075" tIns="46038" rIns="92075" bIns="46038" anchor="ctr"/>
          <a:lstStyle/>
          <a:p>
            <a:pPr algn="ctr" rtl="0">
              <a:defRPr/>
            </a:pPr>
            <a:r>
              <a:rPr lang="en-US">
                <a:solidFill>
                  <a:schemeClr val="bg2"/>
                </a:solidFill>
                <a:effectLst>
                  <a:outerShdw blurRad="38100" dist="38100" dir="2700000" algn="tl">
                    <a:srgbClr val="000000"/>
                  </a:outerShdw>
                </a:effectLst>
                <a:latin typeface="Arial" pitchFamily="34" charset="0"/>
                <a:cs typeface="Times New Roman" pitchFamily="18" charset="0"/>
              </a:rPr>
              <a:t>Images</a:t>
            </a:r>
          </a:p>
        </p:txBody>
      </p:sp>
    </p:spTree>
    <p:extLst>
      <p:ext uri="{BB962C8B-B14F-4D97-AF65-F5344CB8AC3E}">
        <p14:creationId xmlns:p14="http://schemas.microsoft.com/office/powerpoint/2010/main" val="2992472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85"/>
                                        </p:tgtEl>
                                        <p:attrNameLst>
                                          <p:attrName>style.visibility</p:attrName>
                                        </p:attrNameLst>
                                      </p:cBhvr>
                                      <p:to>
                                        <p:strVal val="visible"/>
                                      </p:to>
                                    </p:set>
                                    <p:animEffect transition="in" filter="blinds(horizontal)">
                                      <p:cBhvr>
                                        <p:cTn id="7" dur="500"/>
                                        <p:tgtEl>
                                          <p:spTgt spid="583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386"/>
                                        </p:tgtEl>
                                        <p:attrNameLst>
                                          <p:attrName>style.visibility</p:attrName>
                                        </p:attrNameLst>
                                      </p:cBhvr>
                                      <p:to>
                                        <p:strVal val="visible"/>
                                      </p:to>
                                    </p:set>
                                    <p:animEffect transition="in" filter="checkerboard(across)">
                                      <p:cBhvr>
                                        <p:cTn id="12" dur="500"/>
                                        <p:tgtEl>
                                          <p:spTgt spid="583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8383"/>
                                        </p:tgtEl>
                                        <p:attrNameLst>
                                          <p:attrName>style.visibility</p:attrName>
                                        </p:attrNameLst>
                                      </p:cBhvr>
                                      <p:to>
                                        <p:strVal val="visible"/>
                                      </p:to>
                                    </p:set>
                                    <p:animEffect transition="in" filter="diamond(in)">
                                      <p:cBhvr>
                                        <p:cTn id="17" dur="2000"/>
                                        <p:tgtEl>
                                          <p:spTgt spid="583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8384"/>
                                        </p:tgtEl>
                                        <p:attrNameLst>
                                          <p:attrName>style.visibility</p:attrName>
                                        </p:attrNameLst>
                                      </p:cBhvr>
                                      <p:to>
                                        <p:strVal val="visible"/>
                                      </p:to>
                                    </p:set>
                                    <p:animEffect transition="in" filter="box(in)">
                                      <p:cBhvr>
                                        <p:cTn id="22" dur="500"/>
                                        <p:tgtEl>
                                          <p:spTgt spid="58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83" grpId="0" animBg="1"/>
      <p:bldP spid="58384" grpId="0" animBg="1"/>
      <p:bldP spid="58385" grpId="0" animBg="1"/>
      <p:bldP spid="5838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defRPr/>
            </a:pPr>
            <a:r>
              <a:rPr lang="en-US"/>
              <a:t>Data Representation</a:t>
            </a:r>
          </a:p>
        </p:txBody>
      </p:sp>
      <p:sp>
        <p:nvSpPr>
          <p:cNvPr id="147464" name="Rectangle 8"/>
          <p:cNvSpPr>
            <a:spLocks noGrp="1" noChangeArrowheads="1"/>
          </p:cNvSpPr>
          <p:nvPr>
            <p:ph type="body" idx="1"/>
          </p:nvPr>
        </p:nvSpPr>
        <p:spPr/>
        <p:txBody>
          <a:bodyPr/>
          <a:lstStyle/>
          <a:p>
            <a:pPr eaLnBrk="1" hangingPunct="1"/>
            <a:r>
              <a:rPr lang="en-US">
                <a:solidFill>
                  <a:srgbClr val="CC0000"/>
                </a:solidFill>
              </a:rPr>
              <a:t>Text</a:t>
            </a:r>
            <a:r>
              <a:rPr lang="en-US"/>
              <a:t>: </a:t>
            </a:r>
          </a:p>
          <a:p>
            <a:pPr lvl="1" eaLnBrk="1" hangingPunct="1"/>
            <a:r>
              <a:rPr lang="en-US"/>
              <a:t>Sequence of bits (</a:t>
            </a:r>
            <a:r>
              <a:rPr lang="en-US">
                <a:solidFill>
                  <a:srgbClr val="3333FF"/>
                </a:solidFill>
              </a:rPr>
              <a:t>0</a:t>
            </a:r>
            <a:r>
              <a:rPr lang="en-US"/>
              <a:t>s or </a:t>
            </a:r>
            <a:r>
              <a:rPr lang="en-US">
                <a:solidFill>
                  <a:srgbClr val="3333FF"/>
                </a:solidFill>
              </a:rPr>
              <a:t>1</a:t>
            </a:r>
            <a:r>
              <a:rPr lang="en-US"/>
              <a:t>s)</a:t>
            </a:r>
          </a:p>
          <a:p>
            <a:pPr lvl="1" eaLnBrk="1" hangingPunct="1"/>
            <a:r>
              <a:rPr lang="en-US"/>
              <a:t>Different sets of patterns to represent text symbols (each set is called: </a:t>
            </a:r>
            <a:r>
              <a:rPr lang="en-US" i="1">
                <a:solidFill>
                  <a:srgbClr val="3333FF"/>
                </a:solidFill>
              </a:rPr>
              <a:t>code</a:t>
            </a:r>
            <a:r>
              <a:rPr lang="en-US"/>
              <a:t>)</a:t>
            </a:r>
          </a:p>
          <a:p>
            <a:pPr lvl="1" eaLnBrk="1" hangingPunct="1"/>
            <a:r>
              <a:rPr lang="en-US"/>
              <a:t>ASCII: 7 bits (128 symbols)</a:t>
            </a:r>
          </a:p>
          <a:p>
            <a:pPr lvl="1" eaLnBrk="1" hangingPunct="1"/>
            <a:r>
              <a:rPr lang="en-US"/>
              <a:t>common coding system today is:</a:t>
            </a:r>
          </a:p>
          <a:p>
            <a:pPr lvl="1" eaLnBrk="1" hangingPunct="1"/>
            <a:r>
              <a:rPr lang="en-US"/>
              <a:t>Unicode uses: </a:t>
            </a:r>
            <a:r>
              <a:rPr lang="en-US">
                <a:solidFill>
                  <a:srgbClr val="3333FF"/>
                </a:solidFill>
              </a:rPr>
              <a:t>32 bits</a:t>
            </a:r>
            <a:r>
              <a:rPr lang="en-US"/>
              <a:t> to represent a symbol or character in any language</a:t>
            </a:r>
          </a:p>
        </p:txBody>
      </p:sp>
      <p:sp>
        <p:nvSpPr>
          <p:cNvPr id="147465" name="Text Box 9"/>
          <p:cNvSpPr txBox="1">
            <a:spLocks noChangeArrowheads="1"/>
          </p:cNvSpPr>
          <p:nvPr/>
        </p:nvSpPr>
        <p:spPr bwMode="auto">
          <a:xfrm>
            <a:off x="6383338" y="4086225"/>
            <a:ext cx="1536700" cy="503238"/>
          </a:xfrm>
          <a:prstGeom prst="rect">
            <a:avLst/>
          </a:prstGeom>
          <a:noFill/>
          <a:ln w="9525">
            <a:noFill/>
            <a:miter lim="800000"/>
            <a:headEnd/>
            <a:tailEnd/>
          </a:ln>
          <a:effectLst/>
        </p:spPr>
        <p:txBody>
          <a:bodyPr wrap="none" lIns="92075" tIns="46038" rIns="92075" bIns="46038" anchor="b">
            <a:spAutoFit/>
          </a:bodyPr>
          <a:lstStyle/>
          <a:p>
            <a:pPr>
              <a:defRPr/>
            </a:pPr>
            <a:r>
              <a:rPr lang="en-US" sz="2700" b="1">
                <a:solidFill>
                  <a:srgbClr val="3333FF"/>
                </a:solidFill>
                <a:effectLst>
                  <a:outerShdw blurRad="38100" dist="38100" dir="2700000" algn="tl">
                    <a:srgbClr val="C0C0C0"/>
                  </a:outerShdw>
                </a:effectLst>
                <a:latin typeface="Arial" pitchFamily="34" charset="0"/>
                <a:cs typeface="Arial" pitchFamily="34" charset="0"/>
              </a:rPr>
              <a:t>Unicode</a:t>
            </a:r>
          </a:p>
        </p:txBody>
      </p:sp>
      <p:sp>
        <p:nvSpPr>
          <p:cNvPr id="147466" name="Text Box 10"/>
          <p:cNvSpPr txBox="1">
            <a:spLocks noChangeArrowheads="1"/>
          </p:cNvSpPr>
          <p:nvPr/>
        </p:nvSpPr>
        <p:spPr bwMode="auto">
          <a:xfrm>
            <a:off x="5257800" y="4983163"/>
            <a:ext cx="26035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b">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algn="r" rtl="1" eaLnBrk="0" fontAlgn="base" hangingPunct="0">
              <a:spcBef>
                <a:spcPct val="0"/>
              </a:spcBef>
              <a:spcAft>
                <a:spcPct val="0"/>
              </a:spcAft>
              <a:defRPr sz="2400">
                <a:solidFill>
                  <a:schemeClr val="tx1"/>
                </a:solidFill>
                <a:latin typeface="Arial" charset="0"/>
                <a:cs typeface="Arial" charset="0"/>
              </a:defRPr>
            </a:lvl6pPr>
            <a:lvl7pPr marL="2971800" indent="-228600" algn="r" rtl="1" eaLnBrk="0" fontAlgn="base" hangingPunct="0">
              <a:spcBef>
                <a:spcPct val="0"/>
              </a:spcBef>
              <a:spcAft>
                <a:spcPct val="0"/>
              </a:spcAft>
              <a:defRPr sz="2400">
                <a:solidFill>
                  <a:schemeClr val="tx1"/>
                </a:solidFill>
                <a:latin typeface="Arial" charset="0"/>
                <a:cs typeface="Arial" charset="0"/>
              </a:defRPr>
            </a:lvl7pPr>
            <a:lvl8pPr marL="3429000" indent="-228600" algn="r" rtl="1" eaLnBrk="0" fontAlgn="base" hangingPunct="0">
              <a:spcBef>
                <a:spcPct val="0"/>
              </a:spcBef>
              <a:spcAft>
                <a:spcPct val="0"/>
              </a:spcAft>
              <a:defRPr sz="2400">
                <a:solidFill>
                  <a:schemeClr val="tx1"/>
                </a:solidFill>
                <a:latin typeface="Arial" charset="0"/>
                <a:cs typeface="Arial" charset="0"/>
              </a:defRPr>
            </a:lvl8pPr>
            <a:lvl9pPr marL="3886200" indent="-228600" algn="r" rtl="1" eaLnBrk="0" fontAlgn="base" hangingPunct="0">
              <a:spcBef>
                <a:spcPct val="0"/>
              </a:spcBef>
              <a:spcAft>
                <a:spcPct val="0"/>
              </a:spcAft>
              <a:defRPr sz="2400">
                <a:solidFill>
                  <a:schemeClr val="tx1"/>
                </a:solidFill>
                <a:latin typeface="Arial" charset="0"/>
                <a:cs typeface="Arial" charset="0"/>
              </a:defRPr>
            </a:lvl9pPr>
          </a:lstStyle>
          <a:p>
            <a:pPr algn="l" rtl="0" eaLnBrk="1" hangingPunct="1"/>
            <a:r>
              <a:rPr lang="en-US" sz="2700"/>
              <a:t>(4,294,967,296)</a:t>
            </a:r>
          </a:p>
        </p:txBody>
      </p:sp>
      <p:pic>
        <p:nvPicPr>
          <p:cNvPr id="14746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5638800"/>
            <a:ext cx="7373938"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078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64">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53" presetClass="entr" presetSubtype="0" fill="hold" nodeType="afterEffect">
                                  <p:stCondLst>
                                    <p:cond delay="0"/>
                                  </p:stCondLst>
                                  <p:childTnLst>
                                    <p:set>
                                      <p:cBhvr>
                                        <p:cTn id="9" dur="1" fill="hold">
                                          <p:stCondLst>
                                            <p:cond delay="0"/>
                                          </p:stCondLst>
                                        </p:cTn>
                                        <p:tgtEl>
                                          <p:spTgt spid="147468"/>
                                        </p:tgtEl>
                                        <p:attrNameLst>
                                          <p:attrName>style.visibility</p:attrName>
                                        </p:attrNameLst>
                                      </p:cBhvr>
                                      <p:to>
                                        <p:strVal val="visible"/>
                                      </p:to>
                                    </p:set>
                                    <p:anim calcmode="lin" valueType="num">
                                      <p:cBhvr>
                                        <p:cTn id="10" dur="3000" fill="hold"/>
                                        <p:tgtEl>
                                          <p:spTgt spid="147468"/>
                                        </p:tgtEl>
                                        <p:attrNameLst>
                                          <p:attrName>ppt_w</p:attrName>
                                        </p:attrNameLst>
                                      </p:cBhvr>
                                      <p:tavLst>
                                        <p:tav tm="0">
                                          <p:val>
                                            <p:fltVal val="0"/>
                                          </p:val>
                                        </p:tav>
                                        <p:tav tm="100000">
                                          <p:val>
                                            <p:strVal val="#ppt_w"/>
                                          </p:val>
                                        </p:tav>
                                      </p:tavLst>
                                    </p:anim>
                                    <p:anim calcmode="lin" valueType="num">
                                      <p:cBhvr>
                                        <p:cTn id="11" dur="3000" fill="hold"/>
                                        <p:tgtEl>
                                          <p:spTgt spid="147468"/>
                                        </p:tgtEl>
                                        <p:attrNameLst>
                                          <p:attrName>ppt_h</p:attrName>
                                        </p:attrNameLst>
                                      </p:cBhvr>
                                      <p:tavLst>
                                        <p:tav tm="0">
                                          <p:val>
                                            <p:fltVal val="0"/>
                                          </p:val>
                                        </p:tav>
                                        <p:tav tm="100000">
                                          <p:val>
                                            <p:strVal val="#ppt_h"/>
                                          </p:val>
                                        </p:tav>
                                      </p:tavLst>
                                    </p:anim>
                                    <p:animEffect transition="in" filter="fade">
                                      <p:cBhvr>
                                        <p:cTn id="12" dur="3000"/>
                                        <p:tgtEl>
                                          <p:spTgt spid="1474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7464">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7464">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7464">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147465"/>
                                        </p:tgtEl>
                                        <p:attrNameLst>
                                          <p:attrName>style.visibility</p:attrName>
                                        </p:attrNameLst>
                                      </p:cBhvr>
                                      <p:to>
                                        <p:strVal val="visible"/>
                                      </p:to>
                                    </p:set>
                                    <p:anim calcmode="lin" valueType="num">
                                      <p:cBhvr>
                                        <p:cTn id="29" dur="1000" fill="hold"/>
                                        <p:tgtEl>
                                          <p:spTgt spid="147465"/>
                                        </p:tgtEl>
                                        <p:attrNameLst>
                                          <p:attrName>ppt_w</p:attrName>
                                        </p:attrNameLst>
                                      </p:cBhvr>
                                      <p:tavLst>
                                        <p:tav tm="0">
                                          <p:val>
                                            <p:fltVal val="0"/>
                                          </p:val>
                                        </p:tav>
                                        <p:tav tm="100000">
                                          <p:val>
                                            <p:strVal val="#ppt_w"/>
                                          </p:val>
                                        </p:tav>
                                      </p:tavLst>
                                    </p:anim>
                                    <p:anim calcmode="lin" valueType="num">
                                      <p:cBhvr>
                                        <p:cTn id="30" dur="1000" fill="hold"/>
                                        <p:tgtEl>
                                          <p:spTgt spid="147465"/>
                                        </p:tgtEl>
                                        <p:attrNameLst>
                                          <p:attrName>ppt_h</p:attrName>
                                        </p:attrNameLst>
                                      </p:cBhvr>
                                      <p:tavLst>
                                        <p:tav tm="0">
                                          <p:val>
                                            <p:fltVal val="0"/>
                                          </p:val>
                                        </p:tav>
                                        <p:tav tm="100000">
                                          <p:val>
                                            <p:strVal val="#ppt_h"/>
                                          </p:val>
                                        </p:tav>
                                      </p:tavLst>
                                    </p:anim>
                                    <p:animEffect transition="in" filter="fade">
                                      <p:cBhvr>
                                        <p:cTn id="31" dur="1000"/>
                                        <p:tgtEl>
                                          <p:spTgt spid="14746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7464">
                                            <p:txEl>
                                              <p:pRg st="5" end="5"/>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grpId="0" nodeType="clickEffect">
                                  <p:stCondLst>
                                    <p:cond delay="0"/>
                                  </p:stCondLst>
                                  <p:childTnLst>
                                    <p:set>
                                      <p:cBhvr>
                                        <p:cTn id="39" dur="1" fill="hold">
                                          <p:stCondLst>
                                            <p:cond delay="0"/>
                                          </p:stCondLst>
                                        </p:cTn>
                                        <p:tgtEl>
                                          <p:spTgt spid="147466"/>
                                        </p:tgtEl>
                                        <p:attrNameLst>
                                          <p:attrName>style.visibility</p:attrName>
                                        </p:attrNameLst>
                                      </p:cBhvr>
                                      <p:to>
                                        <p:strVal val="visible"/>
                                      </p:to>
                                    </p:set>
                                    <p:anim calcmode="lin" valueType="num">
                                      <p:cBhvr>
                                        <p:cTn id="40" dur="1000" fill="hold"/>
                                        <p:tgtEl>
                                          <p:spTgt spid="147466"/>
                                        </p:tgtEl>
                                        <p:attrNameLst>
                                          <p:attrName>ppt_w</p:attrName>
                                        </p:attrNameLst>
                                      </p:cBhvr>
                                      <p:tavLst>
                                        <p:tav tm="0">
                                          <p:val>
                                            <p:fltVal val="0"/>
                                          </p:val>
                                        </p:tav>
                                        <p:tav tm="100000">
                                          <p:val>
                                            <p:strVal val="#ppt_w"/>
                                          </p:val>
                                        </p:tav>
                                      </p:tavLst>
                                    </p:anim>
                                    <p:anim calcmode="lin" valueType="num">
                                      <p:cBhvr>
                                        <p:cTn id="41" dur="1000" fill="hold"/>
                                        <p:tgtEl>
                                          <p:spTgt spid="147466"/>
                                        </p:tgtEl>
                                        <p:attrNameLst>
                                          <p:attrName>ppt_h</p:attrName>
                                        </p:attrNameLst>
                                      </p:cBhvr>
                                      <p:tavLst>
                                        <p:tav tm="0">
                                          <p:val>
                                            <p:fltVal val="0"/>
                                          </p:val>
                                        </p:tav>
                                        <p:tav tm="100000">
                                          <p:val>
                                            <p:strVal val="#ppt_h"/>
                                          </p:val>
                                        </p:tav>
                                      </p:tavLst>
                                    </p:anim>
                                    <p:animEffect transition="in" filter="fade">
                                      <p:cBhvr>
                                        <p:cTn id="42" dur="1000"/>
                                        <p:tgtEl>
                                          <p:spTgt spid="147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4" grpId="0" build="p"/>
      <p:bldP spid="147465" grpId="0"/>
      <p:bldP spid="1474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eaLnBrk="1" hangingPunct="1">
              <a:defRPr/>
            </a:pPr>
            <a:r>
              <a:rPr lang="en-US"/>
              <a:t>Data Representation</a:t>
            </a:r>
          </a:p>
        </p:txBody>
      </p:sp>
      <p:sp>
        <p:nvSpPr>
          <p:cNvPr id="22531" name="Rectangle 3"/>
          <p:cNvSpPr>
            <a:spLocks noGrp="1" noChangeArrowheads="1"/>
          </p:cNvSpPr>
          <p:nvPr>
            <p:ph type="body" idx="1"/>
          </p:nvPr>
        </p:nvSpPr>
        <p:spPr/>
        <p:txBody>
          <a:bodyPr/>
          <a:lstStyle/>
          <a:p>
            <a:pPr eaLnBrk="1" hangingPunct="1"/>
            <a:r>
              <a:rPr lang="en-US">
                <a:solidFill>
                  <a:srgbClr val="CC0000"/>
                </a:solidFill>
              </a:rPr>
              <a:t>Numbers</a:t>
            </a:r>
            <a:r>
              <a:rPr lang="en-US"/>
              <a:t>: </a:t>
            </a:r>
          </a:p>
          <a:p>
            <a:pPr lvl="1" eaLnBrk="1" hangingPunct="1"/>
            <a:r>
              <a:rPr lang="en-US"/>
              <a:t>Represented by bit patterns</a:t>
            </a:r>
          </a:p>
          <a:p>
            <a:pPr lvl="1" eaLnBrk="1" hangingPunct="1"/>
            <a:r>
              <a:rPr lang="en-US"/>
              <a:t>The number is directly converted to a </a:t>
            </a:r>
            <a:r>
              <a:rPr lang="en-US">
                <a:solidFill>
                  <a:srgbClr val="3333FF"/>
                </a:solidFill>
              </a:rPr>
              <a:t>binary</a:t>
            </a:r>
            <a:r>
              <a:rPr lang="en-US"/>
              <a:t> number</a:t>
            </a:r>
          </a:p>
        </p:txBody>
      </p:sp>
    </p:spTree>
    <p:extLst>
      <p:ext uri="{BB962C8B-B14F-4D97-AF65-F5344CB8AC3E}">
        <p14:creationId xmlns:p14="http://schemas.microsoft.com/office/powerpoint/2010/main" val="2904120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eaLnBrk="1" hangingPunct="1">
              <a:defRPr/>
            </a:pPr>
            <a:r>
              <a:rPr lang="en-US"/>
              <a:t>Data Representation</a:t>
            </a:r>
          </a:p>
        </p:txBody>
      </p:sp>
      <p:sp>
        <p:nvSpPr>
          <p:cNvPr id="151555" name="Rectangle 3"/>
          <p:cNvSpPr>
            <a:spLocks noGrp="1" noChangeArrowheads="1"/>
          </p:cNvSpPr>
          <p:nvPr>
            <p:ph type="body" idx="1"/>
          </p:nvPr>
        </p:nvSpPr>
        <p:spPr/>
        <p:txBody>
          <a:bodyPr/>
          <a:lstStyle/>
          <a:p>
            <a:pPr eaLnBrk="1" hangingPunct="1"/>
            <a:r>
              <a:rPr lang="en-US">
                <a:solidFill>
                  <a:srgbClr val="CC0000"/>
                </a:solidFill>
              </a:rPr>
              <a:t>Images</a:t>
            </a:r>
            <a:r>
              <a:rPr lang="en-US"/>
              <a:t>: </a:t>
            </a:r>
          </a:p>
          <a:p>
            <a:pPr lvl="1" eaLnBrk="1" hangingPunct="1"/>
            <a:r>
              <a:rPr lang="en-US"/>
              <a:t>Represented by bit patterns</a:t>
            </a:r>
          </a:p>
          <a:p>
            <a:pPr lvl="1" eaLnBrk="1" hangingPunct="1"/>
            <a:r>
              <a:rPr lang="en-US"/>
              <a:t>A matrix of</a:t>
            </a:r>
            <a:endParaRPr lang="en-US">
              <a:solidFill>
                <a:srgbClr val="3333FF"/>
              </a:solidFill>
            </a:endParaRPr>
          </a:p>
          <a:p>
            <a:pPr lvl="1" eaLnBrk="1" hangingPunct="1"/>
            <a:r>
              <a:rPr lang="en-US"/>
              <a:t>Resolution: size of the pixels</a:t>
            </a:r>
          </a:p>
          <a:p>
            <a:pPr lvl="1" eaLnBrk="1" hangingPunct="1"/>
            <a:r>
              <a:rPr lang="en-US"/>
              <a:t>High resolution: more memory is needed</a:t>
            </a:r>
          </a:p>
          <a:p>
            <a:pPr lvl="1" eaLnBrk="1" hangingPunct="1"/>
            <a:r>
              <a:rPr lang="en-US"/>
              <a:t>Each pixel is assigned a bit pattern</a:t>
            </a:r>
          </a:p>
          <a:p>
            <a:pPr lvl="2" eaLnBrk="1" hangingPunct="1"/>
            <a:r>
              <a:rPr lang="en-US"/>
              <a:t>1-bit pattern (black and white dots image)</a:t>
            </a:r>
          </a:p>
          <a:p>
            <a:pPr lvl="2" eaLnBrk="1" hangingPunct="1"/>
            <a:r>
              <a:rPr lang="en-US"/>
              <a:t>2-bit pattern (4 levels of gray)</a:t>
            </a:r>
          </a:p>
          <a:p>
            <a:pPr lvl="2" eaLnBrk="1" hangingPunct="1"/>
            <a:r>
              <a:rPr lang="en-US">
                <a:solidFill>
                  <a:srgbClr val="FF0000"/>
                </a:solidFill>
              </a:rPr>
              <a:t>R</a:t>
            </a:r>
            <a:r>
              <a:rPr lang="en-US">
                <a:solidFill>
                  <a:srgbClr val="008000"/>
                </a:solidFill>
              </a:rPr>
              <a:t>G</a:t>
            </a:r>
            <a:r>
              <a:rPr lang="en-US">
                <a:solidFill>
                  <a:srgbClr val="3333FF"/>
                </a:solidFill>
              </a:rPr>
              <a:t>B</a:t>
            </a:r>
            <a:r>
              <a:rPr lang="en-US"/>
              <a:t> (color images)</a:t>
            </a:r>
          </a:p>
        </p:txBody>
      </p:sp>
      <p:sp>
        <p:nvSpPr>
          <p:cNvPr id="151556" name="Text Box 4"/>
          <p:cNvSpPr txBox="1">
            <a:spLocks noChangeArrowheads="1"/>
          </p:cNvSpPr>
          <p:nvPr/>
        </p:nvSpPr>
        <p:spPr bwMode="auto">
          <a:xfrm>
            <a:off x="2976563" y="2643188"/>
            <a:ext cx="10604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b">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algn="r" rtl="1" eaLnBrk="0" fontAlgn="base" hangingPunct="0">
              <a:spcBef>
                <a:spcPct val="0"/>
              </a:spcBef>
              <a:spcAft>
                <a:spcPct val="0"/>
              </a:spcAft>
              <a:defRPr sz="2400">
                <a:solidFill>
                  <a:schemeClr val="tx1"/>
                </a:solidFill>
                <a:latin typeface="Arial" charset="0"/>
                <a:cs typeface="Arial" charset="0"/>
              </a:defRPr>
            </a:lvl6pPr>
            <a:lvl7pPr marL="2971800" indent="-228600" algn="r" rtl="1" eaLnBrk="0" fontAlgn="base" hangingPunct="0">
              <a:spcBef>
                <a:spcPct val="0"/>
              </a:spcBef>
              <a:spcAft>
                <a:spcPct val="0"/>
              </a:spcAft>
              <a:defRPr sz="2400">
                <a:solidFill>
                  <a:schemeClr val="tx1"/>
                </a:solidFill>
                <a:latin typeface="Arial" charset="0"/>
                <a:cs typeface="Arial" charset="0"/>
              </a:defRPr>
            </a:lvl7pPr>
            <a:lvl8pPr marL="3429000" indent="-228600" algn="r" rtl="1" eaLnBrk="0" fontAlgn="base" hangingPunct="0">
              <a:spcBef>
                <a:spcPct val="0"/>
              </a:spcBef>
              <a:spcAft>
                <a:spcPct val="0"/>
              </a:spcAft>
              <a:defRPr sz="2400">
                <a:solidFill>
                  <a:schemeClr val="tx1"/>
                </a:solidFill>
                <a:latin typeface="Arial" charset="0"/>
                <a:cs typeface="Arial" charset="0"/>
              </a:defRPr>
            </a:lvl8pPr>
            <a:lvl9pPr marL="3886200" indent="-228600" algn="r" rtl="1"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2700">
                <a:solidFill>
                  <a:srgbClr val="3333FF"/>
                </a:solidFill>
              </a:rPr>
              <a:t>pixels</a:t>
            </a:r>
          </a:p>
        </p:txBody>
      </p:sp>
    </p:spTree>
    <p:extLst>
      <p:ext uri="{BB962C8B-B14F-4D97-AF65-F5344CB8AC3E}">
        <p14:creationId xmlns:p14="http://schemas.microsoft.com/office/powerpoint/2010/main" val="861186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151556"/>
                                        </p:tgtEl>
                                        <p:attrNameLst>
                                          <p:attrName>style.visibility</p:attrName>
                                        </p:attrNameLst>
                                      </p:cBhvr>
                                      <p:to>
                                        <p:strVal val="visible"/>
                                      </p:to>
                                    </p:set>
                                    <p:anim calcmode="lin" valueType="num">
                                      <p:cBhvr>
                                        <p:cTn id="15" dur="1000" fill="hold"/>
                                        <p:tgtEl>
                                          <p:spTgt spid="151556"/>
                                        </p:tgtEl>
                                        <p:attrNameLst>
                                          <p:attrName>ppt_w</p:attrName>
                                        </p:attrNameLst>
                                      </p:cBhvr>
                                      <p:tavLst>
                                        <p:tav tm="0">
                                          <p:val>
                                            <p:fltVal val="0"/>
                                          </p:val>
                                        </p:tav>
                                        <p:tav tm="100000">
                                          <p:val>
                                            <p:strVal val="#ppt_w"/>
                                          </p:val>
                                        </p:tav>
                                      </p:tavLst>
                                    </p:anim>
                                    <p:anim calcmode="lin" valueType="num">
                                      <p:cBhvr>
                                        <p:cTn id="16" dur="1000" fill="hold"/>
                                        <p:tgtEl>
                                          <p:spTgt spid="151556"/>
                                        </p:tgtEl>
                                        <p:attrNameLst>
                                          <p:attrName>ppt_h</p:attrName>
                                        </p:attrNameLst>
                                      </p:cBhvr>
                                      <p:tavLst>
                                        <p:tav tm="0">
                                          <p:val>
                                            <p:fltVal val="0"/>
                                          </p:val>
                                        </p:tav>
                                        <p:tav tm="100000">
                                          <p:val>
                                            <p:strVal val="#ppt_h"/>
                                          </p:val>
                                        </p:tav>
                                      </p:tavLst>
                                    </p:anim>
                                    <p:animEffect transition="in" filter="fade">
                                      <p:cBhvr>
                                        <p:cTn id="17" dur="1000"/>
                                        <p:tgtEl>
                                          <p:spTgt spid="151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51555">
                                            <p:txEl>
                                              <p:pRg st="3" end="3"/>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1555">
                                            <p:txEl>
                                              <p:pRg st="4" end="4"/>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1555">
                                            <p:txEl>
                                              <p:pRg st="7" end="7"/>
                                            </p:txEl>
                                          </p:spTgt>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1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P spid="15155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eaLnBrk="1" hangingPunct="1">
              <a:defRPr/>
            </a:pPr>
            <a:r>
              <a:rPr lang="en-US"/>
              <a:t>Data Representation</a:t>
            </a:r>
          </a:p>
        </p:txBody>
      </p:sp>
      <p:sp>
        <p:nvSpPr>
          <p:cNvPr id="24579" name="Rectangle 3"/>
          <p:cNvSpPr>
            <a:spLocks noGrp="1" noChangeArrowheads="1"/>
          </p:cNvSpPr>
          <p:nvPr>
            <p:ph type="body" idx="1"/>
          </p:nvPr>
        </p:nvSpPr>
        <p:spPr/>
        <p:txBody>
          <a:bodyPr/>
          <a:lstStyle/>
          <a:p>
            <a:pPr eaLnBrk="1" hangingPunct="1"/>
            <a:r>
              <a:rPr lang="en-US">
                <a:solidFill>
                  <a:srgbClr val="CC0000"/>
                </a:solidFill>
              </a:rPr>
              <a:t>Audio</a:t>
            </a:r>
            <a:r>
              <a:rPr lang="en-US"/>
              <a:t>:</a:t>
            </a:r>
          </a:p>
          <a:p>
            <a:pPr lvl="1" eaLnBrk="1" hangingPunct="1"/>
            <a:r>
              <a:rPr lang="en-US"/>
              <a:t>Continuous not discrete</a:t>
            </a:r>
          </a:p>
          <a:p>
            <a:pPr lvl="1" eaLnBrk="1" hangingPunct="1"/>
            <a:r>
              <a:rPr lang="en-US"/>
              <a:t>Change to digital signal</a:t>
            </a:r>
          </a:p>
          <a:p>
            <a:pPr eaLnBrk="1" hangingPunct="1"/>
            <a:r>
              <a:rPr lang="en-US">
                <a:solidFill>
                  <a:srgbClr val="CC0000"/>
                </a:solidFill>
              </a:rPr>
              <a:t>Video</a:t>
            </a:r>
            <a:r>
              <a:rPr lang="en-US"/>
              <a:t>:</a:t>
            </a:r>
          </a:p>
          <a:p>
            <a:pPr lvl="1" eaLnBrk="1" hangingPunct="1"/>
            <a:r>
              <a:rPr lang="en-US"/>
              <a:t>Recording or broadcasting of a picture or movie</a:t>
            </a:r>
          </a:p>
          <a:p>
            <a:pPr lvl="1" eaLnBrk="1" hangingPunct="1"/>
            <a:r>
              <a:rPr lang="en-US"/>
              <a:t>Change to digital signal</a:t>
            </a:r>
          </a:p>
          <a:p>
            <a:pPr lvl="1" eaLnBrk="1" hangingPunct="1"/>
            <a:endParaRPr lang="en-US"/>
          </a:p>
        </p:txBody>
      </p:sp>
    </p:spTree>
    <p:extLst>
      <p:ext uri="{BB962C8B-B14F-4D97-AF65-F5344CB8AC3E}">
        <p14:creationId xmlns:p14="http://schemas.microsoft.com/office/powerpoint/2010/main" val="2489920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a:t>Data Flow</a:t>
            </a:r>
            <a:endParaRPr lang="en-US"/>
          </a:p>
        </p:txBody>
      </p:sp>
      <p:sp>
        <p:nvSpPr>
          <p:cNvPr id="25603" name="Rectangle 3"/>
          <p:cNvSpPr>
            <a:spLocks noGrp="1" noChangeArrowheads="1"/>
          </p:cNvSpPr>
          <p:nvPr>
            <p:ph type="body" idx="1"/>
          </p:nvPr>
        </p:nvSpPr>
        <p:spPr/>
        <p:txBody>
          <a:bodyPr/>
          <a:lstStyle/>
          <a:p>
            <a:pPr eaLnBrk="1" hangingPunct="1"/>
            <a:r>
              <a:rPr lang="en-GB" sz="2800"/>
              <a:t>Communication between two devices can be:</a:t>
            </a:r>
          </a:p>
          <a:p>
            <a:pPr lvl="1" eaLnBrk="1" hangingPunct="1">
              <a:buClr>
                <a:schemeClr val="tx2"/>
              </a:buClr>
              <a:buSzPct val="60000"/>
            </a:pPr>
            <a:r>
              <a:rPr lang="en-GB" sz="2500"/>
              <a:t>Simplex</a:t>
            </a:r>
          </a:p>
          <a:p>
            <a:pPr lvl="1" eaLnBrk="1" hangingPunct="1">
              <a:buClr>
                <a:schemeClr val="tx2"/>
              </a:buClr>
              <a:buSzPct val="60000"/>
            </a:pPr>
            <a:r>
              <a:rPr lang="en-GB" sz="2500"/>
              <a:t>Half-Duplex</a:t>
            </a:r>
          </a:p>
          <a:p>
            <a:pPr lvl="1" eaLnBrk="1" hangingPunct="1">
              <a:buClr>
                <a:schemeClr val="tx2"/>
              </a:buClr>
              <a:buSzPct val="60000"/>
            </a:pPr>
            <a:r>
              <a:rPr lang="en-GB" sz="2500"/>
              <a:t>Full-Duplex</a:t>
            </a:r>
            <a:endParaRPr lang="en-US" sz="2500"/>
          </a:p>
        </p:txBody>
      </p:sp>
    </p:spTree>
    <p:extLst>
      <p:ext uri="{BB962C8B-B14F-4D97-AF65-F5344CB8AC3E}">
        <p14:creationId xmlns:p14="http://schemas.microsoft.com/office/powerpoint/2010/main" val="4097075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defRPr/>
            </a:pPr>
            <a:r>
              <a:rPr lang="en-GB"/>
              <a:t>Data Flow</a:t>
            </a:r>
            <a:endParaRPr lang="en-US"/>
          </a:p>
        </p:txBody>
      </p:sp>
      <p:sp>
        <p:nvSpPr>
          <p:cNvPr id="1028" name="Rectangle 3"/>
          <p:cNvSpPr>
            <a:spLocks noGrp="1" noChangeArrowheads="1"/>
          </p:cNvSpPr>
          <p:nvPr>
            <p:ph type="body" idx="1"/>
          </p:nvPr>
        </p:nvSpPr>
        <p:spPr/>
        <p:txBody>
          <a:bodyPr/>
          <a:lstStyle/>
          <a:p>
            <a:pPr eaLnBrk="1" hangingPunct="1"/>
            <a:r>
              <a:rPr lang="en-US">
                <a:solidFill>
                  <a:srgbClr val="3333FF"/>
                </a:solidFill>
              </a:rPr>
              <a:t>Simplex</a:t>
            </a:r>
            <a:r>
              <a:rPr lang="en-US"/>
              <a:t> </a:t>
            </a:r>
            <a:r>
              <a:rPr lang="en-US" sz="2000"/>
              <a:t>(one way street)</a:t>
            </a:r>
          </a:p>
          <a:p>
            <a:pPr lvl="1" eaLnBrk="1" hangingPunct="1">
              <a:buClr>
                <a:schemeClr val="tx2"/>
              </a:buClr>
              <a:buSzPct val="60000"/>
            </a:pPr>
            <a:r>
              <a:rPr lang="en-GB" sz="2500"/>
              <a:t>The communication is unidirectional</a:t>
            </a:r>
          </a:p>
          <a:p>
            <a:pPr lvl="1" eaLnBrk="1" hangingPunct="1">
              <a:buClr>
                <a:schemeClr val="tx2"/>
              </a:buClr>
              <a:buSzPct val="60000"/>
            </a:pPr>
            <a:r>
              <a:rPr lang="en-GB" sz="2500"/>
              <a:t>Only one device on a link can transmit; the other can only receive</a:t>
            </a:r>
          </a:p>
          <a:p>
            <a:pPr lvl="1" eaLnBrk="1" hangingPunct="1">
              <a:buClr>
                <a:schemeClr val="tx2"/>
              </a:buClr>
              <a:buSzPct val="60000"/>
            </a:pPr>
            <a:r>
              <a:rPr lang="en-GB" sz="2500"/>
              <a:t>Use the entire capacity of the channel to send data</a:t>
            </a:r>
          </a:p>
          <a:p>
            <a:pPr lvl="1" eaLnBrk="1" hangingPunct="1">
              <a:buClr>
                <a:schemeClr val="tx2"/>
              </a:buClr>
              <a:buSzPct val="60000"/>
            </a:pPr>
            <a:r>
              <a:rPr lang="en-GB" sz="2500"/>
              <a:t>Example: Keyboards, Monitors</a:t>
            </a:r>
            <a:endParaRPr lang="en-US" sz="2500"/>
          </a:p>
        </p:txBody>
      </p:sp>
      <p:graphicFrame>
        <p:nvGraphicFramePr>
          <p:cNvPr id="1026" name="Object 8"/>
          <p:cNvGraphicFramePr>
            <a:graphicFrameLocks noGrp="1" noChangeAspect="1"/>
          </p:cNvGraphicFramePr>
          <p:nvPr>
            <p:ph sz="half" idx="4294967295"/>
          </p:nvPr>
        </p:nvGraphicFramePr>
        <p:xfrm>
          <a:off x="1524000" y="5029200"/>
          <a:ext cx="6467475" cy="1436688"/>
        </p:xfrm>
        <a:graphic>
          <a:graphicData uri="http://schemas.openxmlformats.org/presentationml/2006/ole">
            <mc:AlternateContent xmlns:mc="http://schemas.openxmlformats.org/markup-compatibility/2006">
              <mc:Choice xmlns:v="urn:schemas-microsoft-com:vml" Requires="v">
                <p:oleObj spid="_x0000_s4104" name="Bitmap Image" r:id="rId3" imgW="5401429" imgH="1200318" progId="Paint.Picture">
                  <p:embed/>
                </p:oleObj>
              </mc:Choice>
              <mc:Fallback>
                <p:oleObj name="Bitmap Image" r:id="rId3" imgW="5401429" imgH="120031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029200"/>
                        <a:ext cx="6467475" cy="143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6687" name="Rectangle 15"/>
          <p:cNvSpPr>
            <a:spLocks noChangeArrowheads="1"/>
          </p:cNvSpPr>
          <p:nvPr/>
        </p:nvSpPr>
        <p:spPr bwMode="auto">
          <a:xfrm>
            <a:off x="2362200" y="52578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Tree>
    <p:extLst>
      <p:ext uri="{BB962C8B-B14F-4D97-AF65-F5344CB8AC3E}">
        <p14:creationId xmlns:p14="http://schemas.microsoft.com/office/powerpoint/2010/main" val="4241895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childTnLst>
                                    <p:animMotion origin="layout" path="M 3.33333E-6 3.395E-6 L 0.45833 3.395E-6 " pathEditMode="relative" rAng="0" ptsTypes="AA">
                                      <p:cBhvr>
                                        <p:cTn id="6" dur="5000" fill="hold"/>
                                        <p:tgtEl>
                                          <p:spTgt spid="156687"/>
                                        </p:tgtEl>
                                        <p:attrNameLst>
                                          <p:attrName>ppt_x</p:attrName>
                                          <p:attrName>ppt_y</p:attrName>
                                        </p:attrNameLst>
                                      </p:cBhvr>
                                      <p:rCtr x="229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defRPr/>
            </a:pPr>
            <a:r>
              <a:rPr lang="en-GB"/>
              <a:t>Data Flow</a:t>
            </a:r>
            <a:endParaRPr lang="en-US"/>
          </a:p>
        </p:txBody>
      </p:sp>
      <p:sp>
        <p:nvSpPr>
          <p:cNvPr id="2052" name="Rectangle 3"/>
          <p:cNvSpPr>
            <a:spLocks noGrp="1" noChangeArrowheads="1"/>
          </p:cNvSpPr>
          <p:nvPr>
            <p:ph type="body" idx="1"/>
          </p:nvPr>
        </p:nvSpPr>
        <p:spPr/>
        <p:txBody>
          <a:bodyPr/>
          <a:lstStyle/>
          <a:p>
            <a:pPr eaLnBrk="1" hangingPunct="1"/>
            <a:r>
              <a:rPr lang="en-GB">
                <a:solidFill>
                  <a:srgbClr val="3333FF"/>
                </a:solidFill>
              </a:rPr>
              <a:t>Half-Duplex</a:t>
            </a:r>
            <a:r>
              <a:rPr lang="en-GB" sz="2400"/>
              <a:t> </a:t>
            </a:r>
            <a:r>
              <a:rPr lang="en-GB" sz="2000"/>
              <a:t>(one-lane with two-directional traffic)</a:t>
            </a:r>
            <a:endParaRPr lang="en-US" sz="2000"/>
          </a:p>
          <a:p>
            <a:pPr lvl="1" eaLnBrk="1" hangingPunct="1">
              <a:buClr>
                <a:schemeClr val="tx2"/>
              </a:buClr>
              <a:buSzPct val="60000"/>
            </a:pPr>
            <a:r>
              <a:rPr lang="en-GB" sz="2500"/>
              <a:t>Each station can both transmit and receive, but not at the same time</a:t>
            </a:r>
          </a:p>
          <a:p>
            <a:pPr lvl="1" eaLnBrk="1" hangingPunct="1">
              <a:buClr>
                <a:schemeClr val="tx2"/>
              </a:buClr>
              <a:buSzPct val="60000"/>
            </a:pPr>
            <a:r>
              <a:rPr lang="en-GB" sz="2500"/>
              <a:t>When one device is sending, the other can only receive, and vice versa</a:t>
            </a:r>
          </a:p>
          <a:p>
            <a:pPr lvl="1" eaLnBrk="1" hangingPunct="1">
              <a:buClr>
                <a:schemeClr val="tx2"/>
              </a:buClr>
              <a:buSzPct val="60000"/>
            </a:pPr>
            <a:r>
              <a:rPr lang="en-GB" sz="2500"/>
              <a:t>The entire capacity of a channel is taken over by the transmitting device</a:t>
            </a:r>
          </a:p>
          <a:p>
            <a:pPr lvl="1" eaLnBrk="1" hangingPunct="1">
              <a:buClr>
                <a:schemeClr val="tx2"/>
              </a:buClr>
              <a:buSzPct val="60000"/>
            </a:pPr>
            <a:r>
              <a:rPr lang="en-GB" sz="2500"/>
              <a:t>Example: Walkie-talkies</a:t>
            </a:r>
          </a:p>
        </p:txBody>
      </p:sp>
      <p:graphicFrame>
        <p:nvGraphicFramePr>
          <p:cNvPr id="2050" name="Object 5"/>
          <p:cNvGraphicFramePr>
            <a:graphicFrameLocks noGrp="1" noChangeAspect="1"/>
          </p:cNvGraphicFramePr>
          <p:nvPr>
            <p:ph sz="half" idx="4294967295"/>
          </p:nvPr>
        </p:nvGraphicFramePr>
        <p:xfrm>
          <a:off x="1371600" y="5486400"/>
          <a:ext cx="6459538" cy="1025525"/>
        </p:xfrm>
        <a:graphic>
          <a:graphicData uri="http://schemas.openxmlformats.org/presentationml/2006/ole">
            <mc:AlternateContent xmlns:mc="http://schemas.openxmlformats.org/markup-compatibility/2006">
              <mc:Choice xmlns:v="urn:schemas-microsoft-com:vml" Requires="v">
                <p:oleObj spid="_x0000_s5128" name="Bitmap Image" r:id="rId3" imgW="5401429" imgH="857143" progId="Paint.Picture">
                  <p:embed/>
                </p:oleObj>
              </mc:Choice>
              <mc:Fallback>
                <p:oleObj name="Bitmap Image" r:id="rId3" imgW="5401429" imgH="857143"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5486400"/>
                        <a:ext cx="6459538"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1799" name="Rectangle 7"/>
          <p:cNvSpPr>
            <a:spLocks noChangeArrowheads="1"/>
          </p:cNvSpPr>
          <p:nvPr/>
        </p:nvSpPr>
        <p:spPr bwMode="auto">
          <a:xfrm>
            <a:off x="2438400" y="54102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
        <p:nvSpPr>
          <p:cNvPr id="161800" name="Rectangle 8"/>
          <p:cNvSpPr>
            <a:spLocks noChangeArrowheads="1"/>
          </p:cNvSpPr>
          <p:nvPr/>
        </p:nvSpPr>
        <p:spPr bwMode="auto">
          <a:xfrm>
            <a:off x="6096000" y="6172200"/>
            <a:ext cx="609600" cy="304800"/>
          </a:xfrm>
          <a:prstGeom prst="rect">
            <a:avLst/>
          </a:prstGeom>
          <a:solidFill>
            <a:srgbClr val="3333FF"/>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Tree>
    <p:extLst>
      <p:ext uri="{BB962C8B-B14F-4D97-AF65-F5344CB8AC3E}">
        <p14:creationId xmlns:p14="http://schemas.microsoft.com/office/powerpoint/2010/main" val="310171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endCondLst>
                                    <p:cond evt="onNext" delay="0">
                                      <p:tgtEl>
                                        <p:sldTgt/>
                                      </p:tgtEl>
                                    </p:cond>
                                  </p:endCondLst>
                                  <p:childTnLst>
                                    <p:animMotion origin="layout" path="M 5.55112E-17 -7.77058E-7 L 0.425 -7.77058E-7 " pathEditMode="relative" rAng="0" ptsTypes="AA">
                                      <p:cBhvr>
                                        <p:cTn id="6" dur="5000" fill="hold"/>
                                        <p:tgtEl>
                                          <p:spTgt spid="161799"/>
                                        </p:tgtEl>
                                        <p:attrNameLst>
                                          <p:attrName>ppt_x</p:attrName>
                                          <p:attrName>ppt_y</p:attrName>
                                        </p:attrNameLst>
                                      </p:cBhvr>
                                      <p:rCtr x="21250" y="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61799"/>
                                        </p:tgtEl>
                                        <p:attrNameLst>
                                          <p:attrName>style.visibility</p:attrName>
                                        </p:attrNameLst>
                                      </p:cBhvr>
                                      <p:to>
                                        <p:strVal val="hidden"/>
                                      </p:to>
                                    </p:set>
                                  </p:childTnLst>
                                </p:cTn>
                              </p:par>
                            </p:childTnLst>
                          </p:cTn>
                        </p:par>
                        <p:par>
                          <p:cTn id="11" fill="hold" nodeType="afterGroup">
                            <p:stCondLst>
                              <p:cond delay="0"/>
                            </p:stCondLst>
                            <p:childTnLst>
                              <p:par>
                                <p:cTn id="12" presetID="35" presetClass="path" presetSubtype="0" repeatCount="indefinite" accel="50000" decel="50000" fill="hold" grpId="0" nodeType="afterEffect">
                                  <p:stCondLst>
                                    <p:cond delay="0"/>
                                  </p:stCondLst>
                                  <p:childTnLst>
                                    <p:animMotion origin="layout" path="M 0 8.97317E-7 L -0.40833 8.97317E-7 " pathEditMode="relative" rAng="0" ptsTypes="AA">
                                      <p:cBhvr>
                                        <p:cTn id="13" dur="5000" fill="hold"/>
                                        <p:tgtEl>
                                          <p:spTgt spid="161800"/>
                                        </p:tgtEl>
                                        <p:attrNameLst>
                                          <p:attrName>ppt_x</p:attrName>
                                          <p:attrName>ppt_y</p:attrName>
                                        </p:attrNameLst>
                                      </p:cBhvr>
                                      <p:rCtr x="-204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9" grpId="0" animBg="1"/>
      <p:bldP spid="161799" grpId="1" animBg="1"/>
      <p:bldP spid="16180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defRPr/>
            </a:pPr>
            <a:r>
              <a:rPr lang="en-GB"/>
              <a:t>Data Flow</a:t>
            </a:r>
            <a:endParaRPr lang="en-US"/>
          </a:p>
        </p:txBody>
      </p:sp>
      <p:sp>
        <p:nvSpPr>
          <p:cNvPr id="3076" name="Rectangle 3"/>
          <p:cNvSpPr>
            <a:spLocks noGrp="1" noChangeArrowheads="1"/>
          </p:cNvSpPr>
          <p:nvPr>
            <p:ph type="body" idx="1"/>
          </p:nvPr>
        </p:nvSpPr>
        <p:spPr/>
        <p:txBody>
          <a:bodyPr/>
          <a:lstStyle/>
          <a:p>
            <a:pPr eaLnBrk="1" hangingPunct="1"/>
            <a:r>
              <a:rPr lang="en-GB">
                <a:solidFill>
                  <a:srgbClr val="3333FF"/>
                </a:solidFill>
              </a:rPr>
              <a:t>Full-Duplex (Duplex)</a:t>
            </a:r>
            <a:r>
              <a:rPr lang="en-GB" sz="3600"/>
              <a:t> </a:t>
            </a:r>
            <a:r>
              <a:rPr lang="en-GB" sz="2000"/>
              <a:t>(two-way street)</a:t>
            </a:r>
            <a:endParaRPr lang="en-US" sz="2000"/>
          </a:p>
          <a:p>
            <a:pPr lvl="1" eaLnBrk="1" hangingPunct="1">
              <a:buClr>
                <a:schemeClr val="tx2"/>
              </a:buClr>
              <a:buSzPct val="60000"/>
            </a:pPr>
            <a:r>
              <a:rPr lang="en-GB" sz="2500"/>
              <a:t>Both stations can transmit and receive at same time</a:t>
            </a:r>
          </a:p>
          <a:p>
            <a:pPr lvl="1" eaLnBrk="1" hangingPunct="1">
              <a:buClr>
                <a:schemeClr val="tx2"/>
              </a:buClr>
              <a:buSzPct val="60000"/>
            </a:pPr>
            <a:r>
              <a:rPr lang="en-GB" sz="2400"/>
              <a:t>Signals going in either direction sharing the capacity of the link</a:t>
            </a:r>
          </a:p>
          <a:p>
            <a:pPr lvl="1" eaLnBrk="1" hangingPunct="1">
              <a:buClr>
                <a:schemeClr val="tx2"/>
              </a:buClr>
              <a:buSzPct val="60000"/>
            </a:pPr>
            <a:r>
              <a:rPr lang="en-GB" sz="2400"/>
              <a:t>Sharing can occur in two ways:</a:t>
            </a:r>
          </a:p>
          <a:p>
            <a:pPr lvl="2" eaLnBrk="1" hangingPunct="1">
              <a:buClr>
                <a:schemeClr val="tx2"/>
              </a:buClr>
              <a:buSzPct val="60000"/>
            </a:pPr>
            <a:r>
              <a:rPr lang="en-GB" sz="2000"/>
              <a:t>Link has two physically separate transmission paths</a:t>
            </a:r>
          </a:p>
          <a:p>
            <a:pPr lvl="3" eaLnBrk="1" hangingPunct="1">
              <a:buClr>
                <a:schemeClr val="tx2"/>
              </a:buClr>
              <a:buSzPct val="60000"/>
            </a:pPr>
            <a:r>
              <a:rPr lang="en-GB"/>
              <a:t>One for sending and the other for receiving</a:t>
            </a:r>
          </a:p>
          <a:p>
            <a:pPr lvl="2" eaLnBrk="1" hangingPunct="1">
              <a:buClr>
                <a:schemeClr val="tx2"/>
              </a:buClr>
              <a:buSzPct val="60000"/>
            </a:pPr>
            <a:r>
              <a:rPr lang="en-GB" sz="2000"/>
              <a:t>The capacity of the channel is divided between signals travelling in both directions</a:t>
            </a:r>
          </a:p>
          <a:p>
            <a:pPr lvl="1" eaLnBrk="1" hangingPunct="1">
              <a:buClr>
                <a:schemeClr val="tx2"/>
              </a:buClr>
              <a:buSzPct val="60000"/>
            </a:pPr>
            <a:r>
              <a:rPr lang="en-GB" sz="2300"/>
              <a:t>Example: Telephone network</a:t>
            </a:r>
          </a:p>
        </p:txBody>
      </p:sp>
      <p:graphicFrame>
        <p:nvGraphicFramePr>
          <p:cNvPr id="3074" name="Object 5"/>
          <p:cNvGraphicFramePr>
            <a:graphicFrameLocks noGrp="1" noChangeAspect="1"/>
          </p:cNvGraphicFramePr>
          <p:nvPr>
            <p:ph sz="half" idx="4294967295"/>
          </p:nvPr>
        </p:nvGraphicFramePr>
        <p:xfrm>
          <a:off x="1447800" y="5791200"/>
          <a:ext cx="6376988" cy="925513"/>
        </p:xfrm>
        <a:graphic>
          <a:graphicData uri="http://schemas.openxmlformats.org/presentationml/2006/ole">
            <mc:AlternateContent xmlns:mc="http://schemas.openxmlformats.org/markup-compatibility/2006">
              <mc:Choice xmlns:v="urn:schemas-microsoft-com:vml" Requires="v">
                <p:oleObj spid="_x0000_s6152" name="Bitmap Image" r:id="rId3" imgW="5315692" imgH="771429" progId="Paint.Picture">
                  <p:embed/>
                </p:oleObj>
              </mc:Choice>
              <mc:Fallback>
                <p:oleObj name="Bitmap Image" r:id="rId3" imgW="5315692" imgH="771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5791200"/>
                        <a:ext cx="6376988"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872" name="Rectangle 8"/>
          <p:cNvSpPr>
            <a:spLocks noChangeArrowheads="1"/>
          </p:cNvSpPr>
          <p:nvPr/>
        </p:nvSpPr>
        <p:spPr bwMode="auto">
          <a:xfrm>
            <a:off x="2438400" y="58674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
        <p:nvSpPr>
          <p:cNvPr id="164873" name="Rectangle 9"/>
          <p:cNvSpPr>
            <a:spLocks noChangeArrowheads="1"/>
          </p:cNvSpPr>
          <p:nvPr/>
        </p:nvSpPr>
        <p:spPr bwMode="auto">
          <a:xfrm>
            <a:off x="6096000" y="6477000"/>
            <a:ext cx="609600" cy="304800"/>
          </a:xfrm>
          <a:prstGeom prst="rect">
            <a:avLst/>
          </a:prstGeom>
          <a:solidFill>
            <a:srgbClr val="3333FF"/>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Tree>
    <p:extLst>
      <p:ext uri="{BB962C8B-B14F-4D97-AF65-F5344CB8AC3E}">
        <p14:creationId xmlns:p14="http://schemas.microsoft.com/office/powerpoint/2010/main" val="600381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childTnLst>
                                    <p:animMotion origin="layout" path="M 5.55112E-17 -7.77058E-7 L 0.425 -7.77058E-7 " pathEditMode="relative" rAng="0" ptsTypes="AA">
                                      <p:cBhvr>
                                        <p:cTn id="6" dur="3000" fill="hold"/>
                                        <p:tgtEl>
                                          <p:spTgt spid="164872"/>
                                        </p:tgtEl>
                                        <p:attrNameLst>
                                          <p:attrName>ppt_x</p:attrName>
                                          <p:attrName>ppt_y</p:attrName>
                                        </p:attrNameLst>
                                      </p:cBhvr>
                                      <p:rCtr x="21250" y="0"/>
                                    </p:animMotion>
                                  </p:childTnLst>
                                </p:cTn>
                              </p:par>
                              <p:par>
                                <p:cTn id="7" presetID="35" presetClass="path" presetSubtype="0" repeatCount="indefinite" accel="50000" decel="50000" fill="hold" grpId="0" nodeType="withEffect">
                                  <p:stCondLst>
                                    <p:cond delay="5000"/>
                                  </p:stCondLst>
                                  <p:childTnLst>
                                    <p:animMotion origin="layout" path="M 0 -2.43293E-6 L -0.40833 -2.43293E-6 " pathEditMode="relative" rAng="0" ptsTypes="AA">
                                      <p:cBhvr>
                                        <p:cTn id="8" dur="3000" fill="hold"/>
                                        <p:tgtEl>
                                          <p:spTgt spid="164873"/>
                                        </p:tgtEl>
                                        <p:attrNameLst>
                                          <p:attrName>ppt_x</p:attrName>
                                          <p:attrName>ppt_y</p:attrName>
                                        </p:attrNameLst>
                                      </p:cBhvr>
                                      <p:rCtr x="-204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2" grpId="0" animBg="1"/>
      <p:bldP spid="16487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defRPr/>
            </a:pPr>
            <a:r>
              <a:rPr lang="en-GB"/>
              <a:t>Exercise</a:t>
            </a:r>
            <a:endParaRPr lang="en-US"/>
          </a:p>
        </p:txBody>
      </p:sp>
      <p:sp>
        <p:nvSpPr>
          <p:cNvPr id="172035" name="Rectangle 3"/>
          <p:cNvSpPr>
            <a:spLocks noGrp="1" noChangeArrowheads="1"/>
          </p:cNvSpPr>
          <p:nvPr>
            <p:ph type="body" idx="1"/>
          </p:nvPr>
        </p:nvSpPr>
        <p:spPr/>
        <p:txBody>
          <a:bodyPr/>
          <a:lstStyle/>
          <a:p>
            <a:pPr eaLnBrk="1" hangingPunct="1"/>
            <a:r>
              <a:rPr lang="en-GB" sz="2500"/>
              <a:t>What mode of data flow the following exhibits shows?</a:t>
            </a:r>
          </a:p>
          <a:p>
            <a:pPr eaLnBrk="1" hangingPunct="1"/>
            <a:endParaRPr lang="en-GB" sz="2500"/>
          </a:p>
          <a:p>
            <a:pPr eaLnBrk="1" hangingPunct="1"/>
            <a:endParaRPr lang="en-GB" sz="2500"/>
          </a:p>
          <a:p>
            <a:pPr eaLnBrk="1" hangingPunct="1"/>
            <a:endParaRPr lang="en-GB" sz="2500"/>
          </a:p>
          <a:p>
            <a:pPr eaLnBrk="1" hangingPunct="1"/>
            <a:endParaRPr lang="en-GB" sz="2500"/>
          </a:p>
          <a:p>
            <a:pPr eaLnBrk="1" hangingPunct="1"/>
            <a:endParaRPr lang="en-GB" sz="2500"/>
          </a:p>
          <a:p>
            <a:pPr eaLnBrk="1" hangingPunct="1">
              <a:buFont typeface="Wingdings" pitchFamily="2" charset="2"/>
              <a:buNone/>
            </a:pPr>
            <a:endParaRPr lang="en-GB" sz="2500"/>
          </a:p>
          <a:p>
            <a:pPr eaLnBrk="1" hangingPunct="1"/>
            <a:r>
              <a:rPr lang="en-GB" sz="2500">
                <a:solidFill>
                  <a:srgbClr val="3333FF"/>
                </a:solidFill>
              </a:rPr>
              <a:t>Answer:</a:t>
            </a:r>
            <a:r>
              <a:rPr lang="en-GB" sz="2500"/>
              <a:t> Full-Duplex</a:t>
            </a:r>
          </a:p>
        </p:txBody>
      </p:sp>
      <p:graphicFrame>
        <p:nvGraphicFramePr>
          <p:cNvPr id="4098" name="Object 4"/>
          <p:cNvGraphicFramePr>
            <a:graphicFrameLocks noGrp="1" noChangeAspect="1"/>
          </p:cNvGraphicFramePr>
          <p:nvPr>
            <p:ph sz="half" idx="4294967295"/>
          </p:nvPr>
        </p:nvGraphicFramePr>
        <p:xfrm>
          <a:off x="1295400" y="3048000"/>
          <a:ext cx="6376988" cy="925513"/>
        </p:xfrm>
        <a:graphic>
          <a:graphicData uri="http://schemas.openxmlformats.org/presentationml/2006/ole">
            <mc:AlternateContent xmlns:mc="http://schemas.openxmlformats.org/markup-compatibility/2006">
              <mc:Choice xmlns:v="urn:schemas-microsoft-com:vml" Requires="v">
                <p:oleObj spid="_x0000_s7176" name="Bitmap Image" r:id="rId3" imgW="5315692" imgH="771429" progId="Paint.Picture">
                  <p:embed/>
                </p:oleObj>
              </mc:Choice>
              <mc:Fallback>
                <p:oleObj name="Bitmap Image" r:id="rId3" imgW="5315692" imgH="77142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048000"/>
                        <a:ext cx="6376988"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37" name="Rectangle 5"/>
          <p:cNvSpPr>
            <a:spLocks noChangeArrowheads="1"/>
          </p:cNvSpPr>
          <p:nvPr/>
        </p:nvSpPr>
        <p:spPr bwMode="auto">
          <a:xfrm>
            <a:off x="2286000" y="31242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
        <p:nvSpPr>
          <p:cNvPr id="172038" name="Rectangle 6"/>
          <p:cNvSpPr>
            <a:spLocks noChangeArrowheads="1"/>
          </p:cNvSpPr>
          <p:nvPr/>
        </p:nvSpPr>
        <p:spPr bwMode="auto">
          <a:xfrm>
            <a:off x="5943600" y="3733800"/>
            <a:ext cx="609600" cy="304800"/>
          </a:xfrm>
          <a:prstGeom prst="rect">
            <a:avLst/>
          </a:prstGeom>
          <a:solidFill>
            <a:srgbClr val="3333FF"/>
          </a:solidFill>
          <a:ln w="9525">
            <a:solidFill>
              <a:schemeClr val="tx1"/>
            </a:solidFill>
            <a:miter lim="800000"/>
            <a:headEnd/>
            <a:tailEnd/>
          </a:ln>
        </p:spPr>
        <p:txBody>
          <a:bodyPr wrap="none" lIns="92075" tIns="46038" rIns="92075" bIns="46038" anchor="ctr"/>
          <a:lstStyle/>
          <a:p>
            <a:pPr algn="ctr"/>
            <a:r>
              <a:rPr lang="en-US" sz="1800" b="1">
                <a:solidFill>
                  <a:schemeClr val="bg1"/>
                </a:solidFill>
              </a:rPr>
              <a:t>Data</a:t>
            </a:r>
          </a:p>
        </p:txBody>
      </p:sp>
    </p:spTree>
    <p:extLst>
      <p:ext uri="{BB962C8B-B14F-4D97-AF65-F5344CB8AC3E}">
        <p14:creationId xmlns:p14="http://schemas.microsoft.com/office/powerpoint/2010/main" val="3706647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1" nodeType="afterEffect">
                                  <p:stCondLst>
                                    <p:cond delay="3000"/>
                                  </p:stCondLst>
                                  <p:childTnLst>
                                    <p:set>
                                      <p:cBhvr>
                                        <p:cTn id="6" dur="1" fill="hold">
                                          <p:stCondLst>
                                            <p:cond delay="0"/>
                                          </p:stCondLst>
                                        </p:cTn>
                                        <p:tgtEl>
                                          <p:spTgt spid="172037"/>
                                        </p:tgtEl>
                                        <p:attrNameLst>
                                          <p:attrName>style.visibility</p:attrName>
                                        </p:attrNameLst>
                                      </p:cBhvr>
                                      <p:to>
                                        <p:strVal val="visible"/>
                                      </p:to>
                                    </p:set>
                                  </p:childTnLst>
                                </p:cTn>
                              </p:par>
                              <p:par>
                                <p:cTn id="7" presetID="1" presetClass="entr" presetSubtype="0" fill="hold" grpId="1" nodeType="withEffect">
                                  <p:stCondLst>
                                    <p:cond delay="3000"/>
                                  </p:stCondLst>
                                  <p:childTnLst>
                                    <p:set>
                                      <p:cBhvr>
                                        <p:cTn id="8" dur="1" fill="hold">
                                          <p:stCondLst>
                                            <p:cond delay="0"/>
                                          </p:stCondLst>
                                        </p:cTn>
                                        <p:tgtEl>
                                          <p:spTgt spid="172038"/>
                                        </p:tgtEl>
                                        <p:attrNameLst>
                                          <p:attrName>style.visibility</p:attrName>
                                        </p:attrNameLst>
                                      </p:cBhvr>
                                      <p:to>
                                        <p:strVal val="visible"/>
                                      </p:to>
                                    </p:set>
                                  </p:childTnLst>
                                </p:cTn>
                              </p:par>
                            </p:childTnLst>
                          </p:cTn>
                        </p:par>
                        <p:par>
                          <p:cTn id="9" fill="hold" nodeType="afterGroup">
                            <p:stCondLst>
                              <p:cond delay="3000"/>
                            </p:stCondLst>
                            <p:childTnLst>
                              <p:par>
                                <p:cTn id="10" presetID="63" presetClass="path" presetSubtype="0" repeatCount="indefinite" accel="50000" decel="50000" fill="hold" grpId="0" nodeType="afterEffect">
                                  <p:stCondLst>
                                    <p:cond delay="0"/>
                                  </p:stCondLst>
                                  <p:childTnLst>
                                    <p:animMotion origin="layout" path="M 5.55112E-17 -7.77058E-7 L 0.425 -7.77058E-7 " pathEditMode="relative" rAng="0" ptsTypes="AA">
                                      <p:cBhvr>
                                        <p:cTn id="11" dur="3000" fill="hold"/>
                                        <p:tgtEl>
                                          <p:spTgt spid="172037"/>
                                        </p:tgtEl>
                                        <p:attrNameLst>
                                          <p:attrName>ppt_x</p:attrName>
                                          <p:attrName>ppt_y</p:attrName>
                                        </p:attrNameLst>
                                      </p:cBhvr>
                                      <p:rCtr x="21250" y="0"/>
                                    </p:animMotion>
                                  </p:childTnLst>
                                </p:cTn>
                              </p:par>
                              <p:par>
                                <p:cTn id="12" presetID="35" presetClass="path" presetSubtype="0" repeatCount="indefinite" accel="50000" decel="50000" fill="hold" grpId="0" nodeType="withEffect">
                                  <p:stCondLst>
                                    <p:cond delay="0"/>
                                  </p:stCondLst>
                                  <p:childTnLst>
                                    <p:animMotion origin="layout" path="M 0 -2.43293E-6 L -0.40833 -2.43293E-6 " pathEditMode="relative" rAng="0" ptsTypes="AA">
                                      <p:cBhvr>
                                        <p:cTn id="13" dur="3000" fill="hold"/>
                                        <p:tgtEl>
                                          <p:spTgt spid="172038"/>
                                        </p:tgtEl>
                                        <p:attrNameLst>
                                          <p:attrName>ppt_x</p:attrName>
                                          <p:attrName>ppt_y</p:attrName>
                                        </p:attrNameLst>
                                      </p:cBhvr>
                                      <p:rCtr x="-20417" y="0"/>
                                    </p:animMotion>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72035">
                                            <p:txEl>
                                              <p:pRg st="7" end="7"/>
                                            </p:txEl>
                                          </p:spTgt>
                                        </p:tgtEl>
                                        <p:attrNameLst>
                                          <p:attrName>style.visibility</p:attrName>
                                        </p:attrNameLst>
                                      </p:cBhvr>
                                      <p:to>
                                        <p:strVal val="visible"/>
                                      </p:to>
                                    </p:set>
                                    <p:animEffect transition="in" filter="wipe(left)">
                                      <p:cBhvr>
                                        <p:cTn id="18" dur="2000"/>
                                        <p:tgtEl>
                                          <p:spTgt spid="1720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7" grpId="0" animBg="1"/>
      <p:bldP spid="172037" grpId="1" animBg="1"/>
      <p:bldP spid="172038" grpId="0" animBg="1"/>
      <p:bldP spid="172038"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27</a:t>
            </a:fld>
            <a:endParaRPr lang="en-US" sz="2000" b="1">
              <a:latin typeface="Arial" panose="02080604020202020204" pitchFamily="34" charset="0"/>
            </a:endParaRPr>
          </a:p>
        </p:txBody>
      </p:sp>
      <p:sp>
        <p:nvSpPr>
          <p:cNvPr id="862210" name="Straight Connector 862209"/>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862211" name="Straight Connector 862210"/>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862212" name="Text Box 862211"/>
          <p:cNvSpPr txBox="1"/>
          <p:nvPr/>
        </p:nvSpPr>
        <p:spPr>
          <a:xfrm>
            <a:off x="304800" y="381000"/>
            <a:ext cx="6800850" cy="457200"/>
          </a:xfrm>
          <a:prstGeom prst="rect">
            <a:avLst/>
          </a:prstGeom>
          <a:noFill/>
          <a:ln w="9525">
            <a:noFill/>
          </a:ln>
        </p:spPr>
        <p:txBody>
          <a:bodyPr wrap="none" anchor="t" anchorCtr="0">
            <a:spAutoFit/>
          </a:bodyPr>
          <a:lstStyle/>
          <a:p>
            <a:r>
              <a:rPr sz="2400">
                <a:solidFill>
                  <a:schemeClr val="folHlink"/>
                </a:solidFill>
                <a:latin typeface="Times New Roman" charset="0"/>
              </a:rPr>
              <a:t>Figure 1.2  </a:t>
            </a:r>
            <a:r>
              <a:rPr sz="2000" i="1">
                <a:latin typeface="Times New Roman" charset="0"/>
              </a:rPr>
              <a:t>Data flow (simplex, half-duplex, and full-duplex)</a:t>
            </a:r>
          </a:p>
        </p:txBody>
      </p:sp>
      <p:sp>
        <p:nvSpPr>
          <p:cNvPr id="862213" name="Straight Connector 862212"/>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862214" name="Picture 862213"/>
          <p:cNvPicPr>
            <a:picLocks noChangeAspect="1"/>
          </p:cNvPicPr>
          <p:nvPr/>
        </p:nvPicPr>
        <p:blipFill>
          <a:blip r:embed="rId3"/>
          <a:stretch>
            <a:fillRect/>
          </a:stretch>
        </p:blipFill>
        <p:spPr>
          <a:xfrm>
            <a:off x="1219200" y="1171575"/>
            <a:ext cx="6489700" cy="492442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a:t>Networks</a:t>
            </a:r>
          </a:p>
        </p:txBody>
      </p:sp>
      <p:sp>
        <p:nvSpPr>
          <p:cNvPr id="26627" name="Rectangle 3"/>
          <p:cNvSpPr>
            <a:spLocks noGrp="1" noChangeArrowheads="1"/>
          </p:cNvSpPr>
          <p:nvPr>
            <p:ph type="body" idx="1"/>
          </p:nvPr>
        </p:nvSpPr>
        <p:spPr>
          <a:xfrm>
            <a:off x="381000" y="1268664"/>
            <a:ext cx="8077200" cy="4827336"/>
          </a:xfrm>
        </p:spPr>
        <p:txBody>
          <a:bodyPr/>
          <a:lstStyle/>
          <a:p>
            <a:pPr marL="990600" lvl="1" indent="-533400" eaLnBrk="1" hangingPunct="1"/>
            <a:r>
              <a:rPr lang="en-US" dirty="0">
                <a:solidFill>
                  <a:srgbClr val="CC0000"/>
                </a:solidFill>
              </a:rPr>
              <a:t>Network</a:t>
            </a:r>
            <a:r>
              <a:rPr lang="en-US" dirty="0"/>
              <a:t> :  A set of devices (</a:t>
            </a:r>
            <a:r>
              <a:rPr lang="en-US" dirty="0">
                <a:solidFill>
                  <a:srgbClr val="3333FF"/>
                </a:solidFill>
              </a:rPr>
              <a:t>nodes</a:t>
            </a:r>
            <a:r>
              <a:rPr lang="en-US" dirty="0"/>
              <a:t>) connected by communication links</a:t>
            </a:r>
          </a:p>
          <a:p>
            <a:pPr marL="1371600" lvl="2" indent="-457200" eaLnBrk="1" hangingPunct="1">
              <a:buFontTx/>
              <a:buNone/>
            </a:pPr>
            <a:r>
              <a:rPr lang="en-US" dirty="0"/>
              <a:t>	</a:t>
            </a:r>
            <a:r>
              <a:rPr lang="en-US" sz="2100" dirty="0">
                <a:solidFill>
                  <a:srgbClr val="CC0000"/>
                </a:solidFill>
              </a:rPr>
              <a:t>Node</a:t>
            </a:r>
            <a:r>
              <a:rPr lang="en-US" sz="2100" dirty="0"/>
              <a:t> : computer, printer, …</a:t>
            </a:r>
          </a:p>
          <a:p>
            <a:pPr marL="1371600" lvl="2" indent="-457200" eaLnBrk="1" hangingPunct="1">
              <a:buFontTx/>
              <a:buChar char="-"/>
            </a:pPr>
            <a:r>
              <a:rPr lang="en-US" dirty="0">
                <a:solidFill>
                  <a:srgbClr val="CC0000"/>
                </a:solidFill>
              </a:rPr>
              <a:t>Distributed Processing</a:t>
            </a:r>
            <a:r>
              <a:rPr lang="en-US" dirty="0"/>
              <a:t> : </a:t>
            </a:r>
          </a:p>
          <a:p>
            <a:pPr marL="1752600" lvl="3" indent="-381000" eaLnBrk="1" hangingPunct="1">
              <a:buFontTx/>
              <a:buChar char="-"/>
            </a:pPr>
            <a:r>
              <a:rPr lang="en-US" dirty="0"/>
              <a:t>Most networks used it</a:t>
            </a:r>
          </a:p>
          <a:p>
            <a:pPr marL="1752600" lvl="3" indent="-381000" eaLnBrk="1" hangingPunct="1">
              <a:buFontTx/>
              <a:buChar char="-"/>
            </a:pPr>
            <a:r>
              <a:rPr lang="en-US" dirty="0"/>
              <a:t>Task is divided among </a:t>
            </a:r>
            <a:r>
              <a:rPr lang="en-US" dirty="0">
                <a:solidFill>
                  <a:srgbClr val="3333FF"/>
                </a:solidFill>
              </a:rPr>
              <a:t>multiple computers</a:t>
            </a:r>
            <a:r>
              <a:rPr lang="en-US" dirty="0"/>
              <a:t> instead of one single large computer</a:t>
            </a:r>
          </a:p>
          <a:p>
            <a:pPr marL="1752600" lvl="3" indent="-381000" eaLnBrk="1" hangingPunct="1">
              <a:buFontTx/>
              <a:buNone/>
            </a:pPr>
            <a:r>
              <a:rPr lang="en-US" sz="2400" dirty="0"/>
              <a:t> </a:t>
            </a:r>
          </a:p>
        </p:txBody>
      </p:sp>
    </p:spTree>
    <p:extLst>
      <p:ext uri="{BB962C8B-B14F-4D97-AF65-F5344CB8AC3E}">
        <p14:creationId xmlns:p14="http://schemas.microsoft.com/office/powerpoint/2010/main" val="396471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t>Networks</a:t>
            </a:r>
          </a:p>
        </p:txBody>
      </p:sp>
      <p:sp>
        <p:nvSpPr>
          <p:cNvPr id="27651" name="Rectangle 3"/>
          <p:cNvSpPr>
            <a:spLocks noGrp="1" noChangeArrowheads="1"/>
          </p:cNvSpPr>
          <p:nvPr>
            <p:ph type="body" idx="1"/>
          </p:nvPr>
        </p:nvSpPr>
        <p:spPr>
          <a:xfrm>
            <a:off x="457200" y="1268664"/>
            <a:ext cx="8229600" cy="4857816"/>
          </a:xfrm>
        </p:spPr>
        <p:txBody>
          <a:bodyPr/>
          <a:lstStyle/>
          <a:p>
            <a:pPr eaLnBrk="1" hangingPunct="1"/>
            <a:r>
              <a:rPr lang="en-US" dirty="0">
                <a:solidFill>
                  <a:srgbClr val="3333FF"/>
                </a:solidFill>
              </a:rPr>
              <a:t>Network Criteria</a:t>
            </a:r>
            <a:r>
              <a:rPr lang="en-US" dirty="0"/>
              <a:t> </a:t>
            </a:r>
          </a:p>
          <a:p>
            <a:pPr lvl="2" eaLnBrk="1" hangingPunct="1">
              <a:buFontTx/>
              <a:buChar char="–"/>
            </a:pPr>
            <a:r>
              <a:rPr lang="en-US" sz="2400" dirty="0"/>
              <a:t>Network must meet a certain number of criteria</a:t>
            </a:r>
          </a:p>
          <a:p>
            <a:pPr lvl="2" eaLnBrk="1" hangingPunct="1">
              <a:buFontTx/>
              <a:buChar char="–"/>
            </a:pPr>
            <a:r>
              <a:rPr lang="en-US" sz="2400" dirty="0"/>
              <a:t>The most important  of the network criterions  are:</a:t>
            </a:r>
          </a:p>
          <a:p>
            <a:pPr lvl="3" eaLnBrk="1" hangingPunct="1">
              <a:buFontTx/>
              <a:buChar char="–"/>
            </a:pPr>
            <a:r>
              <a:rPr lang="en-US" dirty="0">
                <a:solidFill>
                  <a:srgbClr val="3333FF"/>
                </a:solidFill>
              </a:rPr>
              <a:t>Performance</a:t>
            </a:r>
          </a:p>
          <a:p>
            <a:pPr lvl="3" eaLnBrk="1" hangingPunct="1">
              <a:buFontTx/>
              <a:buChar char="–"/>
            </a:pPr>
            <a:r>
              <a:rPr lang="en-US" dirty="0">
                <a:solidFill>
                  <a:srgbClr val="3333FF"/>
                </a:solidFill>
              </a:rPr>
              <a:t>Reliability</a:t>
            </a:r>
          </a:p>
          <a:p>
            <a:pPr lvl="3" eaLnBrk="1" hangingPunct="1">
              <a:buFontTx/>
              <a:buChar char="–"/>
            </a:pPr>
            <a:r>
              <a:rPr lang="en-US" dirty="0">
                <a:solidFill>
                  <a:srgbClr val="3333FF"/>
                </a:solidFill>
              </a:rPr>
              <a:t>Security</a:t>
            </a:r>
          </a:p>
          <a:p>
            <a:pPr lvl="2" eaLnBrk="1" hangingPunct="1">
              <a:buFontTx/>
              <a:buChar char="–"/>
            </a:pPr>
            <a:endParaRPr lang="en-US" sz="2000" dirty="0">
              <a:solidFill>
                <a:srgbClr val="3333FF"/>
              </a:solidFill>
            </a:endParaRPr>
          </a:p>
        </p:txBody>
      </p:sp>
    </p:spTree>
    <p:extLst>
      <p:ext uri="{BB962C8B-B14F-4D97-AF65-F5344CB8AC3E}">
        <p14:creationId xmlns:p14="http://schemas.microsoft.com/office/powerpoint/2010/main" val="1805226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hangingPunct="1">
              <a:defRPr/>
            </a:pPr>
            <a:r>
              <a:rPr lang="en-US"/>
              <a:t>Networks</a:t>
            </a:r>
          </a:p>
        </p:txBody>
      </p:sp>
      <p:sp>
        <p:nvSpPr>
          <p:cNvPr id="28675" name="Rectangle 3"/>
          <p:cNvSpPr>
            <a:spLocks noGrp="1" noChangeArrowheads="1"/>
          </p:cNvSpPr>
          <p:nvPr>
            <p:ph type="body" idx="1"/>
          </p:nvPr>
        </p:nvSpPr>
        <p:spPr/>
        <p:txBody>
          <a:bodyPr/>
          <a:lstStyle/>
          <a:p>
            <a:pPr marL="609600" indent="-609600" eaLnBrk="1" hangingPunct="1"/>
            <a:r>
              <a:rPr lang="en-US">
                <a:solidFill>
                  <a:srgbClr val="3333FF"/>
                </a:solidFill>
              </a:rPr>
              <a:t>Performance</a:t>
            </a:r>
          </a:p>
          <a:p>
            <a:pPr marL="971550" lvl="1" indent="-514350" eaLnBrk="1" hangingPunct="1"/>
            <a:r>
              <a:rPr lang="en-US">
                <a:solidFill>
                  <a:srgbClr val="CC0000"/>
                </a:solidFill>
              </a:rPr>
              <a:t>T</a:t>
            </a:r>
            <a:r>
              <a:rPr lang="en-US" sz="2300">
                <a:solidFill>
                  <a:srgbClr val="CC0000"/>
                </a:solidFill>
              </a:rPr>
              <a:t>ransit time</a:t>
            </a:r>
            <a:r>
              <a:rPr lang="en-US" sz="2300"/>
              <a:t>: A mount of time required for a message to travel from one device to another</a:t>
            </a:r>
          </a:p>
          <a:p>
            <a:pPr marL="971550" lvl="1" indent="-514350" eaLnBrk="1" hangingPunct="1"/>
            <a:r>
              <a:rPr lang="en-US" sz="2300">
                <a:solidFill>
                  <a:srgbClr val="CC0000"/>
                </a:solidFill>
              </a:rPr>
              <a:t>Response time</a:t>
            </a:r>
            <a:r>
              <a:rPr lang="en-US" sz="2300"/>
              <a:t>: Elapsed time between an inquiry and a response</a:t>
            </a:r>
            <a:r>
              <a:rPr lang="en-US"/>
              <a:t> </a:t>
            </a:r>
          </a:p>
          <a:p>
            <a:pPr marL="1352550" lvl="2" indent="-438150" eaLnBrk="1" hangingPunct="1">
              <a:buFontTx/>
              <a:buChar char="–"/>
            </a:pPr>
            <a:endParaRPr lang="en-US" sz="2000">
              <a:solidFill>
                <a:srgbClr val="3333FF"/>
              </a:solidFill>
            </a:endParaRPr>
          </a:p>
        </p:txBody>
      </p:sp>
    </p:spTree>
    <p:extLst>
      <p:ext uri="{BB962C8B-B14F-4D97-AF65-F5344CB8AC3E}">
        <p14:creationId xmlns:p14="http://schemas.microsoft.com/office/powerpoint/2010/main" val="2112139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defRPr/>
            </a:pPr>
            <a:r>
              <a:rPr lang="en-US"/>
              <a:t>Networks</a:t>
            </a:r>
          </a:p>
        </p:txBody>
      </p:sp>
      <p:sp>
        <p:nvSpPr>
          <p:cNvPr id="171011" name="Rectangle 3"/>
          <p:cNvSpPr>
            <a:spLocks noGrp="1" noChangeArrowheads="1"/>
          </p:cNvSpPr>
          <p:nvPr>
            <p:ph type="body" idx="1"/>
          </p:nvPr>
        </p:nvSpPr>
        <p:spPr/>
        <p:txBody>
          <a:bodyPr/>
          <a:lstStyle/>
          <a:p>
            <a:pPr marL="609600" indent="-609600" eaLnBrk="1" hangingPunct="1"/>
            <a:r>
              <a:rPr lang="en-US">
                <a:solidFill>
                  <a:srgbClr val="3333FF"/>
                </a:solidFill>
              </a:rPr>
              <a:t>Performance</a:t>
            </a:r>
          </a:p>
          <a:p>
            <a:pPr marL="971550" lvl="1" indent="-514350" eaLnBrk="1" hangingPunct="1"/>
            <a:r>
              <a:rPr lang="en-US" sz="2500"/>
              <a:t>Performance depends on :</a:t>
            </a:r>
          </a:p>
          <a:p>
            <a:pPr marL="1352550" lvl="2" indent="-438150" eaLnBrk="1" hangingPunct="1">
              <a:buSzPct val="60000"/>
              <a:buFont typeface="Wingdings" pitchFamily="2" charset="2"/>
              <a:buNone/>
            </a:pPr>
            <a:r>
              <a:rPr lang="en-US"/>
              <a:t>	1- </a:t>
            </a:r>
            <a:r>
              <a:rPr lang="en-US">
                <a:solidFill>
                  <a:srgbClr val="3333FF"/>
                </a:solidFill>
              </a:rPr>
              <a:t>Number of users</a:t>
            </a:r>
            <a:r>
              <a:rPr lang="en-US"/>
              <a:t>: large number slow response time.</a:t>
            </a:r>
          </a:p>
          <a:p>
            <a:pPr marL="1352550" lvl="2" indent="-438150" eaLnBrk="1" hangingPunct="1">
              <a:buSzPct val="60000"/>
              <a:buFont typeface="Wingdings" pitchFamily="2" charset="2"/>
              <a:buNone/>
            </a:pPr>
            <a:r>
              <a:rPr lang="en-US"/>
              <a:t>	2- </a:t>
            </a:r>
            <a:r>
              <a:rPr lang="en-US">
                <a:solidFill>
                  <a:srgbClr val="3333FF"/>
                </a:solidFill>
              </a:rPr>
              <a:t>Type of transmission medium</a:t>
            </a:r>
            <a:r>
              <a:rPr lang="en-US"/>
              <a:t>: fiber-optic cabling faster than others cables.</a:t>
            </a:r>
          </a:p>
          <a:p>
            <a:pPr marL="1352550" lvl="2" indent="-438150" eaLnBrk="1" hangingPunct="1">
              <a:buSzPct val="60000"/>
              <a:buFont typeface="Wingdings" pitchFamily="2" charset="2"/>
              <a:buNone/>
            </a:pPr>
            <a:r>
              <a:rPr lang="en-US"/>
              <a:t>	3- </a:t>
            </a:r>
            <a:r>
              <a:rPr lang="en-US">
                <a:solidFill>
                  <a:srgbClr val="3333FF"/>
                </a:solidFill>
              </a:rPr>
              <a:t>Capabilities of the connected hardware</a:t>
            </a:r>
            <a:r>
              <a:rPr lang="en-US"/>
              <a:t>: affect both the speed and capacity of transmission.</a:t>
            </a:r>
          </a:p>
          <a:p>
            <a:pPr marL="1352550" lvl="2" indent="-438150" eaLnBrk="1" hangingPunct="1">
              <a:buSzPct val="60000"/>
              <a:buFont typeface="Wingdings" pitchFamily="2" charset="2"/>
              <a:buNone/>
            </a:pPr>
            <a:r>
              <a:rPr lang="en-US"/>
              <a:t>	4- </a:t>
            </a:r>
            <a:r>
              <a:rPr lang="en-US">
                <a:solidFill>
                  <a:srgbClr val="3333FF"/>
                </a:solidFill>
              </a:rPr>
              <a:t>Efficiency of the software</a:t>
            </a:r>
            <a:r>
              <a:rPr lang="en-US"/>
              <a:t>: process data at the sender and receiver and intermediate affects network performance.</a:t>
            </a:r>
            <a:endParaRPr lang="en-US" sz="2000">
              <a:solidFill>
                <a:srgbClr val="3333FF"/>
              </a:solidFill>
            </a:endParaRPr>
          </a:p>
        </p:txBody>
      </p:sp>
    </p:spTree>
    <p:extLst>
      <p:ext uri="{BB962C8B-B14F-4D97-AF65-F5344CB8AC3E}">
        <p14:creationId xmlns:p14="http://schemas.microsoft.com/office/powerpoint/2010/main" val="15990852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eaLnBrk="1" hangingPunct="1">
              <a:defRPr/>
            </a:pPr>
            <a:r>
              <a:rPr lang="en-US"/>
              <a:t>Networks</a:t>
            </a:r>
          </a:p>
        </p:txBody>
      </p:sp>
      <p:sp>
        <p:nvSpPr>
          <p:cNvPr id="174083" name="Rectangle 3"/>
          <p:cNvSpPr>
            <a:spLocks noGrp="1" noChangeArrowheads="1"/>
          </p:cNvSpPr>
          <p:nvPr>
            <p:ph type="body" idx="1"/>
          </p:nvPr>
        </p:nvSpPr>
        <p:spPr/>
        <p:txBody>
          <a:bodyPr/>
          <a:lstStyle/>
          <a:p>
            <a:pPr marL="609600" indent="-609600" eaLnBrk="1" hangingPunct="1"/>
            <a:r>
              <a:rPr lang="en-US">
                <a:solidFill>
                  <a:srgbClr val="3333FF"/>
                </a:solidFill>
              </a:rPr>
              <a:t>Performance</a:t>
            </a:r>
          </a:p>
          <a:p>
            <a:pPr marL="971550" lvl="1" indent="-514350" eaLnBrk="1" hangingPunct="1"/>
            <a:r>
              <a:rPr lang="en-US" sz="2500"/>
              <a:t>Performance is evaluated by two contradictory networking metrics:</a:t>
            </a:r>
          </a:p>
          <a:p>
            <a:pPr marL="1352550" lvl="2" indent="-438150" eaLnBrk="1" hangingPunct="1"/>
            <a:r>
              <a:rPr lang="en-US" sz="2400">
                <a:solidFill>
                  <a:srgbClr val="CC0000"/>
                </a:solidFill>
              </a:rPr>
              <a:t>Throughput</a:t>
            </a:r>
            <a:r>
              <a:rPr lang="en-US" sz="2400">
                <a:solidFill>
                  <a:srgbClr val="3333FF"/>
                </a:solidFill>
              </a:rPr>
              <a:t> (high): </a:t>
            </a:r>
            <a:r>
              <a:rPr lang="en-US" sz="2400"/>
              <a:t>a measure of how fast we can actually send data through a network</a:t>
            </a:r>
          </a:p>
          <a:p>
            <a:pPr marL="1352550" lvl="2" indent="-438150" eaLnBrk="1" hangingPunct="1"/>
            <a:r>
              <a:rPr lang="en-US" sz="2400">
                <a:solidFill>
                  <a:srgbClr val="CC0000"/>
                </a:solidFill>
              </a:rPr>
              <a:t>Delay</a:t>
            </a:r>
            <a:r>
              <a:rPr lang="en-US" sz="2400">
                <a:solidFill>
                  <a:srgbClr val="3333FF"/>
                </a:solidFill>
              </a:rPr>
              <a:t> (low)</a:t>
            </a:r>
          </a:p>
        </p:txBody>
      </p:sp>
    </p:spTree>
    <p:extLst>
      <p:ext uri="{BB962C8B-B14F-4D97-AF65-F5344CB8AC3E}">
        <p14:creationId xmlns:p14="http://schemas.microsoft.com/office/powerpoint/2010/main" val="2513092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defRPr/>
            </a:pPr>
            <a:r>
              <a:rPr lang="en-US"/>
              <a:t>Networks</a:t>
            </a:r>
          </a:p>
        </p:txBody>
      </p:sp>
      <p:sp>
        <p:nvSpPr>
          <p:cNvPr id="175107" name="Rectangle 3"/>
          <p:cNvSpPr>
            <a:spLocks noGrp="1" noChangeArrowheads="1"/>
          </p:cNvSpPr>
          <p:nvPr>
            <p:ph type="body" idx="1"/>
          </p:nvPr>
        </p:nvSpPr>
        <p:spPr/>
        <p:txBody>
          <a:bodyPr/>
          <a:lstStyle/>
          <a:p>
            <a:pPr marL="609600" indent="-609600" eaLnBrk="1" hangingPunct="1"/>
            <a:r>
              <a:rPr lang="en-US">
                <a:solidFill>
                  <a:srgbClr val="3333FF"/>
                </a:solidFill>
              </a:rPr>
              <a:t>Reliability</a:t>
            </a:r>
          </a:p>
          <a:p>
            <a:pPr marL="971550" lvl="1" indent="-514350" eaLnBrk="1" hangingPunct="1"/>
            <a:r>
              <a:rPr lang="en-US" sz="2500"/>
              <a:t>Reliability is measured by:</a:t>
            </a:r>
            <a:endParaRPr lang="en-US" sz="2300"/>
          </a:p>
          <a:p>
            <a:pPr marL="1352550" lvl="2" indent="-438150" eaLnBrk="1" hangingPunct="1">
              <a:buFont typeface="Wingdings" pitchFamily="2" charset="2"/>
              <a:buAutoNum type="arabicPeriod"/>
            </a:pPr>
            <a:r>
              <a:rPr lang="en-US"/>
              <a:t>Frequency of failure</a:t>
            </a:r>
          </a:p>
          <a:p>
            <a:pPr marL="1352550" lvl="2" indent="-438150" eaLnBrk="1" hangingPunct="1">
              <a:buFont typeface="Wingdings" pitchFamily="2" charset="2"/>
              <a:buAutoNum type="arabicPeriod"/>
            </a:pPr>
            <a:r>
              <a:rPr lang="en-US"/>
              <a:t>Recovery time of a network after a failure</a:t>
            </a:r>
          </a:p>
          <a:p>
            <a:pPr marL="1352550" lvl="2" indent="-438150" eaLnBrk="1" hangingPunct="1">
              <a:buFont typeface="Wingdings" pitchFamily="2" charset="2"/>
              <a:buAutoNum type="arabicPeriod"/>
            </a:pPr>
            <a:r>
              <a:rPr lang="en-US"/>
              <a:t>Network’s robustness in a catastrophe: protect by good back up network system</a:t>
            </a:r>
          </a:p>
        </p:txBody>
      </p:sp>
    </p:spTree>
    <p:extLst>
      <p:ext uri="{BB962C8B-B14F-4D97-AF65-F5344CB8AC3E}">
        <p14:creationId xmlns:p14="http://schemas.microsoft.com/office/powerpoint/2010/main" val="5260934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51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510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5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defRPr/>
            </a:pPr>
            <a:r>
              <a:rPr lang="en-US"/>
              <a:t>Networks</a:t>
            </a:r>
          </a:p>
        </p:txBody>
      </p:sp>
      <p:sp>
        <p:nvSpPr>
          <p:cNvPr id="176131" name="Rectangle 3"/>
          <p:cNvSpPr>
            <a:spLocks noGrp="1" noChangeArrowheads="1"/>
          </p:cNvSpPr>
          <p:nvPr>
            <p:ph type="body" idx="1"/>
          </p:nvPr>
        </p:nvSpPr>
        <p:spPr/>
        <p:txBody>
          <a:bodyPr/>
          <a:lstStyle/>
          <a:p>
            <a:pPr marL="609600" indent="-609600" eaLnBrk="1" hangingPunct="1"/>
            <a:r>
              <a:rPr lang="en-US">
                <a:solidFill>
                  <a:srgbClr val="3333FF"/>
                </a:solidFill>
              </a:rPr>
              <a:t>Security</a:t>
            </a:r>
          </a:p>
          <a:p>
            <a:pPr marL="971550" lvl="1" indent="-514350" eaLnBrk="1" hangingPunct="1"/>
            <a:r>
              <a:rPr lang="en-US"/>
              <a:t>Protecting data from unauthorized access</a:t>
            </a:r>
          </a:p>
          <a:p>
            <a:pPr marL="971550" lvl="1" indent="-514350" eaLnBrk="1" hangingPunct="1"/>
            <a:r>
              <a:rPr lang="en-US"/>
              <a:t>Protecting data from damage and development</a:t>
            </a:r>
          </a:p>
          <a:p>
            <a:pPr marL="971550" lvl="1" indent="-514350" eaLnBrk="1" hangingPunct="1"/>
            <a:r>
              <a:rPr lang="en-US"/>
              <a:t>Implementing policies and procedures for recovery from breaches and data losses (Recovery plan)</a:t>
            </a:r>
          </a:p>
        </p:txBody>
      </p:sp>
    </p:spTree>
    <p:extLst>
      <p:ext uri="{BB962C8B-B14F-4D97-AF65-F5344CB8AC3E}">
        <p14:creationId xmlns:p14="http://schemas.microsoft.com/office/powerpoint/2010/main" val="4159915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61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61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61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defRPr/>
            </a:pPr>
            <a:r>
              <a:rPr lang="en-US"/>
              <a:t>Networks</a:t>
            </a:r>
          </a:p>
        </p:txBody>
      </p:sp>
      <p:sp>
        <p:nvSpPr>
          <p:cNvPr id="33795" name="Rectangle 3"/>
          <p:cNvSpPr>
            <a:spLocks noGrp="1" noChangeArrowheads="1"/>
          </p:cNvSpPr>
          <p:nvPr>
            <p:ph type="body" idx="1"/>
          </p:nvPr>
        </p:nvSpPr>
        <p:spPr/>
        <p:txBody>
          <a:bodyPr/>
          <a:lstStyle/>
          <a:p>
            <a:pPr eaLnBrk="1" hangingPunct="1"/>
            <a:r>
              <a:rPr lang="en-US"/>
              <a:t>Physical Structures:</a:t>
            </a:r>
          </a:p>
          <a:p>
            <a:pPr lvl="1" eaLnBrk="1" hangingPunct="1"/>
            <a:r>
              <a:rPr lang="en-GB"/>
              <a:t>Type of connection</a:t>
            </a:r>
          </a:p>
          <a:p>
            <a:pPr lvl="2" eaLnBrk="1" hangingPunct="1"/>
            <a:r>
              <a:rPr lang="en-US">
                <a:solidFill>
                  <a:srgbClr val="3333FF"/>
                </a:solidFill>
              </a:rPr>
              <a:t>Network</a:t>
            </a:r>
            <a:r>
              <a:rPr lang="en-US"/>
              <a:t>: Two or more devices connected through links</a:t>
            </a:r>
          </a:p>
          <a:p>
            <a:pPr lvl="2" eaLnBrk="1" hangingPunct="1"/>
            <a:r>
              <a:rPr lang="en-US">
                <a:solidFill>
                  <a:srgbClr val="3333FF"/>
                </a:solidFill>
              </a:rPr>
              <a:t>Link</a:t>
            </a:r>
            <a:r>
              <a:rPr lang="en-US"/>
              <a:t>: Communication pathway that transfers data from one device two another</a:t>
            </a:r>
          </a:p>
          <a:p>
            <a:pPr lvl="2" eaLnBrk="1" hangingPunct="1"/>
            <a:r>
              <a:rPr lang="en-US"/>
              <a:t>Two devices must be connected in some way to the same link at the same time. Two possible types:</a:t>
            </a:r>
          </a:p>
          <a:p>
            <a:pPr lvl="3" eaLnBrk="1" hangingPunct="1"/>
            <a:r>
              <a:rPr lang="en-US"/>
              <a:t>Point-to-Point</a:t>
            </a:r>
          </a:p>
          <a:p>
            <a:pPr lvl="3" eaLnBrk="1" hangingPunct="1"/>
            <a:r>
              <a:rPr lang="en-US"/>
              <a:t>Multipoint</a:t>
            </a:r>
          </a:p>
          <a:p>
            <a:pPr lvl="1" eaLnBrk="1" hangingPunct="1"/>
            <a:endParaRPr lang="en-US"/>
          </a:p>
        </p:txBody>
      </p:sp>
    </p:spTree>
    <p:extLst>
      <p:ext uri="{BB962C8B-B14F-4D97-AF65-F5344CB8AC3E}">
        <p14:creationId xmlns:p14="http://schemas.microsoft.com/office/powerpoint/2010/main" val="2474212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eaLnBrk="1" hangingPunct="1">
              <a:defRPr/>
            </a:pPr>
            <a:r>
              <a:rPr lang="en-US"/>
              <a:t>Networks</a:t>
            </a:r>
          </a:p>
        </p:txBody>
      </p:sp>
      <p:sp>
        <p:nvSpPr>
          <p:cNvPr id="34819" name="Rectangle 3"/>
          <p:cNvSpPr>
            <a:spLocks noGrp="1" noChangeArrowheads="1"/>
          </p:cNvSpPr>
          <p:nvPr>
            <p:ph type="body" idx="1"/>
          </p:nvPr>
        </p:nvSpPr>
        <p:spPr/>
        <p:txBody>
          <a:bodyPr/>
          <a:lstStyle/>
          <a:p>
            <a:pPr eaLnBrk="1" hangingPunct="1"/>
            <a:r>
              <a:rPr lang="en-GB"/>
              <a:t>Point-to-Point</a:t>
            </a:r>
          </a:p>
          <a:p>
            <a:pPr lvl="1" eaLnBrk="1" hangingPunct="1"/>
            <a:r>
              <a:rPr lang="ar-SA"/>
              <a:t> </a:t>
            </a:r>
            <a:r>
              <a:rPr lang="en-GB"/>
              <a:t>Dedicated link between two devices</a:t>
            </a:r>
          </a:p>
          <a:p>
            <a:pPr lvl="1" eaLnBrk="1" hangingPunct="1"/>
            <a:r>
              <a:rPr lang="en-GB"/>
              <a:t>Entire capacity of the link is reserved for transmission between those two devices</a:t>
            </a:r>
          </a:p>
          <a:p>
            <a:pPr lvl="1" eaLnBrk="1" hangingPunct="1"/>
            <a:r>
              <a:rPr lang="en-US"/>
              <a:t>Use an actual length of wire or cable</a:t>
            </a:r>
          </a:p>
        </p:txBody>
      </p:sp>
      <p:pic>
        <p:nvPicPr>
          <p:cNvPr id="3482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450" y="4881563"/>
            <a:ext cx="5754688"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702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en-US"/>
              <a:t>Networks</a:t>
            </a:r>
          </a:p>
        </p:txBody>
      </p:sp>
      <p:sp>
        <p:nvSpPr>
          <p:cNvPr id="35843" name="Rectangle 3"/>
          <p:cNvSpPr>
            <a:spLocks noGrp="1" noChangeArrowheads="1"/>
          </p:cNvSpPr>
          <p:nvPr>
            <p:ph type="body" idx="1"/>
          </p:nvPr>
        </p:nvSpPr>
        <p:spPr/>
        <p:txBody>
          <a:bodyPr/>
          <a:lstStyle/>
          <a:p>
            <a:pPr eaLnBrk="1" hangingPunct="1"/>
            <a:r>
              <a:rPr lang="en-GB"/>
              <a:t>Point-to-Point</a:t>
            </a:r>
          </a:p>
          <a:p>
            <a:pPr lvl="1" eaLnBrk="1" hangingPunct="1"/>
            <a:r>
              <a:rPr lang="ar-SA"/>
              <a:t> </a:t>
            </a:r>
            <a:r>
              <a:rPr lang="en-US"/>
              <a:t>Other options, such as microwave or satellite</a:t>
            </a:r>
            <a:r>
              <a:rPr lang="en-US" sz="5000"/>
              <a:t> </a:t>
            </a:r>
            <a:r>
              <a:rPr lang="en-US"/>
              <a:t>is possible</a:t>
            </a:r>
          </a:p>
          <a:p>
            <a:pPr lvl="1" eaLnBrk="1" hangingPunct="1"/>
            <a:r>
              <a:rPr lang="en-US"/>
              <a:t>Example: Television remote control</a:t>
            </a:r>
            <a:endParaRPr lang="en-GB"/>
          </a:p>
        </p:txBody>
      </p:sp>
      <p:pic>
        <p:nvPicPr>
          <p:cNvPr id="35844" name="Picture 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4953000"/>
            <a:ext cx="4114800"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590218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en-US"/>
              <a:t>Networks</a:t>
            </a:r>
          </a:p>
        </p:txBody>
      </p:sp>
      <p:sp>
        <p:nvSpPr>
          <p:cNvPr id="36867" name="Rectangle 3"/>
          <p:cNvSpPr>
            <a:spLocks noGrp="1" noChangeArrowheads="1"/>
          </p:cNvSpPr>
          <p:nvPr>
            <p:ph type="body" idx="1"/>
          </p:nvPr>
        </p:nvSpPr>
        <p:spPr/>
        <p:txBody>
          <a:bodyPr/>
          <a:lstStyle/>
          <a:p>
            <a:pPr eaLnBrk="1" hangingPunct="1"/>
            <a:r>
              <a:rPr lang="en-US"/>
              <a:t>Multipoint (multidrop)</a:t>
            </a:r>
            <a:endParaRPr lang="en-GB"/>
          </a:p>
          <a:p>
            <a:pPr lvl="1" eaLnBrk="1" hangingPunct="1"/>
            <a:r>
              <a:rPr lang="ar-SA"/>
              <a:t> </a:t>
            </a:r>
            <a:r>
              <a:rPr lang="en-US"/>
              <a:t>More than two devices share a single link</a:t>
            </a:r>
          </a:p>
          <a:p>
            <a:pPr lvl="1" eaLnBrk="1" hangingPunct="1"/>
            <a:r>
              <a:rPr lang="en-US"/>
              <a:t>Capacity is shared</a:t>
            </a:r>
          </a:p>
          <a:p>
            <a:pPr lvl="1" eaLnBrk="1" hangingPunct="1"/>
            <a:r>
              <a:rPr lang="en-US"/>
              <a:t>Channel is shared either spatially or temporally</a:t>
            </a:r>
          </a:p>
          <a:p>
            <a:pPr lvl="2" eaLnBrk="1" hangingPunct="1"/>
            <a:r>
              <a:rPr lang="en-US"/>
              <a:t> Spatially shared: if devices use link at same time</a:t>
            </a:r>
          </a:p>
          <a:p>
            <a:pPr lvl="2" eaLnBrk="1" hangingPunct="1"/>
            <a:r>
              <a:rPr lang="en-US"/>
              <a:t> Timeshare: if users must take turns </a:t>
            </a:r>
            <a:endParaRPr lang="en-GB"/>
          </a:p>
        </p:txBody>
      </p:sp>
      <p:pic>
        <p:nvPicPr>
          <p:cNvPr id="3686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4549775"/>
            <a:ext cx="5797550"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7093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3 - </a:t>
            </a:r>
            <a:fld id="{9A0DB2DC-4C9A-4742-B13C-FB6460FD3503}" type="slidenum">
              <a:rPr lang="en-US" sz="1400" b="1">
                <a:solidFill>
                  <a:srgbClr val="16027C"/>
                </a:solidFill>
                <a:latin typeface="Arial" panose="02080604020202020204" pitchFamily="34" charset="0"/>
              </a:rPr>
              <a:t>39</a:t>
            </a:fld>
            <a:endParaRPr lang="en-US" sz="1400" b="1">
              <a:solidFill>
                <a:srgbClr val="16027C"/>
              </a:solidFill>
              <a:latin typeface="Arial" panose="02080604020202020204" pitchFamily="34" charset="0"/>
            </a:endParaRPr>
          </a:p>
        </p:txBody>
      </p:sp>
      <p:sp>
        <p:nvSpPr>
          <p:cNvPr id="240648" name="Title 240647"/>
          <p:cNvSpPr>
            <a:spLocks noGrp="1"/>
          </p:cNvSpPr>
          <p:nvPr>
            <p:ph type="title"/>
          </p:nvPr>
        </p:nvSpPr>
        <p:spPr>
          <a:xfrm>
            <a:off x="520700" y="547688"/>
            <a:ext cx="8118475" cy="762000"/>
          </a:xfrm>
        </p:spPr>
        <p:txBody>
          <a:bodyPr anchor="ctr" anchorCtr="0"/>
          <a:lstStyle/>
          <a:p>
            <a:r>
              <a:t>Digital Transmission of Digital Data</a:t>
            </a:r>
          </a:p>
        </p:txBody>
      </p:sp>
      <p:sp>
        <p:nvSpPr>
          <p:cNvPr id="240649" name="Text Placeholder 240648"/>
          <p:cNvSpPr>
            <a:spLocks noGrp="1"/>
          </p:cNvSpPr>
          <p:nvPr>
            <p:ph type="body" idx="1"/>
          </p:nvPr>
        </p:nvSpPr>
        <p:spPr/>
        <p:txBody>
          <a:bodyPr/>
          <a:lstStyle/>
          <a:p>
            <a:pPr>
              <a:lnSpc>
                <a:spcPct val="110000"/>
              </a:lnSpc>
            </a:pPr>
            <a:r>
              <a:rPr sz="2400"/>
              <a:t>Computers produce binary data</a:t>
            </a:r>
          </a:p>
          <a:p>
            <a:pPr>
              <a:lnSpc>
                <a:spcPct val="110000"/>
              </a:lnSpc>
            </a:pPr>
            <a:r>
              <a:rPr sz="2400"/>
              <a:t>Standards needed to ensure both sender and receiver understands this data</a:t>
            </a:r>
          </a:p>
          <a:p>
            <a:pPr lvl="1">
              <a:lnSpc>
                <a:spcPct val="110000"/>
              </a:lnSpc>
            </a:pPr>
            <a:r>
              <a:rPr sz="2000"/>
              <a:t>Coding: language that computers use to represent letters, numbers, and symbols in a message</a:t>
            </a:r>
          </a:p>
          <a:p>
            <a:pPr lvl="1">
              <a:lnSpc>
                <a:spcPct val="110000"/>
              </a:lnSpc>
            </a:pPr>
            <a:r>
              <a:rPr sz="2000"/>
              <a:t>Signaling (aka, encoding): language that computers use to represent bits (0 or 1) in electrical voltage</a:t>
            </a:r>
          </a:p>
          <a:p>
            <a:pPr>
              <a:lnSpc>
                <a:spcPct val="110000"/>
              </a:lnSpc>
            </a:pPr>
            <a:r>
              <a:rPr sz="2400"/>
              <a:t>Bits in a message can be send in </a:t>
            </a:r>
          </a:p>
          <a:p>
            <a:pPr lvl="1">
              <a:lnSpc>
                <a:spcPct val="110000"/>
              </a:lnSpc>
            </a:pPr>
            <a:r>
              <a:rPr sz="2000"/>
              <a:t>A single wire one after another (Serial transmission) </a:t>
            </a:r>
          </a:p>
          <a:p>
            <a:pPr lvl="1">
              <a:lnSpc>
                <a:spcPct val="110000"/>
              </a:lnSpc>
            </a:pPr>
            <a:r>
              <a:rPr sz="2000"/>
              <a:t>Multiple wires simultaneously (Parallel transmission)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3.</a:t>
            </a:r>
            <a:fld id="{9A0DB2DC-4C9A-4742-B13C-FB6460FD3503}" type="slidenum">
              <a:rPr lang="en-US" sz="2000" b="1" i="0">
                <a:latin typeface="Arial" panose="02080604020202020204" pitchFamily="34" charset="0"/>
              </a:rPr>
              <a:t>40</a:t>
            </a:fld>
            <a:endParaRPr lang="en-US" sz="2000" b="1" i="0">
              <a:latin typeface="Arial" panose="02080604020202020204" pitchFamily="34" charset="0"/>
            </a:endParaRPr>
          </a:p>
        </p:txBody>
      </p:sp>
      <p:sp>
        <p:nvSpPr>
          <p:cNvPr id="801794" name="Rectangles 801793"/>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i="0" baseline="0" dirty="0">
              <a:effectLst>
                <a:outerShdw blurRad="38100" dist="38100" dir="2700000">
                  <a:srgbClr val="FFFFFF"/>
                </a:outerShdw>
              </a:effectLst>
            </a:endParaRPr>
          </a:p>
        </p:txBody>
      </p:sp>
      <p:sp>
        <p:nvSpPr>
          <p:cNvPr id="801795" name="Text Box 801794"/>
          <p:cNvSpPr txBox="1"/>
          <p:nvPr/>
        </p:nvSpPr>
        <p:spPr>
          <a:xfrm>
            <a:off x="228600" y="76200"/>
            <a:ext cx="6716395" cy="583565"/>
          </a:xfrm>
          <a:prstGeom prst="rect">
            <a:avLst/>
          </a:prstGeom>
          <a:noFill/>
          <a:ln w="9525">
            <a:noFill/>
          </a:ln>
        </p:spPr>
        <p:txBody>
          <a:bodyPr wrap="none" anchor="t" anchorCtr="0">
            <a:spAutoFit/>
          </a:bodyPr>
          <a:lstStyle/>
          <a:p>
            <a:r>
              <a:rPr sz="3200" i="0" baseline="0">
                <a:effectLst>
                  <a:outerShdw blurRad="38100" dist="38100" dir="2700000">
                    <a:srgbClr val="C0C0C0"/>
                  </a:outerShdw>
                </a:effectLst>
                <a:latin typeface="Times" charset="0"/>
              </a:rPr>
              <a:t>TRANSMISSION IMPAIRMENT</a:t>
            </a:r>
          </a:p>
        </p:txBody>
      </p:sp>
      <p:sp>
        <p:nvSpPr>
          <p:cNvPr id="801796" name="Text Box 801795"/>
          <p:cNvSpPr txBox="1"/>
          <p:nvPr/>
        </p:nvSpPr>
        <p:spPr>
          <a:xfrm>
            <a:off x="8229600" y="6400800"/>
            <a:ext cx="184150" cy="366713"/>
          </a:xfrm>
          <a:prstGeom prst="rect">
            <a:avLst/>
          </a:prstGeom>
          <a:noFill/>
          <a:ln w="9525">
            <a:noFill/>
          </a:ln>
        </p:spPr>
        <p:txBody>
          <a:bodyPr wrap="none" anchor="t" anchorCtr="0">
            <a:spAutoFit/>
          </a:bodyPr>
          <a:lstStyle/>
          <a:p>
            <a:endParaRPr sz="1800" i="0" baseline="0" dirty="0"/>
          </a:p>
        </p:txBody>
      </p:sp>
      <p:sp>
        <p:nvSpPr>
          <p:cNvPr id="801797" name="Rectangles 801796"/>
          <p:cNvSpPr/>
          <p:nvPr/>
        </p:nvSpPr>
        <p:spPr>
          <a:xfrm>
            <a:off x="76200" y="900916"/>
            <a:ext cx="8610600" cy="3970318"/>
          </a:xfrm>
          <a:prstGeom prst="rect">
            <a:avLst/>
          </a:prstGeom>
          <a:noFill/>
          <a:ln w="9525">
            <a:noFill/>
          </a:ln>
        </p:spPr>
        <p:txBody>
          <a:bodyPr anchor="ctr" anchorCtr="0">
            <a:spAutoFit/>
          </a:bodyPr>
          <a:lstStyle/>
          <a:p>
            <a:pPr marL="457200" indent="-457200" algn="just" eaLnBrk="1" hangingPunct="1">
              <a:buFont typeface="Arial" pitchFamily="34" charset="0"/>
              <a:buChar char="•"/>
            </a:pPr>
            <a:r>
              <a:rPr sz="2800" b="0" baseline="0" dirty="0">
                <a:effectLst>
                  <a:outerShdw blurRad="38100" dist="38100" dir="2700000">
                    <a:srgbClr val="C0C0C0"/>
                  </a:outerShdw>
                </a:effectLst>
                <a:latin typeface="Times" pitchFamily="18" charset="0"/>
                <a:cs typeface="Times" pitchFamily="18" charset="0"/>
              </a:rPr>
              <a:t>Signals travel through transmission media, which are not perfect. </a:t>
            </a:r>
            <a:endParaRPr lang="en-US" sz="2800" b="0" baseline="0" dirty="0">
              <a:effectLst>
                <a:outerShdw blurRad="38100" dist="38100" dir="2700000">
                  <a:srgbClr val="C0C0C0"/>
                </a:outerShdw>
              </a:effectLst>
              <a:latin typeface="Times" pitchFamily="18" charset="0"/>
              <a:cs typeface="Times" pitchFamily="18" charset="0"/>
            </a:endParaRPr>
          </a:p>
          <a:p>
            <a:pPr marL="457200" indent="-457200" algn="just" eaLnBrk="1" hangingPunct="1">
              <a:buFont typeface="Arial" pitchFamily="34" charset="0"/>
              <a:buChar char="•"/>
            </a:pPr>
            <a:r>
              <a:rPr sz="2800" b="0" baseline="0" dirty="0">
                <a:effectLst>
                  <a:outerShdw blurRad="38100" dist="38100" dir="2700000">
                    <a:srgbClr val="C0C0C0"/>
                  </a:outerShdw>
                </a:effectLst>
                <a:latin typeface="Times" pitchFamily="18" charset="0"/>
                <a:cs typeface="Times" pitchFamily="18" charset="0"/>
              </a:rPr>
              <a:t>The imperfection causes signal impairment. </a:t>
            </a:r>
            <a:endParaRPr lang="en-US" sz="2800" b="0" baseline="0" dirty="0">
              <a:effectLst>
                <a:outerShdw blurRad="38100" dist="38100" dir="2700000">
                  <a:srgbClr val="C0C0C0"/>
                </a:outerShdw>
              </a:effectLst>
              <a:latin typeface="Times" pitchFamily="18" charset="0"/>
              <a:cs typeface="Times" pitchFamily="18" charset="0"/>
            </a:endParaRPr>
          </a:p>
          <a:p>
            <a:pPr marL="457200" indent="-457200" algn="just" eaLnBrk="1" hangingPunct="1">
              <a:buFont typeface="Arial" pitchFamily="34" charset="0"/>
              <a:buChar char="•"/>
            </a:pPr>
            <a:r>
              <a:rPr sz="2800" b="0" baseline="0" dirty="0">
                <a:effectLst>
                  <a:outerShdw blurRad="38100" dist="38100" dir="2700000">
                    <a:srgbClr val="C0C0C0"/>
                  </a:outerShdw>
                </a:effectLst>
                <a:latin typeface="Times" pitchFamily="18" charset="0"/>
                <a:cs typeface="Times" pitchFamily="18" charset="0"/>
              </a:rPr>
              <a:t>This means that the signal at the beginning of the medium is not the same as the signal at the end of the medium.</a:t>
            </a:r>
            <a:endParaRPr lang="en-US" sz="2800" b="0" baseline="0" dirty="0">
              <a:effectLst>
                <a:outerShdw blurRad="38100" dist="38100" dir="2700000">
                  <a:srgbClr val="C0C0C0"/>
                </a:outerShdw>
              </a:effectLst>
              <a:latin typeface="Times" pitchFamily="18" charset="0"/>
              <a:cs typeface="Times" pitchFamily="18" charset="0"/>
            </a:endParaRPr>
          </a:p>
          <a:p>
            <a:pPr marL="457200" indent="-457200" algn="just" eaLnBrk="1" hangingPunct="1">
              <a:buFont typeface="Arial" pitchFamily="34" charset="0"/>
              <a:buChar char="•"/>
            </a:pPr>
            <a:r>
              <a:rPr sz="2800" b="0" baseline="0" dirty="0">
                <a:effectLst>
                  <a:outerShdw blurRad="38100" dist="38100" dir="2700000">
                    <a:srgbClr val="C0C0C0"/>
                  </a:outerShdw>
                </a:effectLst>
                <a:latin typeface="Times" pitchFamily="18" charset="0"/>
                <a:cs typeface="Times" pitchFamily="18" charset="0"/>
              </a:rPr>
              <a:t> What is sent is not what is received. </a:t>
            </a:r>
            <a:endParaRPr lang="en-US" sz="2800" b="0" baseline="0" dirty="0">
              <a:effectLst>
                <a:outerShdw blurRad="38100" dist="38100" dir="2700000">
                  <a:srgbClr val="C0C0C0"/>
                </a:outerShdw>
              </a:effectLst>
              <a:latin typeface="Times" pitchFamily="18" charset="0"/>
              <a:cs typeface="Times" pitchFamily="18" charset="0"/>
            </a:endParaRPr>
          </a:p>
          <a:p>
            <a:pPr marL="457200" indent="-457200" algn="just" eaLnBrk="1" hangingPunct="1">
              <a:buFont typeface="Arial" pitchFamily="34" charset="0"/>
              <a:buChar char="•"/>
            </a:pPr>
            <a:r>
              <a:rPr sz="2800" b="0" baseline="0" dirty="0">
                <a:effectLst>
                  <a:outerShdw blurRad="38100" dist="38100" dir="2700000">
                    <a:srgbClr val="C0C0C0"/>
                  </a:outerShdw>
                </a:effectLst>
                <a:latin typeface="Times" pitchFamily="18" charset="0"/>
                <a:cs typeface="Times" pitchFamily="18" charset="0"/>
              </a:rPr>
              <a:t>Three causes of impairment are </a:t>
            </a:r>
            <a:r>
              <a:rPr sz="2800" b="0" baseline="0" dirty="0">
                <a:solidFill>
                  <a:schemeClr val="hlink"/>
                </a:solidFill>
                <a:effectLst>
                  <a:outerShdw blurRad="38100" dist="38100" dir="2700000">
                    <a:srgbClr val="C0C0C0"/>
                  </a:outerShdw>
                </a:effectLst>
                <a:latin typeface="Times" pitchFamily="18" charset="0"/>
                <a:cs typeface="Times" pitchFamily="18" charset="0"/>
              </a:rPr>
              <a:t>attenuation</a:t>
            </a:r>
            <a:r>
              <a:rPr sz="2800" b="0" baseline="0" dirty="0">
                <a:effectLst>
                  <a:outerShdw blurRad="38100" dist="38100" dir="2700000">
                    <a:srgbClr val="C0C0C0"/>
                  </a:outerShdw>
                </a:effectLst>
                <a:latin typeface="Times" pitchFamily="18" charset="0"/>
                <a:cs typeface="Times" pitchFamily="18" charset="0"/>
              </a:rPr>
              <a:t>, </a:t>
            </a:r>
            <a:r>
              <a:rPr sz="2800" b="0" baseline="0" dirty="0">
                <a:solidFill>
                  <a:schemeClr val="hlink"/>
                </a:solidFill>
                <a:effectLst>
                  <a:outerShdw blurRad="38100" dist="38100" dir="2700000">
                    <a:srgbClr val="C0C0C0"/>
                  </a:outerShdw>
                </a:effectLst>
                <a:latin typeface="Times" pitchFamily="18" charset="0"/>
                <a:cs typeface="Times" pitchFamily="18" charset="0"/>
              </a:rPr>
              <a:t>distortion</a:t>
            </a:r>
            <a:r>
              <a:rPr sz="2800" b="0" baseline="0" dirty="0">
                <a:effectLst>
                  <a:outerShdw blurRad="38100" dist="38100" dir="2700000">
                    <a:srgbClr val="C0C0C0"/>
                  </a:outerShdw>
                </a:effectLst>
                <a:latin typeface="Times" pitchFamily="18" charset="0"/>
                <a:cs typeface="Times" pitchFamily="18" charset="0"/>
              </a:rPr>
              <a:t>, and </a:t>
            </a:r>
            <a:r>
              <a:rPr sz="2800" b="0" baseline="0" dirty="0">
                <a:solidFill>
                  <a:schemeClr val="hlink"/>
                </a:solidFill>
                <a:effectLst>
                  <a:outerShdw blurRad="38100" dist="38100" dir="2700000">
                    <a:srgbClr val="C0C0C0"/>
                  </a:outerShdw>
                </a:effectLst>
                <a:latin typeface="Times" pitchFamily="18" charset="0"/>
                <a:cs typeface="Times" pitchFamily="18" charset="0"/>
              </a:rPr>
              <a:t>noise</a:t>
            </a:r>
            <a:r>
              <a:rPr sz="2800" b="0" baseline="0" dirty="0">
                <a:effectLst>
                  <a:outerShdw blurRad="38100" dist="38100" dir="2700000">
                    <a:srgbClr val="C0C0C0"/>
                  </a:outerShdw>
                </a:effectLst>
                <a:latin typeface="Times" pitchFamily="18" charset="0"/>
                <a:cs typeface="Times" pitchFamily="18"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41</a:t>
            </a:fld>
            <a:endParaRPr lang="en-US" sz="2000" b="1">
              <a:latin typeface="Arial" panose="02080604020202020204" pitchFamily="34" charset="0"/>
            </a:endParaRPr>
          </a:p>
        </p:txBody>
      </p:sp>
      <p:sp>
        <p:nvSpPr>
          <p:cNvPr id="877570" name="Rectangles 877569"/>
          <p:cNvSpPr/>
          <p:nvPr/>
        </p:nvSpPr>
        <p:spPr>
          <a:xfrm>
            <a:off x="0" y="0"/>
            <a:ext cx="9144000" cy="9906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dirty="0">
              <a:effectLst>
                <a:outerShdw blurRad="38100" dist="38100" dir="2700000">
                  <a:srgbClr val="FFFFFF"/>
                </a:outerShdw>
              </a:effectLst>
              <a:latin typeface="Times New Roman" charset="0"/>
            </a:endParaRPr>
          </a:p>
        </p:txBody>
      </p:sp>
      <p:sp>
        <p:nvSpPr>
          <p:cNvPr id="877571" name="Text Box 877570"/>
          <p:cNvSpPr txBox="1"/>
          <p:nvPr/>
        </p:nvSpPr>
        <p:spPr>
          <a:xfrm>
            <a:off x="228600" y="152400"/>
            <a:ext cx="2957830" cy="583565"/>
          </a:xfrm>
          <a:prstGeom prst="rect">
            <a:avLst/>
          </a:prstGeom>
          <a:noFill/>
          <a:ln w="9525">
            <a:noFill/>
          </a:ln>
        </p:spPr>
        <p:txBody>
          <a:bodyPr wrap="none" anchor="t" anchorCtr="0">
            <a:spAutoFit/>
          </a:bodyPr>
          <a:lstStyle/>
          <a:p>
            <a:r>
              <a:rPr>
                <a:effectLst>
                  <a:outerShdw blurRad="38100" dist="38100" dir="2700000">
                    <a:srgbClr val="C0C0C0"/>
                  </a:outerShdw>
                </a:effectLst>
                <a:latin typeface="Times" charset="0"/>
              </a:rPr>
              <a:t>PROTOCOLS</a:t>
            </a:r>
          </a:p>
        </p:txBody>
      </p:sp>
      <p:sp>
        <p:nvSpPr>
          <p:cNvPr id="877572" name="Text Box 877571"/>
          <p:cNvSpPr txBox="1"/>
          <p:nvPr/>
        </p:nvSpPr>
        <p:spPr>
          <a:xfrm>
            <a:off x="8229600" y="6400800"/>
            <a:ext cx="184150" cy="366713"/>
          </a:xfrm>
          <a:prstGeom prst="rect">
            <a:avLst/>
          </a:prstGeom>
          <a:noFill/>
          <a:ln w="9525">
            <a:noFill/>
          </a:ln>
        </p:spPr>
        <p:txBody>
          <a:bodyPr wrap="none" anchor="t" anchorCtr="0">
            <a:spAutoFit/>
          </a:bodyPr>
          <a:lstStyle/>
          <a:p>
            <a:endParaRPr sz="1800" dirty="0">
              <a:latin typeface="Times New Roman" charset="0"/>
            </a:endParaRPr>
          </a:p>
        </p:txBody>
      </p:sp>
      <p:sp>
        <p:nvSpPr>
          <p:cNvPr id="877573" name="Rectangles 877572"/>
          <p:cNvSpPr/>
          <p:nvPr/>
        </p:nvSpPr>
        <p:spPr>
          <a:xfrm>
            <a:off x="228600" y="1082675"/>
            <a:ext cx="8686800" cy="2227263"/>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latin typeface="Times New Roman" charset="0"/>
              </a:rPr>
              <a:t>A protocol is synonymous with rule. It consists of a set of rules that</a:t>
            </a:r>
            <a:r>
              <a:rPr sz="2800" i="1" dirty="0">
                <a:effectLst>
                  <a:outerShdw blurRad="38100" dist="38100" dir="2700000">
                    <a:srgbClr val="C0C0C0"/>
                  </a:outerShdw>
                </a:effectLst>
                <a:latin typeface="Times New Roman" charset="0"/>
              </a:rPr>
              <a:t> </a:t>
            </a:r>
            <a:r>
              <a:rPr sz="2800" i="1">
                <a:effectLst>
                  <a:outerShdw blurRad="38100" dist="38100" dir="2700000">
                    <a:srgbClr val="C0C0C0"/>
                  </a:outerShdw>
                </a:effectLst>
                <a:latin typeface="Times New Roman" charset="0"/>
              </a:rPr>
              <a:t>govern data communications. It determines what</a:t>
            </a:r>
            <a:r>
              <a:rPr sz="2800" i="1" dirty="0">
                <a:effectLst>
                  <a:outerShdw blurRad="38100" dist="38100" dir="2700000">
                    <a:srgbClr val="C0C0C0"/>
                  </a:outerShdw>
                </a:effectLst>
                <a:latin typeface="Times New Roman" charset="0"/>
              </a:rPr>
              <a:t> </a:t>
            </a:r>
            <a:r>
              <a:rPr sz="2800" i="1">
                <a:effectLst>
                  <a:outerShdw blurRad="38100" dist="38100" dir="2700000">
                    <a:srgbClr val="C0C0C0"/>
                  </a:outerShdw>
                </a:effectLst>
                <a:latin typeface="Times New Roman" charset="0"/>
              </a:rPr>
              <a:t>is communicated, how it is communicated and when it is communicated. The key elements of a protocol are syntax, semantics and timing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42</a:t>
            </a:fld>
            <a:endParaRPr lang="en-US" sz="2000" b="1">
              <a:latin typeface="Arial" panose="02080604020202020204" pitchFamily="34" charset="0"/>
            </a:endParaRPr>
          </a:p>
        </p:txBody>
      </p:sp>
      <p:sp>
        <p:nvSpPr>
          <p:cNvPr id="911362" name="Straight Connector 911361"/>
          <p:cNvSpPr/>
          <p:nvPr/>
        </p:nvSpPr>
        <p:spPr>
          <a:xfrm>
            <a:off x="152400" y="228600"/>
            <a:ext cx="8763000" cy="0"/>
          </a:xfrm>
          <a:prstGeom prst="line">
            <a:avLst/>
          </a:prstGeom>
          <a:ln w="76200" cap="flat" cmpd="sng">
            <a:solidFill>
              <a:schemeClr val="hlink"/>
            </a:solidFill>
            <a:prstDash val="solid"/>
            <a:headEnd type="none" w="med" len="med"/>
            <a:tailEnd type="none" w="med" len="med"/>
          </a:ln>
        </p:spPr>
      </p:sp>
      <p:sp>
        <p:nvSpPr>
          <p:cNvPr id="911363" name="Straight Connector 911362"/>
          <p:cNvSpPr/>
          <p:nvPr/>
        </p:nvSpPr>
        <p:spPr>
          <a:xfrm>
            <a:off x="152400" y="1066800"/>
            <a:ext cx="8763000" cy="0"/>
          </a:xfrm>
          <a:prstGeom prst="line">
            <a:avLst/>
          </a:prstGeom>
          <a:ln w="19050" cap="flat" cmpd="sng">
            <a:solidFill>
              <a:schemeClr val="hlink"/>
            </a:solidFill>
            <a:prstDash val="solid"/>
            <a:headEnd type="none" w="med" len="med"/>
            <a:tailEnd type="none" w="med" len="med"/>
          </a:ln>
        </p:spPr>
      </p:sp>
      <p:sp>
        <p:nvSpPr>
          <p:cNvPr id="911364" name="Text Box 911363"/>
          <p:cNvSpPr txBox="1"/>
          <p:nvPr/>
        </p:nvSpPr>
        <p:spPr>
          <a:xfrm>
            <a:off x="304800" y="361950"/>
            <a:ext cx="5365750" cy="583565"/>
          </a:xfrm>
          <a:prstGeom prst="rect">
            <a:avLst/>
          </a:prstGeom>
          <a:noFill/>
          <a:ln w="9525">
            <a:noFill/>
          </a:ln>
        </p:spPr>
        <p:txBody>
          <a:bodyPr wrap="none" anchor="t" anchorCtr="0">
            <a:spAutoFit/>
          </a:bodyPr>
          <a:lstStyle/>
          <a:p>
            <a:r>
              <a:rPr>
                <a:latin typeface="Times New Roman" charset="0"/>
              </a:rPr>
              <a:t>Elements of a Protocol</a:t>
            </a:r>
            <a:endParaRPr sz="2000" i="1">
              <a:latin typeface="Times New Roman" charset="0"/>
            </a:endParaRPr>
          </a:p>
        </p:txBody>
      </p:sp>
      <p:sp>
        <p:nvSpPr>
          <p:cNvPr id="911365" name="Straight Connector 911364"/>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sp>
        <p:nvSpPr>
          <p:cNvPr id="911366" name="Text Box 911365"/>
          <p:cNvSpPr txBox="1"/>
          <p:nvPr/>
        </p:nvSpPr>
        <p:spPr>
          <a:xfrm>
            <a:off x="457200" y="1524000"/>
            <a:ext cx="7315200" cy="579438"/>
          </a:xfrm>
          <a:prstGeom prst="rect">
            <a:avLst/>
          </a:prstGeom>
          <a:noFill/>
          <a:ln w="9525">
            <a:noFill/>
          </a:ln>
        </p:spPr>
        <p:txBody>
          <a:bodyPr>
            <a:spAutoFit/>
          </a:bodyPr>
          <a:lstStyle/>
          <a:p>
            <a:pPr>
              <a:buNone/>
            </a:pPr>
            <a:endParaRPr dirty="0">
              <a:latin typeface="Arial" panose="02080604020202020204" pitchFamily="34" charset="0"/>
            </a:endParaRPr>
          </a:p>
        </p:txBody>
      </p:sp>
      <p:sp>
        <p:nvSpPr>
          <p:cNvPr id="911367" name="Text Placeholder 911366"/>
          <p:cNvSpPr>
            <a:spLocks noGrp="1"/>
          </p:cNvSpPr>
          <p:nvPr>
            <p:ph type="body" idx="1"/>
          </p:nvPr>
        </p:nvSpPr>
        <p:spPr>
          <a:xfrm>
            <a:off x="457200" y="1371600"/>
            <a:ext cx="7772400" cy="4114800"/>
          </a:xfrm>
          <a:noFill/>
          <a:ln>
            <a:noFill/>
          </a:ln>
        </p:spPr>
        <p:txBody>
          <a:bodyPr/>
          <a:lstStyle/>
          <a:p>
            <a:r>
              <a:rPr sz="2400" b="1">
                <a:solidFill>
                  <a:schemeClr val="folHlink"/>
                </a:solidFill>
                <a:latin typeface="Times New Roman" charset="0"/>
              </a:rPr>
              <a:t>Syntax</a:t>
            </a:r>
            <a:endParaRPr sz="2400" b="1" dirty="0">
              <a:solidFill>
                <a:schemeClr val="folHlink"/>
              </a:solidFill>
              <a:latin typeface="Times New Roman" charset="0"/>
            </a:endParaRPr>
          </a:p>
          <a:p>
            <a:pPr lvl="1"/>
            <a:r>
              <a:rPr sz="2000" b="1">
                <a:solidFill>
                  <a:schemeClr val="folHlink"/>
                </a:solidFill>
                <a:latin typeface="Times New Roman" charset="0"/>
              </a:rPr>
              <a:t>Structure or format of the data</a:t>
            </a:r>
            <a:endParaRPr sz="2000" b="1" dirty="0">
              <a:solidFill>
                <a:schemeClr val="folHlink"/>
              </a:solidFill>
              <a:latin typeface="Times New Roman" charset="0"/>
            </a:endParaRPr>
          </a:p>
          <a:p>
            <a:pPr lvl="1"/>
            <a:r>
              <a:rPr sz="2000" b="1">
                <a:solidFill>
                  <a:schemeClr val="folHlink"/>
                </a:solidFill>
                <a:latin typeface="Times New Roman" charset="0"/>
              </a:rPr>
              <a:t>Indicates how to read the bits - field delineation</a:t>
            </a:r>
          </a:p>
          <a:p>
            <a:r>
              <a:rPr sz="2400" b="1">
                <a:solidFill>
                  <a:schemeClr val="folHlink"/>
                </a:solidFill>
                <a:latin typeface="Times New Roman" charset="0"/>
              </a:rPr>
              <a:t>Semantics</a:t>
            </a:r>
            <a:endParaRPr sz="2400" b="1" dirty="0">
              <a:solidFill>
                <a:schemeClr val="folHlink"/>
              </a:solidFill>
              <a:latin typeface="Times New Roman" charset="0"/>
            </a:endParaRPr>
          </a:p>
          <a:p>
            <a:pPr lvl="1"/>
            <a:r>
              <a:rPr sz="2000" b="1">
                <a:solidFill>
                  <a:schemeClr val="folHlink"/>
                </a:solidFill>
                <a:latin typeface="Times New Roman" charset="0"/>
              </a:rPr>
              <a:t>Interprets the meaning of the bits</a:t>
            </a:r>
            <a:endParaRPr sz="2000" b="1" dirty="0">
              <a:solidFill>
                <a:schemeClr val="folHlink"/>
              </a:solidFill>
              <a:latin typeface="Times New Roman" charset="0"/>
            </a:endParaRPr>
          </a:p>
          <a:p>
            <a:pPr lvl="1"/>
            <a:r>
              <a:rPr sz="2000" b="1">
                <a:solidFill>
                  <a:schemeClr val="folHlink"/>
                </a:solidFill>
                <a:latin typeface="Times New Roman" charset="0"/>
              </a:rPr>
              <a:t>Knows which fields define what action</a:t>
            </a:r>
          </a:p>
          <a:p>
            <a:r>
              <a:rPr sz="2400" b="1">
                <a:solidFill>
                  <a:schemeClr val="folHlink"/>
                </a:solidFill>
                <a:latin typeface="Times New Roman" charset="0"/>
              </a:rPr>
              <a:t>Timing</a:t>
            </a:r>
            <a:endParaRPr sz="2400" b="1" dirty="0">
              <a:solidFill>
                <a:schemeClr val="folHlink"/>
              </a:solidFill>
              <a:latin typeface="Times New Roman" charset="0"/>
            </a:endParaRPr>
          </a:p>
          <a:p>
            <a:pPr lvl="1"/>
            <a:r>
              <a:rPr sz="2000" b="1">
                <a:solidFill>
                  <a:schemeClr val="folHlink"/>
                </a:solidFill>
                <a:latin typeface="Times New Roman" charset="0"/>
              </a:rPr>
              <a:t>When data should be sent and what</a:t>
            </a:r>
          </a:p>
          <a:p>
            <a:pPr lvl="1"/>
            <a:r>
              <a:rPr sz="2000" b="1">
                <a:solidFill>
                  <a:schemeClr val="folHlink"/>
                </a:solidFill>
                <a:latin typeface="Times New Roman" charset="0"/>
              </a:rPr>
              <a:t>Speed at which data should be sent</a:t>
            </a:r>
            <a:r>
              <a:rPr sz="2000" b="1" dirty="0">
                <a:solidFill>
                  <a:schemeClr val="folHlink"/>
                </a:solidFill>
                <a:latin typeface="Times New Roman" charset="0"/>
              </a:rPr>
              <a:t> </a:t>
            </a:r>
            <a:r>
              <a:rPr sz="2000" b="1">
                <a:solidFill>
                  <a:schemeClr val="folHlink"/>
                </a:solidFill>
                <a:latin typeface="Times New Roman" charset="0"/>
              </a:rPr>
              <a:t>or speed at which it is being received.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1 - </a:t>
            </a:r>
            <a:fld id="{9A0DB2DC-4C9A-4742-B13C-FB6460FD3503}" type="slidenum">
              <a:rPr lang="en-US" sz="1400" b="1">
                <a:solidFill>
                  <a:srgbClr val="16027C"/>
                </a:solidFill>
                <a:latin typeface="Arial" panose="02080604020202020204" pitchFamily="34" charset="0"/>
              </a:rPr>
              <a:t>43</a:t>
            </a:fld>
            <a:endParaRPr lang="en-US" sz="1400" b="1">
              <a:solidFill>
                <a:srgbClr val="16027C"/>
              </a:solidFill>
              <a:latin typeface="Arial" panose="02080604020202020204" pitchFamily="34" charset="0"/>
            </a:endParaRPr>
          </a:p>
        </p:txBody>
      </p:sp>
      <p:sp>
        <p:nvSpPr>
          <p:cNvPr id="161794" name="Title 161793"/>
          <p:cNvSpPr>
            <a:spLocks noGrp="1"/>
          </p:cNvSpPr>
          <p:nvPr>
            <p:ph type="title"/>
          </p:nvPr>
        </p:nvSpPr>
        <p:spPr/>
        <p:txBody>
          <a:bodyPr anchor="ctr" anchorCtr="0"/>
          <a:lstStyle/>
          <a:p>
            <a:r>
              <a:t>Standards</a:t>
            </a:r>
          </a:p>
        </p:txBody>
      </p:sp>
      <p:sp>
        <p:nvSpPr>
          <p:cNvPr id="161795" name="Text Placeholder 161794"/>
          <p:cNvSpPr>
            <a:spLocks noGrp="1"/>
          </p:cNvSpPr>
          <p:nvPr>
            <p:ph type="body" idx="1"/>
          </p:nvPr>
        </p:nvSpPr>
        <p:spPr/>
        <p:txBody>
          <a:bodyPr/>
          <a:lstStyle/>
          <a:p>
            <a:r>
              <a:rPr sz="2400"/>
              <a:t>Importance</a:t>
            </a:r>
          </a:p>
          <a:p>
            <a:pPr lvl="1"/>
            <a:r>
              <a:rPr sz="2000"/>
              <a:t>Provide a “fixed” way for hardware and/or software systems (different companies)  to communicate</a:t>
            </a:r>
          </a:p>
          <a:p>
            <a:pPr lvl="1"/>
            <a:r>
              <a:rPr sz="2000"/>
              <a:t>Help promote competition and decrease the price </a:t>
            </a:r>
          </a:p>
          <a:p>
            <a:r>
              <a:rPr sz="2400"/>
              <a:t>Types of Standards</a:t>
            </a:r>
          </a:p>
          <a:p>
            <a:pPr lvl="1"/>
            <a:r>
              <a:rPr sz="2000"/>
              <a:t>Formal standards </a:t>
            </a:r>
          </a:p>
          <a:p>
            <a:pPr lvl="2"/>
            <a:r>
              <a:rPr sz="2000"/>
              <a:t>Developed by an industry or government standards-making body</a:t>
            </a:r>
          </a:p>
          <a:p>
            <a:pPr lvl="1"/>
            <a:r>
              <a:rPr sz="2000"/>
              <a:t>De-facto standards </a:t>
            </a:r>
          </a:p>
          <a:p>
            <a:pPr lvl="2"/>
            <a:r>
              <a:rPr sz="2000"/>
              <a:t>Emerge in the marketplace and widely used</a:t>
            </a:r>
          </a:p>
          <a:p>
            <a:pPr lvl="2"/>
            <a:r>
              <a:rPr sz="2000"/>
              <a:t>Lack official backing by a standards-making body</a:t>
            </a:r>
          </a:p>
          <a:p>
            <a:pPr lvl="1"/>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1 - </a:t>
            </a:r>
            <a:fld id="{9A0DB2DC-4C9A-4742-B13C-FB6460FD3503}" type="slidenum">
              <a:rPr lang="en-US" sz="1400" b="1">
                <a:solidFill>
                  <a:srgbClr val="16027C"/>
                </a:solidFill>
                <a:latin typeface="Arial" panose="02080604020202020204" pitchFamily="34" charset="0"/>
              </a:rPr>
              <a:t>44</a:t>
            </a:fld>
            <a:endParaRPr lang="en-US" sz="1400" b="1">
              <a:solidFill>
                <a:srgbClr val="16027C"/>
              </a:solidFill>
              <a:latin typeface="Arial" panose="02080604020202020204" pitchFamily="34" charset="0"/>
            </a:endParaRPr>
          </a:p>
        </p:txBody>
      </p:sp>
      <p:sp>
        <p:nvSpPr>
          <p:cNvPr id="137222" name="Title 137221"/>
          <p:cNvSpPr>
            <a:spLocks noGrp="1"/>
          </p:cNvSpPr>
          <p:nvPr>
            <p:ph type="title"/>
          </p:nvPr>
        </p:nvSpPr>
        <p:spPr/>
        <p:txBody>
          <a:bodyPr anchor="ctr" anchorCtr="0"/>
          <a:lstStyle/>
          <a:p>
            <a:r>
              <a:t>Standardization Processes</a:t>
            </a:r>
          </a:p>
        </p:txBody>
      </p:sp>
      <p:sp>
        <p:nvSpPr>
          <p:cNvPr id="137223" name="Text Placeholder 137222"/>
          <p:cNvSpPr>
            <a:spLocks noGrp="1"/>
          </p:cNvSpPr>
          <p:nvPr>
            <p:ph type="body" idx="1"/>
          </p:nvPr>
        </p:nvSpPr>
        <p:spPr/>
        <p:txBody>
          <a:bodyPr/>
          <a:lstStyle/>
          <a:p>
            <a:r>
              <a:t>Specification</a:t>
            </a:r>
          </a:p>
          <a:p>
            <a:pPr lvl="1"/>
            <a:r>
              <a:t>Developing the nomenclature and identifying the problems to be addressed</a:t>
            </a:r>
          </a:p>
          <a:p>
            <a:r>
              <a:t>Identification of choices</a:t>
            </a:r>
          </a:p>
          <a:p>
            <a:pPr lvl="1"/>
            <a:r>
              <a:t>Identifying solutions to the problems and choose the “optimum” solution</a:t>
            </a:r>
          </a:p>
          <a:p>
            <a:r>
              <a:t>Acceptance</a:t>
            </a:r>
          </a:p>
          <a:p>
            <a:pPr lvl="1"/>
            <a:r>
              <a:t>Defining the solution, getting it recognized by industry so that a uniform solution is accepted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1 - </a:t>
            </a:r>
            <a:fld id="{9A0DB2DC-4C9A-4742-B13C-FB6460FD3503}" type="slidenum">
              <a:rPr lang="en-US" sz="1400" b="1">
                <a:solidFill>
                  <a:srgbClr val="16027C"/>
                </a:solidFill>
                <a:latin typeface="Arial" panose="02080604020202020204" pitchFamily="34" charset="0"/>
              </a:rPr>
              <a:t>45</a:t>
            </a:fld>
            <a:endParaRPr lang="en-US" sz="1400" b="1">
              <a:solidFill>
                <a:srgbClr val="16027C"/>
              </a:solidFill>
              <a:latin typeface="Arial" panose="02080604020202020204" pitchFamily="34" charset="0"/>
            </a:endParaRPr>
          </a:p>
        </p:txBody>
      </p:sp>
      <p:sp>
        <p:nvSpPr>
          <p:cNvPr id="138248" name="Title 138247"/>
          <p:cNvSpPr>
            <a:spLocks noGrp="1"/>
          </p:cNvSpPr>
          <p:nvPr>
            <p:ph type="title"/>
          </p:nvPr>
        </p:nvSpPr>
        <p:spPr/>
        <p:txBody>
          <a:bodyPr anchor="ctr" anchorCtr="0"/>
          <a:lstStyle/>
          <a:p>
            <a:r>
              <a:t>Major Standards Bodies</a:t>
            </a:r>
          </a:p>
        </p:txBody>
      </p:sp>
      <p:sp>
        <p:nvSpPr>
          <p:cNvPr id="138249" name="Text Placeholder 138248"/>
          <p:cNvSpPr>
            <a:spLocks noGrp="1"/>
          </p:cNvSpPr>
          <p:nvPr>
            <p:ph type="body" idx="1"/>
          </p:nvPr>
        </p:nvSpPr>
        <p:spPr/>
        <p:txBody>
          <a:bodyPr/>
          <a:lstStyle/>
          <a:p>
            <a:r>
              <a:rPr sz="2400"/>
              <a:t>ISO  (International Organization for Standardization) </a:t>
            </a:r>
          </a:p>
          <a:p>
            <a:pPr lvl="1"/>
            <a:r>
              <a:rPr sz="2000"/>
              <a:t>Technical recommendations for data communication interfaces</a:t>
            </a:r>
          </a:p>
          <a:p>
            <a:pPr lvl="1"/>
            <a:r>
              <a:rPr sz="2000"/>
              <a:t>Composed of each country’s national standards orgs.</a:t>
            </a:r>
          </a:p>
          <a:p>
            <a:pPr lvl="1"/>
            <a:r>
              <a:rPr sz="2000"/>
              <a:t>Based in Geneva, Switzerland (www.iso.ch)</a:t>
            </a:r>
          </a:p>
          <a:p>
            <a:r>
              <a:rPr sz="2400"/>
              <a:t>ITU-T (International Telecommunications Union –Telecom Group </a:t>
            </a:r>
          </a:p>
          <a:p>
            <a:pPr lvl="1"/>
            <a:r>
              <a:rPr sz="2000"/>
              <a:t>Technical recommendations about telephone, telegraph and data communications interfaces </a:t>
            </a:r>
          </a:p>
          <a:p>
            <a:pPr lvl="1"/>
            <a:r>
              <a:rPr sz="2000"/>
              <a:t>Composed of representatives from each country in UN</a:t>
            </a:r>
          </a:p>
          <a:p>
            <a:pPr lvl="1"/>
            <a:r>
              <a:rPr sz="2000"/>
              <a:t>Based in Geneva, Switzerland (www.itu.int)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1 - </a:t>
            </a:r>
            <a:fld id="{9A0DB2DC-4C9A-4742-B13C-FB6460FD3503}" type="slidenum">
              <a:rPr lang="en-US" sz="1400" b="1">
                <a:solidFill>
                  <a:srgbClr val="16027C"/>
                </a:solidFill>
                <a:latin typeface="Arial" panose="02080604020202020204" pitchFamily="34" charset="0"/>
              </a:rPr>
              <a:t>46</a:t>
            </a:fld>
            <a:endParaRPr lang="en-US" sz="1400" b="1">
              <a:solidFill>
                <a:srgbClr val="16027C"/>
              </a:solidFill>
              <a:latin typeface="Arial" panose="02080604020202020204" pitchFamily="34" charset="0"/>
            </a:endParaRPr>
          </a:p>
        </p:txBody>
      </p:sp>
      <p:sp>
        <p:nvSpPr>
          <p:cNvPr id="162820" name="Title 162819"/>
          <p:cNvSpPr>
            <a:spLocks noGrp="1"/>
          </p:cNvSpPr>
          <p:nvPr>
            <p:ph type="title"/>
          </p:nvPr>
        </p:nvSpPr>
        <p:spPr/>
        <p:txBody>
          <a:bodyPr anchor="ctr" anchorCtr="0"/>
          <a:lstStyle/>
          <a:p>
            <a:r>
              <a:t>Major Standards Bodies (Cont.)</a:t>
            </a:r>
          </a:p>
        </p:txBody>
      </p:sp>
      <p:sp>
        <p:nvSpPr>
          <p:cNvPr id="162821" name="Text Placeholder 162820"/>
          <p:cNvSpPr>
            <a:spLocks noGrp="1"/>
          </p:cNvSpPr>
          <p:nvPr>
            <p:ph type="body" idx="1"/>
          </p:nvPr>
        </p:nvSpPr>
        <p:spPr/>
        <p:txBody>
          <a:bodyPr/>
          <a:lstStyle/>
          <a:p>
            <a:pPr>
              <a:lnSpc>
                <a:spcPct val="90000"/>
              </a:lnSpc>
            </a:pPr>
            <a:r>
              <a:rPr sz="2400"/>
              <a:t>ANSI (American National Standards Institute)</a:t>
            </a:r>
          </a:p>
          <a:p>
            <a:pPr lvl="1">
              <a:lnSpc>
                <a:spcPct val="90000"/>
              </a:lnSpc>
            </a:pPr>
            <a:r>
              <a:rPr sz="2000"/>
              <a:t>Coordinating organization for US (not a standards- making body)</a:t>
            </a:r>
          </a:p>
          <a:p>
            <a:pPr lvl="1">
              <a:lnSpc>
                <a:spcPct val="90000"/>
              </a:lnSpc>
            </a:pPr>
            <a:r>
              <a:rPr sz="2000"/>
              <a:t>www.ansi.org</a:t>
            </a:r>
          </a:p>
          <a:p>
            <a:pPr>
              <a:lnSpc>
                <a:spcPct val="90000"/>
              </a:lnSpc>
            </a:pPr>
            <a:r>
              <a:rPr sz="2400"/>
              <a:t>IEEE (Institute of Electrical and Electronic Engineers)</a:t>
            </a:r>
          </a:p>
          <a:p>
            <a:pPr lvl="1">
              <a:lnSpc>
                <a:spcPct val="90000"/>
              </a:lnSpc>
            </a:pPr>
            <a:r>
              <a:rPr sz="2000"/>
              <a:t>Professional society; also develops mostly LAN standards</a:t>
            </a:r>
          </a:p>
          <a:p>
            <a:pPr lvl="1">
              <a:lnSpc>
                <a:spcPct val="90000"/>
              </a:lnSpc>
            </a:pPr>
            <a:r>
              <a:rPr sz="2000"/>
              <a:t>standards.ieee.org</a:t>
            </a:r>
          </a:p>
          <a:p>
            <a:pPr>
              <a:lnSpc>
                <a:spcPct val="90000"/>
              </a:lnSpc>
            </a:pPr>
            <a:r>
              <a:rPr sz="2400"/>
              <a:t>IETF (Internet Engineering Task Force) </a:t>
            </a:r>
          </a:p>
          <a:p>
            <a:pPr lvl="1">
              <a:lnSpc>
                <a:spcPct val="90000"/>
              </a:lnSpc>
            </a:pPr>
            <a:r>
              <a:rPr sz="2000"/>
              <a:t>Develops Internet standards</a:t>
            </a:r>
          </a:p>
          <a:p>
            <a:pPr lvl="1">
              <a:lnSpc>
                <a:spcPct val="90000"/>
              </a:lnSpc>
            </a:pPr>
            <a:r>
              <a:rPr sz="2000"/>
              <a:t>No official membership (anyone welcomes)</a:t>
            </a:r>
          </a:p>
          <a:p>
            <a:pPr lvl="1">
              <a:lnSpc>
                <a:spcPct val="90000"/>
              </a:lnSpc>
            </a:pPr>
            <a:r>
              <a:rPr sz="2000"/>
              <a:t>www.ietf.org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lvl="0"/>
            <a:r>
              <a:t>1 - </a:t>
            </a:r>
            <a:fld id="{9A0DB2DC-4C9A-4742-B13C-FB6460FD3503}" type="slidenum">
              <a:rPr lang="en-US" sz="1400" b="1">
                <a:solidFill>
                  <a:srgbClr val="16027C"/>
                </a:solidFill>
                <a:latin typeface="Arial" panose="02080604020202020204" pitchFamily="34" charset="0"/>
              </a:rPr>
              <a:t>47</a:t>
            </a:fld>
            <a:endParaRPr lang="en-US" sz="1400" b="1">
              <a:solidFill>
                <a:srgbClr val="16027C"/>
              </a:solidFill>
              <a:latin typeface="Arial" panose="02080604020202020204" pitchFamily="34" charset="0"/>
            </a:endParaRPr>
          </a:p>
        </p:txBody>
      </p:sp>
      <p:sp>
        <p:nvSpPr>
          <p:cNvPr id="139306" name="Rectangles 139305"/>
          <p:cNvSpPr/>
          <p:nvPr/>
        </p:nvSpPr>
        <p:spPr>
          <a:xfrm>
            <a:off x="949325" y="3565525"/>
            <a:ext cx="7372350" cy="71755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en-US"/>
          </a:p>
        </p:txBody>
      </p:sp>
      <p:sp>
        <p:nvSpPr>
          <p:cNvPr id="139307" name="Rectangles 139306"/>
          <p:cNvSpPr/>
          <p:nvPr/>
        </p:nvSpPr>
        <p:spPr>
          <a:xfrm>
            <a:off x="949325" y="5202238"/>
            <a:ext cx="7372350" cy="969962"/>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en-US"/>
          </a:p>
        </p:txBody>
      </p:sp>
      <p:sp>
        <p:nvSpPr>
          <p:cNvPr id="139305" name="Rectangles 139304"/>
          <p:cNvSpPr/>
          <p:nvPr/>
        </p:nvSpPr>
        <p:spPr>
          <a:xfrm>
            <a:off x="949325" y="1855788"/>
            <a:ext cx="7372350" cy="992187"/>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en-US"/>
          </a:p>
        </p:txBody>
      </p:sp>
      <p:sp>
        <p:nvSpPr>
          <p:cNvPr id="139304" name="Title 139303"/>
          <p:cNvSpPr>
            <a:spLocks noGrp="1"/>
          </p:cNvSpPr>
          <p:nvPr>
            <p:ph type="title"/>
          </p:nvPr>
        </p:nvSpPr>
        <p:spPr/>
        <p:txBody>
          <a:bodyPr anchor="ctr" anchorCtr="0"/>
          <a:lstStyle/>
          <a:p>
            <a:r>
              <a:t>Some Data Comm. Standards</a:t>
            </a:r>
          </a:p>
        </p:txBody>
      </p:sp>
      <p:grpSp>
        <p:nvGrpSpPr>
          <p:cNvPr id="139267" name="Group 139266"/>
          <p:cNvGrpSpPr/>
          <p:nvPr/>
        </p:nvGrpSpPr>
        <p:grpSpPr>
          <a:xfrm>
            <a:off x="949325" y="1298575"/>
            <a:ext cx="2992438" cy="557213"/>
            <a:chOff x="0" y="0"/>
            <a:chExt cx="993" cy="672"/>
          </a:xfrm>
        </p:grpSpPr>
        <p:sp>
          <p:nvSpPr>
            <p:cNvPr id="139268" name="Rectangles 139267"/>
            <p:cNvSpPr/>
            <p:nvPr/>
          </p:nvSpPr>
          <p:spPr>
            <a:xfrm>
              <a:off x="43" y="0"/>
              <a:ext cx="907" cy="672"/>
            </a:xfrm>
            <a:prstGeom prst="rect">
              <a:avLst/>
            </a:prstGeom>
            <a:noFill/>
            <a:ln w="9525">
              <a:noFill/>
            </a:ln>
          </p:spPr>
          <p:txBody>
            <a:bodyPr/>
            <a:lstStyle/>
            <a:p>
              <a:pPr algn="ctr"/>
              <a:r>
                <a:rPr sz="2400" b="1" u="sng">
                  <a:solidFill>
                    <a:srgbClr val="00008C"/>
                  </a:solidFill>
                  <a:latin typeface="Arial" panose="02080604020202020204" pitchFamily="34" charset="0"/>
                  <a:cs typeface="Times New Roman" charset="0"/>
                </a:rPr>
                <a:t>Layer</a:t>
              </a:r>
            </a:p>
            <a:p>
              <a:pPr algn="ctr" eaLnBrk="0" hangingPunct="0"/>
              <a:endParaRPr sz="2400" b="1" u="sng">
                <a:solidFill>
                  <a:srgbClr val="00008C"/>
                </a:solidFill>
                <a:latin typeface="Arial" panose="02080604020202020204" pitchFamily="34" charset="0"/>
              </a:endParaRPr>
            </a:p>
          </p:txBody>
        </p:sp>
        <p:sp>
          <p:nvSpPr>
            <p:cNvPr id="139269" name="Rectangles 139268"/>
            <p:cNvSpPr/>
            <p:nvPr/>
          </p:nvSpPr>
          <p:spPr>
            <a:xfrm>
              <a:off x="0" y="0"/>
              <a:ext cx="993" cy="672"/>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70" name="Group 139269"/>
          <p:cNvGrpSpPr/>
          <p:nvPr/>
        </p:nvGrpSpPr>
        <p:grpSpPr>
          <a:xfrm>
            <a:off x="3941763" y="1298575"/>
            <a:ext cx="4379912" cy="557213"/>
            <a:chOff x="993" y="0"/>
            <a:chExt cx="1454" cy="672"/>
          </a:xfrm>
        </p:grpSpPr>
        <p:sp>
          <p:nvSpPr>
            <p:cNvPr id="139271" name="Rectangles 139270"/>
            <p:cNvSpPr/>
            <p:nvPr/>
          </p:nvSpPr>
          <p:spPr>
            <a:xfrm>
              <a:off x="1036" y="0"/>
              <a:ext cx="1368" cy="672"/>
            </a:xfrm>
            <a:prstGeom prst="rect">
              <a:avLst/>
            </a:prstGeom>
            <a:noFill/>
            <a:ln w="9525">
              <a:noFill/>
            </a:ln>
          </p:spPr>
          <p:txBody>
            <a:bodyPr/>
            <a:lstStyle/>
            <a:p>
              <a:pPr algn="ctr"/>
              <a:r>
                <a:rPr sz="2400" b="1" u="sng">
                  <a:solidFill>
                    <a:srgbClr val="00008C"/>
                  </a:solidFill>
                  <a:latin typeface="Arial" panose="02080604020202020204" pitchFamily="34" charset="0"/>
                  <a:cs typeface="Times New Roman" charset="0"/>
                </a:rPr>
                <a:t>Common Standards</a:t>
              </a:r>
            </a:p>
            <a:p>
              <a:pPr algn="ctr" eaLnBrk="0" hangingPunct="0"/>
              <a:endParaRPr sz="2400" b="1" u="sng">
                <a:solidFill>
                  <a:srgbClr val="00008C"/>
                </a:solidFill>
                <a:latin typeface="Arial" panose="02080604020202020204" pitchFamily="34" charset="0"/>
              </a:endParaRPr>
            </a:p>
          </p:txBody>
        </p:sp>
        <p:sp>
          <p:nvSpPr>
            <p:cNvPr id="139272" name="Rectangles 139271"/>
            <p:cNvSpPr/>
            <p:nvPr/>
          </p:nvSpPr>
          <p:spPr>
            <a:xfrm>
              <a:off x="993" y="0"/>
              <a:ext cx="1454" cy="672"/>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73" name="Group 139272"/>
          <p:cNvGrpSpPr/>
          <p:nvPr/>
        </p:nvGrpSpPr>
        <p:grpSpPr>
          <a:xfrm>
            <a:off x="949325" y="1855788"/>
            <a:ext cx="2992438" cy="992187"/>
            <a:chOff x="0" y="672"/>
            <a:chExt cx="993" cy="1440"/>
          </a:xfrm>
        </p:grpSpPr>
        <p:sp>
          <p:nvSpPr>
            <p:cNvPr id="139274" name="Rectangles 139273"/>
            <p:cNvSpPr/>
            <p:nvPr/>
          </p:nvSpPr>
          <p:spPr>
            <a:xfrm>
              <a:off x="43" y="672"/>
              <a:ext cx="907" cy="1440"/>
            </a:xfrm>
            <a:prstGeom prst="rect">
              <a:avLst/>
            </a:prstGeom>
            <a:noFill/>
            <a:ln w="9525">
              <a:noFill/>
            </a:ln>
          </p:spPr>
          <p:txBody>
            <a:bodyPr/>
            <a:lstStyle/>
            <a:p>
              <a:endParaRPr sz="2000" b="1">
                <a:solidFill>
                  <a:srgbClr val="00008C"/>
                </a:solidFill>
                <a:latin typeface="Arial" panose="02080604020202020204" pitchFamily="34" charset="0"/>
                <a:cs typeface="Times New Roman" charset="0"/>
              </a:endParaRPr>
            </a:p>
            <a:p>
              <a:r>
                <a:rPr sz="2000" b="1">
                  <a:solidFill>
                    <a:srgbClr val="00008C"/>
                  </a:solidFill>
                  <a:latin typeface="Arial" panose="02080604020202020204" pitchFamily="34" charset="0"/>
                  <a:cs typeface="Times New Roman" charset="0"/>
                </a:rPr>
                <a:t>5. Application layer</a:t>
              </a:r>
              <a:endParaRPr sz="1200" b="1">
                <a:solidFill>
                  <a:srgbClr val="00008C"/>
                </a:solidFill>
                <a:latin typeface="Arial" panose="02080604020202020204" pitchFamily="34" charset="0"/>
                <a:cs typeface="Times New Roman" charset="0"/>
              </a:endParaRPr>
            </a:p>
            <a:p>
              <a:pPr eaLnBrk="0" hangingPunct="0"/>
              <a:endParaRPr sz="2400" b="1">
                <a:solidFill>
                  <a:srgbClr val="00008C"/>
                </a:solidFill>
                <a:latin typeface="Arial" panose="02080604020202020204" pitchFamily="34" charset="0"/>
              </a:endParaRPr>
            </a:p>
          </p:txBody>
        </p:sp>
        <p:sp>
          <p:nvSpPr>
            <p:cNvPr id="139275" name="Rectangles 139274"/>
            <p:cNvSpPr/>
            <p:nvPr/>
          </p:nvSpPr>
          <p:spPr>
            <a:xfrm>
              <a:off x="0" y="672"/>
              <a:ext cx="993" cy="1440"/>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76" name="Group 139275"/>
          <p:cNvGrpSpPr/>
          <p:nvPr/>
        </p:nvGrpSpPr>
        <p:grpSpPr>
          <a:xfrm>
            <a:off x="3941763" y="1855788"/>
            <a:ext cx="4379912" cy="992187"/>
            <a:chOff x="993" y="672"/>
            <a:chExt cx="1454" cy="1440"/>
          </a:xfrm>
        </p:grpSpPr>
        <p:sp>
          <p:nvSpPr>
            <p:cNvPr id="139277" name="Rectangles 139276"/>
            <p:cNvSpPr/>
            <p:nvPr/>
          </p:nvSpPr>
          <p:spPr>
            <a:xfrm>
              <a:off x="1036" y="672"/>
              <a:ext cx="1368" cy="1440"/>
            </a:xfrm>
            <a:prstGeom prst="rect">
              <a:avLst/>
            </a:prstGeom>
            <a:noFill/>
            <a:ln w="9525">
              <a:noFill/>
            </a:ln>
          </p:spPr>
          <p:txBody>
            <a:bodyPr/>
            <a:lstStyle/>
            <a:p>
              <a:r>
                <a:rPr sz="2000" b="1">
                  <a:solidFill>
                    <a:srgbClr val="00008C"/>
                  </a:solidFill>
                  <a:cs typeface="Times New Roman" charset="0"/>
                </a:rPr>
                <a:t>HTTP, HTML (Web)</a:t>
              </a:r>
              <a:endParaRPr sz="1200" b="1">
                <a:solidFill>
                  <a:srgbClr val="00008C"/>
                </a:solidFill>
                <a:cs typeface="Times New Roman" charset="0"/>
              </a:endParaRPr>
            </a:p>
            <a:p>
              <a:pPr eaLnBrk="0" hangingPunct="0"/>
              <a:r>
                <a:rPr sz="2000" b="1">
                  <a:solidFill>
                    <a:srgbClr val="00008C"/>
                  </a:solidFill>
                  <a:cs typeface="Times New Roman" charset="0"/>
                </a:rPr>
                <a:t>MPEG, H.323 (audio/video)</a:t>
              </a:r>
              <a:endParaRPr sz="1200" b="1">
                <a:solidFill>
                  <a:srgbClr val="00008C"/>
                </a:solidFill>
                <a:cs typeface="Times New Roman" charset="0"/>
              </a:endParaRPr>
            </a:p>
            <a:p>
              <a:pPr eaLnBrk="0" hangingPunct="0"/>
              <a:r>
                <a:rPr sz="2000" b="1">
                  <a:solidFill>
                    <a:srgbClr val="00008C"/>
                  </a:solidFill>
                  <a:cs typeface="Times New Roman" charset="0"/>
                </a:rPr>
                <a:t>IMAP, POP (e-mail)</a:t>
              </a:r>
              <a:endParaRPr sz="2400" b="1">
                <a:solidFill>
                  <a:srgbClr val="00008C"/>
                </a:solidFill>
              </a:endParaRPr>
            </a:p>
          </p:txBody>
        </p:sp>
        <p:sp>
          <p:nvSpPr>
            <p:cNvPr id="139278" name="Rectangles 139277"/>
            <p:cNvSpPr/>
            <p:nvPr/>
          </p:nvSpPr>
          <p:spPr>
            <a:xfrm>
              <a:off x="993" y="672"/>
              <a:ext cx="1454" cy="1440"/>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79" name="Group 139278"/>
          <p:cNvGrpSpPr/>
          <p:nvPr/>
        </p:nvGrpSpPr>
        <p:grpSpPr>
          <a:xfrm>
            <a:off x="949325" y="2847975"/>
            <a:ext cx="2992438" cy="717550"/>
            <a:chOff x="0" y="2112"/>
            <a:chExt cx="993" cy="864"/>
          </a:xfrm>
        </p:grpSpPr>
        <p:sp>
          <p:nvSpPr>
            <p:cNvPr id="139280" name="Rectangles 139279"/>
            <p:cNvSpPr/>
            <p:nvPr/>
          </p:nvSpPr>
          <p:spPr>
            <a:xfrm>
              <a:off x="43" y="2112"/>
              <a:ext cx="907" cy="864"/>
            </a:xfrm>
            <a:prstGeom prst="rect">
              <a:avLst/>
            </a:prstGeom>
            <a:noFill/>
            <a:ln w="9525">
              <a:noFill/>
            </a:ln>
          </p:spPr>
          <p:txBody>
            <a:bodyPr/>
            <a:lstStyle/>
            <a:p>
              <a:endParaRPr sz="800" b="1">
                <a:solidFill>
                  <a:srgbClr val="00008C"/>
                </a:solidFill>
                <a:latin typeface="Arial" panose="02080604020202020204" pitchFamily="34" charset="0"/>
                <a:cs typeface="Times New Roman" charset="0"/>
              </a:endParaRPr>
            </a:p>
            <a:p>
              <a:r>
                <a:rPr sz="2000" b="1">
                  <a:solidFill>
                    <a:srgbClr val="00008C"/>
                  </a:solidFill>
                  <a:latin typeface="Arial" panose="02080604020202020204" pitchFamily="34" charset="0"/>
                  <a:cs typeface="Times New Roman" charset="0"/>
                </a:rPr>
                <a:t>4. Transport layer</a:t>
              </a:r>
            </a:p>
            <a:p>
              <a:pPr eaLnBrk="0" hangingPunct="0"/>
              <a:endParaRPr sz="2400">
                <a:solidFill>
                  <a:srgbClr val="00008C"/>
                </a:solidFill>
                <a:latin typeface="Arial" panose="02080604020202020204" pitchFamily="34" charset="0"/>
              </a:endParaRPr>
            </a:p>
          </p:txBody>
        </p:sp>
        <p:sp>
          <p:nvSpPr>
            <p:cNvPr id="139281" name="Rectangles 139280"/>
            <p:cNvSpPr/>
            <p:nvPr/>
          </p:nvSpPr>
          <p:spPr>
            <a:xfrm>
              <a:off x="0" y="2112"/>
              <a:ext cx="993" cy="864"/>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82" name="Group 139281"/>
          <p:cNvGrpSpPr/>
          <p:nvPr/>
        </p:nvGrpSpPr>
        <p:grpSpPr>
          <a:xfrm>
            <a:off x="3941763" y="2847975"/>
            <a:ext cx="4379912" cy="717550"/>
            <a:chOff x="993" y="2112"/>
            <a:chExt cx="1454" cy="864"/>
          </a:xfrm>
        </p:grpSpPr>
        <p:sp>
          <p:nvSpPr>
            <p:cNvPr id="139283" name="Rectangles 139282"/>
            <p:cNvSpPr/>
            <p:nvPr/>
          </p:nvSpPr>
          <p:spPr>
            <a:xfrm>
              <a:off x="1036" y="2112"/>
              <a:ext cx="1368" cy="864"/>
            </a:xfrm>
            <a:prstGeom prst="rect">
              <a:avLst/>
            </a:prstGeom>
            <a:noFill/>
            <a:ln w="9525">
              <a:noFill/>
            </a:ln>
          </p:spPr>
          <p:txBody>
            <a:bodyPr/>
            <a:lstStyle/>
            <a:p>
              <a:r>
                <a:rPr sz="2000" b="1">
                  <a:solidFill>
                    <a:srgbClr val="00008C"/>
                  </a:solidFill>
                  <a:cs typeface="Times New Roman" charset="0"/>
                </a:rPr>
                <a:t>TCP (Internet)</a:t>
              </a:r>
              <a:endParaRPr sz="1200" b="1">
                <a:solidFill>
                  <a:srgbClr val="00008C"/>
                </a:solidFill>
                <a:cs typeface="Times New Roman" charset="0"/>
              </a:endParaRPr>
            </a:p>
            <a:p>
              <a:pPr eaLnBrk="0" hangingPunct="0"/>
              <a:r>
                <a:rPr sz="2000" b="1">
                  <a:solidFill>
                    <a:srgbClr val="00008C"/>
                  </a:solidFill>
                  <a:cs typeface="Times New Roman" charset="0"/>
                </a:rPr>
                <a:t>SPX (Novell LANs)</a:t>
              </a:r>
              <a:endParaRPr sz="1200" b="1">
                <a:solidFill>
                  <a:srgbClr val="00008C"/>
                </a:solidFill>
                <a:cs typeface="Times New Roman" charset="0"/>
              </a:endParaRPr>
            </a:p>
            <a:p>
              <a:pPr eaLnBrk="0" hangingPunct="0"/>
              <a:endParaRPr sz="2400" b="1">
                <a:solidFill>
                  <a:srgbClr val="00008C"/>
                </a:solidFill>
              </a:endParaRPr>
            </a:p>
          </p:txBody>
        </p:sp>
        <p:sp>
          <p:nvSpPr>
            <p:cNvPr id="139284" name="Rectangles 139283"/>
            <p:cNvSpPr/>
            <p:nvPr/>
          </p:nvSpPr>
          <p:spPr>
            <a:xfrm>
              <a:off x="993" y="2112"/>
              <a:ext cx="1454" cy="864"/>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85" name="Group 139284"/>
          <p:cNvGrpSpPr/>
          <p:nvPr/>
        </p:nvGrpSpPr>
        <p:grpSpPr>
          <a:xfrm>
            <a:off x="949325" y="3565525"/>
            <a:ext cx="2992438" cy="717550"/>
            <a:chOff x="0" y="2976"/>
            <a:chExt cx="993" cy="864"/>
          </a:xfrm>
        </p:grpSpPr>
        <p:sp>
          <p:nvSpPr>
            <p:cNvPr id="139286" name="Rectangles 139285"/>
            <p:cNvSpPr/>
            <p:nvPr/>
          </p:nvSpPr>
          <p:spPr>
            <a:xfrm>
              <a:off x="43" y="2976"/>
              <a:ext cx="907" cy="864"/>
            </a:xfrm>
            <a:prstGeom prst="rect">
              <a:avLst/>
            </a:prstGeom>
            <a:noFill/>
            <a:ln w="9525">
              <a:noFill/>
            </a:ln>
          </p:spPr>
          <p:txBody>
            <a:bodyPr/>
            <a:lstStyle/>
            <a:p>
              <a:r>
                <a:rPr sz="2000" b="1">
                  <a:solidFill>
                    <a:srgbClr val="00008C"/>
                  </a:solidFill>
                  <a:latin typeface="Arial" panose="02080604020202020204" pitchFamily="34" charset="0"/>
                  <a:cs typeface="Times New Roman" charset="0"/>
                </a:rPr>
                <a:t>3. Network layer</a:t>
              </a:r>
              <a:endParaRPr sz="1200" b="1">
                <a:solidFill>
                  <a:srgbClr val="00008C"/>
                </a:solidFill>
                <a:latin typeface="Arial" panose="02080604020202020204" pitchFamily="34" charset="0"/>
                <a:cs typeface="Times New Roman" charset="0"/>
              </a:endParaRPr>
            </a:p>
            <a:p>
              <a:pPr eaLnBrk="0" hangingPunct="0"/>
              <a:endParaRPr sz="2400" b="1">
                <a:solidFill>
                  <a:srgbClr val="00008C"/>
                </a:solidFill>
                <a:latin typeface="Arial" panose="02080604020202020204" pitchFamily="34" charset="0"/>
              </a:endParaRPr>
            </a:p>
          </p:txBody>
        </p:sp>
        <p:sp>
          <p:nvSpPr>
            <p:cNvPr id="139287" name="Rectangles 139286"/>
            <p:cNvSpPr/>
            <p:nvPr/>
          </p:nvSpPr>
          <p:spPr>
            <a:xfrm>
              <a:off x="0" y="2976"/>
              <a:ext cx="993" cy="864"/>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88" name="Group 139287"/>
          <p:cNvGrpSpPr/>
          <p:nvPr/>
        </p:nvGrpSpPr>
        <p:grpSpPr>
          <a:xfrm>
            <a:off x="3941763" y="3565525"/>
            <a:ext cx="4379912" cy="717550"/>
            <a:chOff x="993" y="2976"/>
            <a:chExt cx="1454" cy="864"/>
          </a:xfrm>
        </p:grpSpPr>
        <p:sp>
          <p:nvSpPr>
            <p:cNvPr id="139289" name="Rectangles 139288"/>
            <p:cNvSpPr/>
            <p:nvPr/>
          </p:nvSpPr>
          <p:spPr>
            <a:xfrm>
              <a:off x="1036" y="2976"/>
              <a:ext cx="1368" cy="864"/>
            </a:xfrm>
            <a:prstGeom prst="rect">
              <a:avLst/>
            </a:prstGeom>
            <a:noFill/>
            <a:ln w="9525">
              <a:noFill/>
            </a:ln>
          </p:spPr>
          <p:txBody>
            <a:bodyPr/>
            <a:lstStyle/>
            <a:p>
              <a:r>
                <a:rPr sz="2000" b="1">
                  <a:solidFill>
                    <a:srgbClr val="00008C"/>
                  </a:solidFill>
                  <a:cs typeface="Times New Roman" charset="0"/>
                </a:rPr>
                <a:t>IP (Internet)</a:t>
              </a:r>
              <a:endParaRPr sz="1200" b="1">
                <a:solidFill>
                  <a:srgbClr val="00008C"/>
                </a:solidFill>
                <a:cs typeface="Times New Roman" charset="0"/>
              </a:endParaRPr>
            </a:p>
            <a:p>
              <a:pPr eaLnBrk="0" hangingPunct="0"/>
              <a:r>
                <a:rPr sz="2000" b="1">
                  <a:solidFill>
                    <a:srgbClr val="00008C"/>
                  </a:solidFill>
                  <a:cs typeface="Times New Roman" charset="0"/>
                </a:rPr>
                <a:t>IPX (Novell LANs)</a:t>
              </a:r>
              <a:endParaRPr sz="2400" b="1">
                <a:solidFill>
                  <a:srgbClr val="00008C"/>
                </a:solidFill>
              </a:endParaRPr>
            </a:p>
          </p:txBody>
        </p:sp>
        <p:sp>
          <p:nvSpPr>
            <p:cNvPr id="139290" name="Rectangles 139289"/>
            <p:cNvSpPr/>
            <p:nvPr/>
          </p:nvSpPr>
          <p:spPr>
            <a:xfrm>
              <a:off x="993" y="2976"/>
              <a:ext cx="1454" cy="864"/>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91" name="Group 139290"/>
          <p:cNvGrpSpPr/>
          <p:nvPr/>
        </p:nvGrpSpPr>
        <p:grpSpPr>
          <a:xfrm>
            <a:off x="949325" y="4283075"/>
            <a:ext cx="2992438" cy="919163"/>
            <a:chOff x="0" y="3840"/>
            <a:chExt cx="993" cy="864"/>
          </a:xfrm>
        </p:grpSpPr>
        <p:sp>
          <p:nvSpPr>
            <p:cNvPr id="139292" name="Rectangles 139291"/>
            <p:cNvSpPr/>
            <p:nvPr/>
          </p:nvSpPr>
          <p:spPr>
            <a:xfrm>
              <a:off x="43" y="3840"/>
              <a:ext cx="907" cy="864"/>
            </a:xfrm>
            <a:prstGeom prst="rect">
              <a:avLst/>
            </a:prstGeom>
            <a:noFill/>
            <a:ln w="9525">
              <a:noFill/>
            </a:ln>
          </p:spPr>
          <p:txBody>
            <a:bodyPr/>
            <a:lstStyle/>
            <a:p>
              <a:endParaRPr sz="2000" b="1">
                <a:solidFill>
                  <a:srgbClr val="00008C"/>
                </a:solidFill>
                <a:latin typeface="Arial" panose="02080604020202020204" pitchFamily="34" charset="0"/>
                <a:cs typeface="Times New Roman" charset="0"/>
              </a:endParaRPr>
            </a:p>
            <a:p>
              <a:r>
                <a:rPr sz="2000" b="1">
                  <a:solidFill>
                    <a:srgbClr val="00008C"/>
                  </a:solidFill>
                  <a:latin typeface="Arial" panose="02080604020202020204" pitchFamily="34" charset="0"/>
                  <a:cs typeface="Times New Roman" charset="0"/>
                </a:rPr>
                <a:t>2. Data link layer</a:t>
              </a:r>
            </a:p>
            <a:p>
              <a:pPr eaLnBrk="0" hangingPunct="0"/>
              <a:endParaRPr sz="2000" b="1">
                <a:solidFill>
                  <a:srgbClr val="00008C"/>
                </a:solidFill>
                <a:latin typeface="Arial" panose="02080604020202020204" pitchFamily="34" charset="0"/>
              </a:endParaRPr>
            </a:p>
          </p:txBody>
        </p:sp>
        <p:sp>
          <p:nvSpPr>
            <p:cNvPr id="139293" name="Rectangles 139292"/>
            <p:cNvSpPr/>
            <p:nvPr/>
          </p:nvSpPr>
          <p:spPr>
            <a:xfrm>
              <a:off x="0" y="3840"/>
              <a:ext cx="993" cy="864"/>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294" name="Group 139293"/>
          <p:cNvGrpSpPr/>
          <p:nvPr/>
        </p:nvGrpSpPr>
        <p:grpSpPr>
          <a:xfrm>
            <a:off x="3857625" y="4328795"/>
            <a:ext cx="4669790" cy="919480"/>
            <a:chOff x="993" y="3840"/>
            <a:chExt cx="1454" cy="864"/>
          </a:xfrm>
        </p:grpSpPr>
        <p:sp>
          <p:nvSpPr>
            <p:cNvPr id="139295" name="Rectangles 139294"/>
            <p:cNvSpPr/>
            <p:nvPr/>
          </p:nvSpPr>
          <p:spPr>
            <a:xfrm>
              <a:off x="1036" y="3840"/>
              <a:ext cx="1368" cy="864"/>
            </a:xfrm>
            <a:prstGeom prst="rect">
              <a:avLst/>
            </a:prstGeom>
            <a:noFill/>
            <a:ln w="9525">
              <a:noFill/>
            </a:ln>
          </p:spPr>
          <p:txBody>
            <a:bodyPr/>
            <a:lstStyle/>
            <a:p>
              <a:r>
                <a:rPr sz="1600" b="1">
                  <a:solidFill>
                    <a:srgbClr val="00008C"/>
                  </a:solidFill>
                  <a:cs typeface="Times New Roman" charset="0"/>
                </a:rPr>
                <a:t>Ethernet (LAN)</a:t>
              </a:r>
            </a:p>
            <a:p>
              <a:r>
                <a:rPr sz="1600" b="1">
                  <a:solidFill>
                    <a:srgbClr val="00008C"/>
                  </a:solidFill>
                  <a:cs typeface="Times New Roman" charset="0"/>
                </a:rPr>
                <a:t>Frame Relay (WAN)</a:t>
              </a:r>
              <a:endParaRPr sz="900" b="1">
                <a:solidFill>
                  <a:srgbClr val="00008C"/>
                </a:solidFill>
                <a:cs typeface="Times New Roman" charset="0"/>
              </a:endParaRPr>
            </a:p>
            <a:p>
              <a:pPr eaLnBrk="0" hangingPunct="0"/>
              <a:r>
                <a:rPr sz="1600" b="1">
                  <a:solidFill>
                    <a:srgbClr val="00008C"/>
                  </a:solidFill>
                  <a:cs typeface="Times New Roman" charset="0"/>
                </a:rPr>
                <a:t>PPP (dial-up via modem for MAN)</a:t>
              </a:r>
            </a:p>
          </p:txBody>
        </p:sp>
        <p:sp>
          <p:nvSpPr>
            <p:cNvPr id="139296" name="Rectangles 139295"/>
            <p:cNvSpPr/>
            <p:nvPr/>
          </p:nvSpPr>
          <p:spPr>
            <a:xfrm>
              <a:off x="993" y="3840"/>
              <a:ext cx="1454" cy="864"/>
            </a:xfrm>
            <a:prstGeom prst="rect">
              <a:avLst/>
            </a:prstGeom>
            <a:noFill/>
            <a:ln w="7" cap="flat" cmpd="sng">
              <a:solidFill>
                <a:srgbClr val="A0A0A0"/>
              </a:solidFill>
              <a:prstDash val="solid"/>
              <a:miter/>
              <a:headEnd type="none" w="med" len="med"/>
              <a:tailEnd type="none" w="med" len="med"/>
            </a:ln>
          </p:spPr>
          <p:txBody>
            <a:bodyPr/>
            <a:lstStyle/>
            <a:p>
              <a:endParaRPr lang="en-US" sz="2400"/>
            </a:p>
          </p:txBody>
        </p:sp>
      </p:grpSp>
      <p:grpSp>
        <p:nvGrpSpPr>
          <p:cNvPr id="139297" name="Group 139296"/>
          <p:cNvGrpSpPr/>
          <p:nvPr/>
        </p:nvGrpSpPr>
        <p:grpSpPr>
          <a:xfrm>
            <a:off x="949325" y="5202238"/>
            <a:ext cx="2992438" cy="969962"/>
            <a:chOff x="0" y="4704"/>
            <a:chExt cx="993" cy="1440"/>
          </a:xfrm>
        </p:grpSpPr>
        <p:sp>
          <p:nvSpPr>
            <p:cNvPr id="139298" name="Rectangles 139297"/>
            <p:cNvSpPr/>
            <p:nvPr/>
          </p:nvSpPr>
          <p:spPr>
            <a:xfrm>
              <a:off x="43" y="4704"/>
              <a:ext cx="907" cy="1440"/>
            </a:xfrm>
            <a:prstGeom prst="rect">
              <a:avLst/>
            </a:prstGeom>
            <a:noFill/>
            <a:ln w="9525">
              <a:noFill/>
            </a:ln>
          </p:spPr>
          <p:txBody>
            <a:bodyPr/>
            <a:lstStyle/>
            <a:p>
              <a:endParaRPr sz="2000" b="1">
                <a:solidFill>
                  <a:srgbClr val="00008C"/>
                </a:solidFill>
                <a:latin typeface="Arial" panose="02080604020202020204" pitchFamily="34" charset="0"/>
                <a:cs typeface="Times New Roman" charset="0"/>
              </a:endParaRPr>
            </a:p>
            <a:p>
              <a:r>
                <a:rPr sz="2000" b="1">
                  <a:solidFill>
                    <a:srgbClr val="00008C"/>
                  </a:solidFill>
                  <a:latin typeface="Arial" panose="02080604020202020204" pitchFamily="34" charset="0"/>
                  <a:cs typeface="Times New Roman" charset="0"/>
                </a:rPr>
                <a:t>1. Physical layer</a:t>
              </a:r>
            </a:p>
            <a:p>
              <a:pPr eaLnBrk="0" hangingPunct="0"/>
              <a:endParaRPr sz="2000" b="1">
                <a:solidFill>
                  <a:srgbClr val="00008C"/>
                </a:solidFill>
                <a:latin typeface="Arial" panose="02080604020202020204" pitchFamily="34" charset="0"/>
              </a:endParaRPr>
            </a:p>
          </p:txBody>
        </p:sp>
        <p:sp>
          <p:nvSpPr>
            <p:cNvPr id="139299" name="Rectangles 139298"/>
            <p:cNvSpPr/>
            <p:nvPr/>
          </p:nvSpPr>
          <p:spPr>
            <a:xfrm>
              <a:off x="0" y="4704"/>
              <a:ext cx="993" cy="1440"/>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grpSp>
        <p:nvGrpSpPr>
          <p:cNvPr id="139300" name="Group 139299"/>
          <p:cNvGrpSpPr/>
          <p:nvPr/>
        </p:nvGrpSpPr>
        <p:grpSpPr>
          <a:xfrm>
            <a:off x="3941763" y="5202238"/>
            <a:ext cx="4379912" cy="969962"/>
            <a:chOff x="993" y="4704"/>
            <a:chExt cx="1454" cy="1440"/>
          </a:xfrm>
        </p:grpSpPr>
        <p:sp>
          <p:nvSpPr>
            <p:cNvPr id="139301" name="Rectangles 139300"/>
            <p:cNvSpPr/>
            <p:nvPr/>
          </p:nvSpPr>
          <p:spPr>
            <a:xfrm>
              <a:off x="1036" y="4704"/>
              <a:ext cx="1368" cy="1440"/>
            </a:xfrm>
            <a:prstGeom prst="rect">
              <a:avLst/>
            </a:prstGeom>
            <a:noFill/>
            <a:ln w="9525">
              <a:noFill/>
            </a:ln>
          </p:spPr>
          <p:txBody>
            <a:bodyPr/>
            <a:lstStyle/>
            <a:p>
              <a:r>
                <a:rPr sz="1800" b="1">
                  <a:solidFill>
                    <a:srgbClr val="00008C"/>
                  </a:solidFill>
                  <a:cs typeface="Times New Roman" charset="0"/>
                </a:rPr>
                <a:t>RS-232c cable (LAN)</a:t>
              </a:r>
            </a:p>
            <a:p>
              <a:pPr eaLnBrk="0" hangingPunct="0"/>
              <a:r>
                <a:rPr sz="1800" b="1">
                  <a:solidFill>
                    <a:srgbClr val="00008C"/>
                  </a:solidFill>
                  <a:cs typeface="Times New Roman" charset="0"/>
                </a:rPr>
                <a:t>Category 5 twisted pair (LAN)</a:t>
              </a:r>
            </a:p>
            <a:p>
              <a:pPr eaLnBrk="0" hangingPunct="0"/>
              <a:r>
                <a:rPr sz="1800" b="1">
                  <a:solidFill>
                    <a:srgbClr val="00008C"/>
                  </a:solidFill>
                  <a:cs typeface="Times New Roman" charset="0"/>
                </a:rPr>
                <a:t>V.92 (56 kbps modem)</a:t>
              </a:r>
            </a:p>
          </p:txBody>
        </p:sp>
        <p:sp>
          <p:nvSpPr>
            <p:cNvPr id="139302" name="Rectangles 139301"/>
            <p:cNvSpPr/>
            <p:nvPr/>
          </p:nvSpPr>
          <p:spPr>
            <a:xfrm>
              <a:off x="993" y="4704"/>
              <a:ext cx="1454" cy="1440"/>
            </a:xfrm>
            <a:prstGeom prst="rect">
              <a:avLst/>
            </a:prstGeom>
            <a:noFill/>
            <a:ln w="7" cap="flat" cmpd="sng">
              <a:solidFill>
                <a:srgbClr val="A0A0A0"/>
              </a:solidFill>
              <a:prstDash val="solid"/>
              <a:miter/>
              <a:headEnd type="none" w="med" len="med"/>
              <a:tailEnd type="none" w="med" len="med"/>
            </a:ln>
          </p:spPr>
          <p:txBody>
            <a:bodyPr/>
            <a:lstStyle/>
            <a:p>
              <a:endParaRPr lang="en-US"/>
            </a:p>
          </p:txBody>
        </p:sp>
      </p:grpSp>
      <p:sp>
        <p:nvSpPr>
          <p:cNvPr id="139308" name="Rectangles 139307"/>
          <p:cNvSpPr/>
          <p:nvPr/>
        </p:nvSpPr>
        <p:spPr>
          <a:xfrm>
            <a:off x="949325" y="1295400"/>
            <a:ext cx="7372350" cy="4876800"/>
          </a:xfrm>
          <a:prstGeom prst="rect">
            <a:avLst/>
          </a:prstGeom>
          <a:noFill/>
          <a:ln w="28575" cap="flat" cmpd="sng">
            <a:solidFill>
              <a:srgbClr val="00008C"/>
            </a:solidFill>
            <a:prstDash val="solid"/>
            <a:miter/>
            <a:headEnd type="none" w="med" len="med"/>
            <a:tailEnd type="none" w="med" len="med"/>
          </a:ln>
        </p:spPr>
        <p:txBody>
          <a:bodyPr/>
          <a:lstStyle/>
          <a:p>
            <a:endParaRPr lang="en-US"/>
          </a:p>
        </p:txBody>
      </p:sp>
      <p:sp>
        <p:nvSpPr>
          <p:cNvPr id="139309" name="Straight Connector 139308"/>
          <p:cNvSpPr/>
          <p:nvPr/>
        </p:nvSpPr>
        <p:spPr>
          <a:xfrm>
            <a:off x="3941763" y="1295400"/>
            <a:ext cx="0" cy="4876800"/>
          </a:xfrm>
          <a:prstGeom prst="line">
            <a:avLst/>
          </a:prstGeom>
          <a:ln w="28575" cap="flat" cmpd="sng">
            <a:solidFill>
              <a:srgbClr val="00008C"/>
            </a:solidFill>
            <a:prstDash val="solid"/>
            <a:headEnd type="none" w="med" len="med"/>
            <a:tailEnd type="none" w="med" len="me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121"/>
          <p:cNvSpPr>
            <a:spLocks noGrp="1"/>
          </p:cNvSpPr>
          <p:nvPr>
            <p:ph type="title"/>
          </p:nvPr>
        </p:nvSpPr>
        <p:spPr/>
        <p:txBody>
          <a:bodyPr anchor="b" anchorCtr="0"/>
          <a:lstStyle/>
          <a:p>
            <a:r>
              <a:rPr lang="en-US" altLang="en-US" dirty="0"/>
              <a:t>Switching Networks</a:t>
            </a:r>
          </a:p>
        </p:txBody>
      </p:sp>
      <p:sp>
        <p:nvSpPr>
          <p:cNvPr id="5123" name="Text Placeholder 5122"/>
          <p:cNvSpPr>
            <a:spLocks noGrp="1"/>
          </p:cNvSpPr>
          <p:nvPr>
            <p:ph type="body" idx="1"/>
          </p:nvPr>
        </p:nvSpPr>
        <p:spPr/>
        <p:txBody>
          <a:bodyPr/>
          <a:lstStyle/>
          <a:p>
            <a:r>
              <a:rPr lang="en-US" altLang="en-US" dirty="0"/>
              <a:t>Long distance transmission is typically done over a network of switched nodes</a:t>
            </a:r>
          </a:p>
          <a:p>
            <a:r>
              <a:rPr lang="en-US" altLang="en-US" dirty="0"/>
              <a:t>Nodes not concerned with content of data</a:t>
            </a:r>
          </a:p>
          <a:p>
            <a:r>
              <a:rPr lang="en-US" altLang="en-US" dirty="0"/>
              <a:t>End devices are stations</a:t>
            </a:r>
          </a:p>
          <a:p>
            <a:pPr lvl="1"/>
            <a:r>
              <a:rPr lang="en-US" altLang="en-US" dirty="0"/>
              <a:t>Computer, terminal, phone, etc.</a:t>
            </a:r>
          </a:p>
          <a:p>
            <a:r>
              <a:rPr lang="en-US" altLang="en-US" dirty="0"/>
              <a:t>A collection of nodes and connections is a communications network</a:t>
            </a:r>
          </a:p>
          <a:p>
            <a:r>
              <a:rPr lang="en-US" altLang="en-US" dirty="0"/>
              <a:t>Data routed by being switched from node to node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6145"/>
          <p:cNvSpPr>
            <a:spLocks noGrp="1"/>
          </p:cNvSpPr>
          <p:nvPr>
            <p:ph type="title"/>
          </p:nvPr>
        </p:nvSpPr>
        <p:spPr/>
        <p:txBody>
          <a:bodyPr anchor="b" anchorCtr="0"/>
          <a:lstStyle/>
          <a:p>
            <a:r>
              <a:rPr lang="en-US" altLang="en-US" dirty="0"/>
              <a:t>Nodes</a:t>
            </a:r>
          </a:p>
        </p:txBody>
      </p:sp>
      <p:sp>
        <p:nvSpPr>
          <p:cNvPr id="6147" name="Text Placeholder 6146"/>
          <p:cNvSpPr>
            <a:spLocks noGrp="1"/>
          </p:cNvSpPr>
          <p:nvPr>
            <p:ph type="body" idx="1"/>
          </p:nvPr>
        </p:nvSpPr>
        <p:spPr/>
        <p:txBody>
          <a:bodyPr/>
          <a:lstStyle/>
          <a:p>
            <a:r>
              <a:rPr lang="en-US" altLang="en-US" dirty="0"/>
              <a:t>Nodes may connect to other nodes only, or to stations and other nodes</a:t>
            </a:r>
          </a:p>
          <a:p>
            <a:r>
              <a:rPr lang="en-US" altLang="en-US" dirty="0"/>
              <a:t>Node to node links usually multiplexed</a:t>
            </a:r>
          </a:p>
          <a:p>
            <a:r>
              <a:rPr lang="en-US" altLang="en-US" dirty="0"/>
              <a:t>Network is usually partially connected</a:t>
            </a:r>
          </a:p>
          <a:p>
            <a:pPr lvl="1"/>
            <a:r>
              <a:rPr lang="en-US" altLang="en-US" dirty="0"/>
              <a:t>Some redundant connections are desirable for reliability</a:t>
            </a:r>
          </a:p>
          <a:p>
            <a:r>
              <a:rPr lang="en-US" altLang="en-US" sz="2400" dirty="0"/>
              <a:t>Two different switching technologies</a:t>
            </a:r>
          </a:p>
          <a:p>
            <a:pPr lvl="1"/>
            <a:r>
              <a:rPr lang="en-US" altLang="en-US" dirty="0"/>
              <a:t>Circuit switching</a:t>
            </a:r>
          </a:p>
          <a:p>
            <a:pPr lvl="1"/>
            <a:r>
              <a:rPr lang="en-US" altLang="en-US" dirty="0"/>
              <a:t>Packet switching</a:t>
            </a:r>
          </a:p>
          <a:p>
            <a:pPr lvl="1"/>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7169"/>
          <p:cNvSpPr>
            <a:spLocks noGrp="1"/>
          </p:cNvSpPr>
          <p:nvPr>
            <p:ph type="title"/>
          </p:nvPr>
        </p:nvSpPr>
        <p:spPr/>
        <p:txBody>
          <a:bodyPr anchor="b" anchorCtr="0"/>
          <a:lstStyle/>
          <a:p>
            <a:r>
              <a:rPr lang="en-US" altLang="en-US" dirty="0"/>
              <a:t>Simple Switched Network</a:t>
            </a:r>
          </a:p>
        </p:txBody>
      </p:sp>
      <p:pic>
        <p:nvPicPr>
          <p:cNvPr id="7173" name="Picture 7172"/>
          <p:cNvPicPr>
            <a:picLocks noChangeAspect="1"/>
          </p:cNvPicPr>
          <p:nvPr/>
        </p:nvPicPr>
        <p:blipFill>
          <a:blip r:embed="rId2"/>
          <a:srcRect b="8330"/>
          <a:stretch>
            <a:fillRect/>
          </a:stretch>
        </p:blipFill>
        <p:spPr>
          <a:xfrm>
            <a:off x="990600" y="1385888"/>
            <a:ext cx="7010400" cy="5472112"/>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8193"/>
          <p:cNvSpPr>
            <a:spLocks noGrp="1"/>
          </p:cNvSpPr>
          <p:nvPr>
            <p:ph type="title"/>
          </p:nvPr>
        </p:nvSpPr>
        <p:spPr/>
        <p:txBody>
          <a:bodyPr anchor="b" anchorCtr="0"/>
          <a:lstStyle/>
          <a:p>
            <a:r>
              <a:rPr lang="en-US" altLang="en-US" dirty="0"/>
              <a:t>Circuit Switching</a:t>
            </a:r>
          </a:p>
        </p:txBody>
      </p:sp>
      <p:sp>
        <p:nvSpPr>
          <p:cNvPr id="8195" name="Text Placeholder 8194"/>
          <p:cNvSpPr>
            <a:spLocks noGrp="1"/>
          </p:cNvSpPr>
          <p:nvPr>
            <p:ph type="body" idx="1"/>
          </p:nvPr>
        </p:nvSpPr>
        <p:spPr/>
        <p:txBody>
          <a:bodyPr/>
          <a:lstStyle/>
          <a:p>
            <a:r>
              <a:rPr lang="en-US" altLang="en-US" dirty="0"/>
              <a:t>Dedicated communication path between two stations</a:t>
            </a:r>
          </a:p>
          <a:p>
            <a:r>
              <a:rPr lang="en-US" altLang="en-US" dirty="0"/>
              <a:t>Three phases</a:t>
            </a:r>
          </a:p>
          <a:p>
            <a:pPr lvl="1"/>
            <a:r>
              <a:rPr lang="en-US" altLang="en-US" dirty="0"/>
              <a:t>Establish</a:t>
            </a:r>
          </a:p>
          <a:p>
            <a:pPr lvl="1"/>
            <a:r>
              <a:rPr lang="en-US" altLang="en-US" dirty="0"/>
              <a:t>Transfer</a:t>
            </a:r>
          </a:p>
          <a:p>
            <a:pPr lvl="1"/>
            <a:r>
              <a:rPr lang="en-US" altLang="en-US" dirty="0"/>
              <a:t>Disconnect</a:t>
            </a:r>
          </a:p>
          <a:p>
            <a:r>
              <a:rPr lang="en-US" altLang="en-US" dirty="0"/>
              <a:t>Must have switching capacity and channel capacity to establish connection</a:t>
            </a:r>
          </a:p>
          <a:p>
            <a:r>
              <a:rPr lang="en-US" altLang="en-US" dirty="0"/>
              <a:t>Must have intelligence to work out routing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9217"/>
          <p:cNvSpPr>
            <a:spLocks noGrp="1"/>
          </p:cNvSpPr>
          <p:nvPr>
            <p:ph type="title"/>
          </p:nvPr>
        </p:nvSpPr>
        <p:spPr/>
        <p:txBody>
          <a:bodyPr anchor="b" anchorCtr="0"/>
          <a:lstStyle/>
          <a:p>
            <a:r>
              <a:rPr lang="en-US" altLang="en-US" dirty="0"/>
              <a:t>Circuit Switching - Applications</a:t>
            </a:r>
          </a:p>
        </p:txBody>
      </p:sp>
      <p:sp>
        <p:nvSpPr>
          <p:cNvPr id="9219" name="Text Placeholder 9218"/>
          <p:cNvSpPr>
            <a:spLocks noGrp="1"/>
          </p:cNvSpPr>
          <p:nvPr>
            <p:ph type="body" idx="1"/>
          </p:nvPr>
        </p:nvSpPr>
        <p:spPr/>
        <p:txBody>
          <a:bodyPr/>
          <a:lstStyle/>
          <a:p>
            <a:r>
              <a:rPr lang="en-US" altLang="en-US" dirty="0"/>
              <a:t>Inefficient</a:t>
            </a:r>
          </a:p>
          <a:p>
            <a:pPr lvl="1"/>
            <a:r>
              <a:rPr lang="en-US" altLang="en-US" dirty="0"/>
              <a:t>Channel capacity dedicated for duration of connection</a:t>
            </a:r>
          </a:p>
          <a:p>
            <a:pPr lvl="1"/>
            <a:r>
              <a:rPr lang="en-US" altLang="en-US" dirty="0"/>
              <a:t>If no data, capacity wasted</a:t>
            </a:r>
          </a:p>
          <a:p>
            <a:r>
              <a:rPr lang="en-US" altLang="en-US" dirty="0"/>
              <a:t>Set up (connection) takes time</a:t>
            </a:r>
          </a:p>
          <a:p>
            <a:r>
              <a:rPr lang="en-US" altLang="en-US" dirty="0"/>
              <a:t>Once connected, transfer is transparent</a:t>
            </a:r>
          </a:p>
          <a:p>
            <a:r>
              <a:rPr lang="en-US" altLang="en-US" dirty="0"/>
              <a:t>Developed for voice traffic (phone)</a:t>
            </a:r>
          </a:p>
          <a:p>
            <a:endParaRPr lang="en-US" altLang="en-US" dirty="0"/>
          </a:p>
          <a:p>
            <a:endParaRPr lang="en-US"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1985"/>
          <p:cNvSpPr>
            <a:spLocks noGrp="1"/>
          </p:cNvSpPr>
          <p:nvPr>
            <p:ph type="title"/>
          </p:nvPr>
        </p:nvSpPr>
        <p:spPr/>
        <p:txBody>
          <a:bodyPr anchor="b" anchorCtr="0"/>
          <a:lstStyle/>
          <a:p>
            <a:r>
              <a:rPr lang="en-GB" altLang="x-none" dirty="0"/>
              <a:t>Packet Switching </a:t>
            </a:r>
            <a:r>
              <a:rPr lang="en-US" altLang="en-US" dirty="0"/>
              <a:t>Principles</a:t>
            </a:r>
          </a:p>
        </p:txBody>
      </p:sp>
      <p:sp>
        <p:nvSpPr>
          <p:cNvPr id="41987" name="Text Placeholder 41986"/>
          <p:cNvSpPr>
            <a:spLocks noGrp="1"/>
          </p:cNvSpPr>
          <p:nvPr>
            <p:ph type="body" idx="1"/>
          </p:nvPr>
        </p:nvSpPr>
        <p:spPr/>
        <p:txBody>
          <a:bodyPr/>
          <a:lstStyle/>
          <a:p>
            <a:r>
              <a:rPr lang="en-US" altLang="en-US" dirty="0"/>
              <a:t>Circuit switching designed for voice</a:t>
            </a:r>
          </a:p>
          <a:p>
            <a:pPr lvl="1"/>
            <a:r>
              <a:rPr lang="en-US" altLang="en-US" dirty="0"/>
              <a:t>Resources dedicated to a particular call</a:t>
            </a:r>
          </a:p>
          <a:p>
            <a:pPr lvl="1"/>
            <a:r>
              <a:rPr lang="en-US" altLang="en-US" dirty="0"/>
              <a:t>Much of the time a data connection is idle</a:t>
            </a:r>
          </a:p>
          <a:p>
            <a:pPr lvl="1"/>
            <a:r>
              <a:rPr lang="en-US" altLang="en-US" dirty="0"/>
              <a:t>Data rate is fixed</a:t>
            </a:r>
          </a:p>
          <a:p>
            <a:pPr lvl="2"/>
            <a:r>
              <a:rPr lang="en-US" altLang="en-US" dirty="0"/>
              <a:t>Both ends must operate at the same rate</a:t>
            </a:r>
          </a:p>
          <a:p>
            <a:pPr lvl="1"/>
            <a:endParaRPr lang="en-US"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43009"/>
          <p:cNvSpPr>
            <a:spLocks noGrp="1"/>
          </p:cNvSpPr>
          <p:nvPr>
            <p:ph type="title"/>
          </p:nvPr>
        </p:nvSpPr>
        <p:spPr/>
        <p:txBody>
          <a:bodyPr anchor="b" anchorCtr="0"/>
          <a:lstStyle/>
          <a:p>
            <a:r>
              <a:rPr lang="en-US" altLang="en-US" dirty="0"/>
              <a:t>Basic Operation</a:t>
            </a:r>
          </a:p>
        </p:txBody>
      </p:sp>
      <p:sp>
        <p:nvSpPr>
          <p:cNvPr id="43011" name="Text Placeholder 43010"/>
          <p:cNvSpPr>
            <a:spLocks noGrp="1"/>
          </p:cNvSpPr>
          <p:nvPr>
            <p:ph type="body" idx="1"/>
          </p:nvPr>
        </p:nvSpPr>
        <p:spPr/>
        <p:txBody>
          <a:bodyPr/>
          <a:lstStyle/>
          <a:p>
            <a:r>
              <a:rPr lang="en-US" altLang="en-US" dirty="0"/>
              <a:t>Data transmitted in small packets</a:t>
            </a:r>
          </a:p>
          <a:p>
            <a:pPr lvl="1"/>
            <a:r>
              <a:rPr lang="en-US" altLang="en-US" dirty="0"/>
              <a:t>Typically 1000 octets</a:t>
            </a:r>
          </a:p>
          <a:p>
            <a:pPr lvl="1"/>
            <a:r>
              <a:rPr lang="en-US" altLang="en-US" dirty="0"/>
              <a:t>Longer messages split into series of packets</a:t>
            </a:r>
          </a:p>
          <a:p>
            <a:pPr lvl="1"/>
            <a:r>
              <a:rPr lang="en-US" altLang="en-US" dirty="0"/>
              <a:t>Each packet contains a portion of user data plus some control info</a:t>
            </a:r>
          </a:p>
          <a:p>
            <a:r>
              <a:rPr lang="en-US" altLang="en-US" dirty="0"/>
              <a:t>Control info</a:t>
            </a:r>
          </a:p>
          <a:p>
            <a:pPr lvl="1"/>
            <a:r>
              <a:rPr lang="en-US" altLang="en-US" dirty="0"/>
              <a:t>Routing (addressing) info</a:t>
            </a:r>
          </a:p>
          <a:p>
            <a:r>
              <a:rPr lang="en-US" altLang="en-US" dirty="0"/>
              <a:t>Packets are received, stored briefly (buffered) and past on to the next node</a:t>
            </a:r>
          </a:p>
          <a:p>
            <a:pPr lvl="1"/>
            <a:r>
              <a:rPr lang="en-US" altLang="en-US" dirty="0"/>
              <a:t>Store and forward</a:t>
            </a:r>
          </a:p>
          <a:p>
            <a:pPr lvl="1"/>
            <a:endParaRPr lang="en-US"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4033"/>
          <p:cNvSpPr>
            <a:spLocks noGrp="1"/>
          </p:cNvSpPr>
          <p:nvPr>
            <p:ph type="title"/>
          </p:nvPr>
        </p:nvSpPr>
        <p:spPr/>
        <p:txBody>
          <a:bodyPr anchor="b" anchorCtr="0"/>
          <a:lstStyle/>
          <a:p>
            <a:r>
              <a:rPr lang="en-US" altLang="en-US" dirty="0"/>
              <a:t>Use of Packets</a:t>
            </a:r>
          </a:p>
        </p:txBody>
      </p:sp>
      <p:pic>
        <p:nvPicPr>
          <p:cNvPr id="44036" name="Picture 44035"/>
          <p:cNvPicPr>
            <a:picLocks noChangeAspect="1"/>
          </p:cNvPicPr>
          <p:nvPr/>
        </p:nvPicPr>
        <p:blipFill>
          <a:blip r:embed="rId2"/>
          <a:srcRect b="34804"/>
          <a:stretch>
            <a:fillRect/>
          </a:stretch>
        </p:blipFill>
        <p:spPr>
          <a:xfrm>
            <a:off x="228600" y="2133600"/>
            <a:ext cx="8812213" cy="312420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5057"/>
          <p:cNvSpPr>
            <a:spLocks noGrp="1"/>
          </p:cNvSpPr>
          <p:nvPr>
            <p:ph type="title"/>
          </p:nvPr>
        </p:nvSpPr>
        <p:spPr/>
        <p:txBody>
          <a:bodyPr anchor="b" anchorCtr="0"/>
          <a:lstStyle/>
          <a:p>
            <a:r>
              <a:rPr lang="en-US" altLang="en-US" dirty="0"/>
              <a:t>Advantages</a:t>
            </a:r>
          </a:p>
        </p:txBody>
      </p:sp>
      <p:sp>
        <p:nvSpPr>
          <p:cNvPr id="45059" name="Text Placeholder 45058"/>
          <p:cNvSpPr>
            <a:spLocks noGrp="1"/>
          </p:cNvSpPr>
          <p:nvPr>
            <p:ph type="body" idx="1"/>
          </p:nvPr>
        </p:nvSpPr>
        <p:spPr/>
        <p:txBody>
          <a:bodyPr/>
          <a:lstStyle/>
          <a:p>
            <a:r>
              <a:rPr lang="en-US" altLang="en-US" sz="2400" dirty="0"/>
              <a:t>Line efficiency</a:t>
            </a:r>
          </a:p>
          <a:p>
            <a:pPr lvl="1"/>
            <a:r>
              <a:rPr lang="en-US" altLang="en-US" sz="2000" dirty="0"/>
              <a:t>Single node to node link can be shared by many packets over time</a:t>
            </a:r>
          </a:p>
          <a:p>
            <a:pPr lvl="1"/>
            <a:r>
              <a:rPr lang="en-US" altLang="en-US" sz="2000" dirty="0"/>
              <a:t>Packets queued and transmitted as fast as possible</a:t>
            </a:r>
          </a:p>
          <a:p>
            <a:r>
              <a:rPr lang="en-US" altLang="en-US" sz="2400" dirty="0"/>
              <a:t>Data rate conversion</a:t>
            </a:r>
          </a:p>
          <a:p>
            <a:pPr lvl="1"/>
            <a:r>
              <a:rPr lang="en-US" altLang="en-US" sz="2000" dirty="0"/>
              <a:t>Each station connects to the local node at its own speed</a:t>
            </a:r>
          </a:p>
          <a:p>
            <a:pPr lvl="1"/>
            <a:r>
              <a:rPr lang="en-US" altLang="en-US" sz="2000" dirty="0"/>
              <a:t>Nodes buffer data if required to equalize rates</a:t>
            </a:r>
          </a:p>
          <a:p>
            <a:r>
              <a:rPr lang="en-US" altLang="en-US" sz="2400" dirty="0"/>
              <a:t>Packets are accepted even when network is busy</a:t>
            </a:r>
          </a:p>
          <a:p>
            <a:pPr lvl="1"/>
            <a:r>
              <a:rPr lang="en-US" altLang="en-US" sz="2000" dirty="0"/>
              <a:t>Delivery may slow down</a:t>
            </a:r>
          </a:p>
          <a:p>
            <a:r>
              <a:rPr lang="en-US" altLang="en-US" sz="2400" dirty="0"/>
              <a:t>Priorities can be used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46081"/>
          <p:cNvSpPr>
            <a:spLocks noGrp="1"/>
          </p:cNvSpPr>
          <p:nvPr>
            <p:ph type="title"/>
          </p:nvPr>
        </p:nvSpPr>
        <p:spPr/>
        <p:txBody>
          <a:bodyPr anchor="b" anchorCtr="0"/>
          <a:lstStyle/>
          <a:p>
            <a:r>
              <a:rPr lang="en-US" altLang="en-US" dirty="0"/>
              <a:t>Switching Technique</a:t>
            </a:r>
          </a:p>
        </p:txBody>
      </p:sp>
      <p:sp>
        <p:nvSpPr>
          <p:cNvPr id="46083" name="Text Placeholder 46082"/>
          <p:cNvSpPr>
            <a:spLocks noGrp="1"/>
          </p:cNvSpPr>
          <p:nvPr>
            <p:ph type="body" idx="1"/>
          </p:nvPr>
        </p:nvSpPr>
        <p:spPr/>
        <p:txBody>
          <a:bodyPr/>
          <a:lstStyle/>
          <a:p>
            <a:r>
              <a:rPr lang="en-US" altLang="en-US" dirty="0"/>
              <a:t>Station breaks long message into packets</a:t>
            </a:r>
          </a:p>
          <a:p>
            <a:r>
              <a:rPr lang="en-US" altLang="en-US" dirty="0"/>
              <a:t>Packets sent one at a time to the network</a:t>
            </a:r>
          </a:p>
          <a:p>
            <a:r>
              <a:rPr lang="en-US" altLang="en-US" dirty="0"/>
              <a:t>Packets handled in two ways</a:t>
            </a:r>
          </a:p>
          <a:p>
            <a:pPr lvl="1"/>
            <a:r>
              <a:rPr lang="en-US" altLang="en-US" dirty="0"/>
              <a:t>Datagram</a:t>
            </a:r>
          </a:p>
          <a:p>
            <a:pPr lvl="1"/>
            <a:r>
              <a:rPr lang="en-US" altLang="en-US" dirty="0"/>
              <a:t>Virtual circuit</a:t>
            </a:r>
          </a:p>
          <a:p>
            <a:pPr lvl="1"/>
            <a:endParaRPr lang="en-US"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7105"/>
          <p:cNvSpPr>
            <a:spLocks noGrp="1"/>
          </p:cNvSpPr>
          <p:nvPr>
            <p:ph type="title"/>
          </p:nvPr>
        </p:nvSpPr>
        <p:spPr/>
        <p:txBody>
          <a:bodyPr anchor="b" anchorCtr="0"/>
          <a:lstStyle/>
          <a:p>
            <a:r>
              <a:rPr lang="en-US" altLang="en-US" dirty="0"/>
              <a:t>Datagram</a:t>
            </a:r>
          </a:p>
        </p:txBody>
      </p:sp>
      <p:sp>
        <p:nvSpPr>
          <p:cNvPr id="47107" name="Text Placeholder 47106"/>
          <p:cNvSpPr>
            <a:spLocks noGrp="1"/>
          </p:cNvSpPr>
          <p:nvPr>
            <p:ph type="body" idx="1"/>
          </p:nvPr>
        </p:nvSpPr>
        <p:spPr/>
        <p:txBody>
          <a:bodyPr/>
          <a:lstStyle/>
          <a:p>
            <a:r>
              <a:rPr lang="en-US" altLang="en-US" dirty="0"/>
              <a:t>Each packet treated independently</a:t>
            </a:r>
          </a:p>
          <a:p>
            <a:r>
              <a:rPr lang="en-US" altLang="en-US" dirty="0"/>
              <a:t>Packets can take any practical route</a:t>
            </a:r>
          </a:p>
          <a:p>
            <a:r>
              <a:rPr lang="en-US" altLang="en-US" dirty="0"/>
              <a:t>Packets may arrive out of order</a:t>
            </a:r>
          </a:p>
          <a:p>
            <a:r>
              <a:rPr lang="en-US" altLang="en-US" dirty="0"/>
              <a:t>Packets may go missing</a:t>
            </a:r>
          </a:p>
          <a:p>
            <a:r>
              <a:rPr lang="en-US" altLang="en-US" dirty="0"/>
              <a:t>Up to receiver to re-order packets and recover from missing packets</a:t>
            </a:r>
          </a:p>
          <a:p>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48129"/>
          <p:cNvSpPr>
            <a:spLocks noGrp="1"/>
          </p:cNvSpPr>
          <p:nvPr>
            <p:ph type="title"/>
          </p:nvPr>
        </p:nvSpPr>
        <p:spPr/>
        <p:txBody>
          <a:bodyPr anchor="b" anchorCtr="0"/>
          <a:lstStyle/>
          <a:p>
            <a:r>
              <a:rPr lang="en-US" altLang="en-US" dirty="0"/>
              <a:t>Virtual Circuit</a:t>
            </a:r>
          </a:p>
        </p:txBody>
      </p:sp>
      <p:sp>
        <p:nvSpPr>
          <p:cNvPr id="48131" name="Text Placeholder 48130"/>
          <p:cNvSpPr>
            <a:spLocks noGrp="1"/>
          </p:cNvSpPr>
          <p:nvPr>
            <p:ph type="body" idx="1"/>
          </p:nvPr>
        </p:nvSpPr>
        <p:spPr/>
        <p:txBody>
          <a:bodyPr/>
          <a:lstStyle/>
          <a:p>
            <a:r>
              <a:rPr lang="en-US" altLang="en-US" dirty="0"/>
              <a:t>Preplanned route established before any packets sent</a:t>
            </a:r>
          </a:p>
          <a:p>
            <a:r>
              <a:rPr lang="en-US" altLang="en-US" dirty="0"/>
              <a:t>Call request and call accept packets establish connection (handshake)</a:t>
            </a:r>
          </a:p>
          <a:p>
            <a:r>
              <a:rPr lang="en-US" altLang="en-US" dirty="0"/>
              <a:t>Each packet contains a virtual circuit identifier instead of destination address</a:t>
            </a:r>
          </a:p>
          <a:p>
            <a:r>
              <a:rPr lang="en-US" altLang="en-US" dirty="0"/>
              <a:t>No routing decisions required for each packet</a:t>
            </a:r>
          </a:p>
          <a:p>
            <a:r>
              <a:rPr lang="en-US" altLang="en-US" dirty="0"/>
              <a:t>Clear request to drop circuit</a:t>
            </a:r>
          </a:p>
          <a:p>
            <a:r>
              <a:rPr lang="en-US" altLang="en-US" dirty="0"/>
              <a:t>Not a dedicated path</a:t>
            </a:r>
          </a:p>
          <a:p>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9153"/>
          <p:cNvSpPr>
            <a:spLocks noGrp="1"/>
          </p:cNvSpPr>
          <p:nvPr>
            <p:ph type="title"/>
          </p:nvPr>
        </p:nvSpPr>
        <p:spPr/>
        <p:txBody>
          <a:bodyPr anchor="b" anchorCtr="0"/>
          <a:lstStyle/>
          <a:p>
            <a:r>
              <a:rPr lang="en-US" altLang="en-US" dirty="0"/>
              <a:t>Virtual Circuits v Datagram</a:t>
            </a:r>
          </a:p>
        </p:txBody>
      </p:sp>
      <p:sp>
        <p:nvSpPr>
          <p:cNvPr id="49155" name="Text Placeholder 49154"/>
          <p:cNvSpPr>
            <a:spLocks noGrp="1"/>
          </p:cNvSpPr>
          <p:nvPr>
            <p:ph type="body" idx="1"/>
          </p:nvPr>
        </p:nvSpPr>
        <p:spPr/>
        <p:txBody>
          <a:bodyPr/>
          <a:lstStyle/>
          <a:p>
            <a:pPr>
              <a:lnSpc>
                <a:spcPct val="90000"/>
              </a:lnSpc>
            </a:pPr>
            <a:r>
              <a:rPr lang="en-US" altLang="en-US" dirty="0"/>
              <a:t>Virtual circuits</a:t>
            </a:r>
          </a:p>
          <a:p>
            <a:pPr lvl="1">
              <a:lnSpc>
                <a:spcPct val="90000"/>
              </a:lnSpc>
            </a:pPr>
            <a:r>
              <a:rPr lang="en-US" altLang="en-US" dirty="0"/>
              <a:t>Network can provide sequencing and error control</a:t>
            </a:r>
          </a:p>
          <a:p>
            <a:pPr lvl="1">
              <a:lnSpc>
                <a:spcPct val="90000"/>
              </a:lnSpc>
            </a:pPr>
            <a:r>
              <a:rPr lang="en-US" altLang="en-US" dirty="0"/>
              <a:t>Packets are forwarded more quickly</a:t>
            </a:r>
          </a:p>
          <a:p>
            <a:pPr lvl="2">
              <a:lnSpc>
                <a:spcPct val="90000"/>
              </a:lnSpc>
            </a:pPr>
            <a:r>
              <a:rPr lang="en-US" altLang="en-US" dirty="0"/>
              <a:t>No routing decisions to make</a:t>
            </a:r>
          </a:p>
          <a:p>
            <a:pPr lvl="1">
              <a:lnSpc>
                <a:spcPct val="90000"/>
              </a:lnSpc>
            </a:pPr>
            <a:r>
              <a:rPr lang="en-US" altLang="en-US" dirty="0"/>
              <a:t>Less reliable</a:t>
            </a:r>
          </a:p>
          <a:p>
            <a:pPr lvl="2">
              <a:lnSpc>
                <a:spcPct val="90000"/>
              </a:lnSpc>
            </a:pPr>
            <a:r>
              <a:rPr lang="en-US" altLang="en-US" dirty="0"/>
              <a:t>Loss of a node looses all circuits through that node</a:t>
            </a:r>
          </a:p>
          <a:p>
            <a:pPr>
              <a:lnSpc>
                <a:spcPct val="90000"/>
              </a:lnSpc>
            </a:pPr>
            <a:r>
              <a:rPr lang="en-US" altLang="en-US" dirty="0"/>
              <a:t>Datagram</a:t>
            </a:r>
          </a:p>
          <a:p>
            <a:pPr lvl="1">
              <a:lnSpc>
                <a:spcPct val="90000"/>
              </a:lnSpc>
            </a:pPr>
            <a:r>
              <a:rPr lang="en-US" altLang="en-US" dirty="0"/>
              <a:t>No call setup phase</a:t>
            </a:r>
          </a:p>
          <a:p>
            <a:pPr lvl="2">
              <a:lnSpc>
                <a:spcPct val="90000"/>
              </a:lnSpc>
            </a:pPr>
            <a:r>
              <a:rPr lang="en-US" altLang="en-US" dirty="0"/>
              <a:t>Better if few packets</a:t>
            </a:r>
          </a:p>
          <a:p>
            <a:pPr lvl="1">
              <a:lnSpc>
                <a:spcPct val="90000"/>
              </a:lnSpc>
            </a:pPr>
            <a:r>
              <a:rPr lang="en-US" altLang="en-US" dirty="0"/>
              <a:t>More flexible</a:t>
            </a:r>
          </a:p>
          <a:p>
            <a:pPr lvl="2">
              <a:lnSpc>
                <a:spcPct val="90000"/>
              </a:lnSpc>
            </a:pPr>
            <a:r>
              <a:rPr lang="en-US" altLang="en-US" dirty="0"/>
              <a:t>Routing can be used to avoid congested parts of the network</a:t>
            </a:r>
          </a:p>
          <a:p>
            <a:pPr lvl="1">
              <a:lnSpc>
                <a:spcPct val="90000"/>
              </a:lnSpc>
            </a:pP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51201"/>
          <p:cNvSpPr>
            <a:spLocks noGrp="1"/>
          </p:cNvSpPr>
          <p:nvPr>
            <p:ph type="title"/>
          </p:nvPr>
        </p:nvSpPr>
        <p:spPr/>
        <p:txBody>
          <a:bodyPr anchor="b" anchorCtr="0"/>
          <a:lstStyle/>
          <a:p>
            <a:r>
              <a:rPr lang="en-US" altLang="en-US" dirty="0"/>
              <a:t>Circuit v Packet Switching</a:t>
            </a:r>
          </a:p>
        </p:txBody>
      </p:sp>
      <p:sp>
        <p:nvSpPr>
          <p:cNvPr id="51203" name="Text Placeholder 51202"/>
          <p:cNvSpPr>
            <a:spLocks noGrp="1"/>
          </p:cNvSpPr>
          <p:nvPr>
            <p:ph type="body" idx="1"/>
          </p:nvPr>
        </p:nvSpPr>
        <p:spPr/>
        <p:txBody>
          <a:bodyPr/>
          <a:lstStyle/>
          <a:p>
            <a:r>
              <a:rPr lang="en-US" altLang="en-US" dirty="0"/>
              <a:t>Performance</a:t>
            </a:r>
          </a:p>
          <a:p>
            <a:pPr lvl="1"/>
            <a:r>
              <a:rPr lang="en-US" altLang="en-US" dirty="0"/>
              <a:t>Propagation delay</a:t>
            </a:r>
          </a:p>
          <a:p>
            <a:pPr lvl="1"/>
            <a:r>
              <a:rPr lang="en-US" altLang="en-US" dirty="0"/>
              <a:t>Transmission time</a:t>
            </a:r>
          </a:p>
          <a:p>
            <a:pPr lvl="1"/>
            <a:r>
              <a:rPr lang="en-US" altLang="en-US" dirty="0"/>
              <a:t>Node delay</a:t>
            </a:r>
          </a:p>
          <a:p>
            <a:pPr lvl="1"/>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62</a:t>
            </a:fld>
            <a:endParaRPr lang="en-US" sz="2000" b="1">
              <a:latin typeface="Arial" panose="02080604020202020204" pitchFamily="34" charset="0"/>
            </a:endParaRPr>
          </a:p>
        </p:txBody>
      </p:sp>
      <p:sp>
        <p:nvSpPr>
          <p:cNvPr id="858114" name="Rectangles 858113"/>
          <p:cNvSpPr/>
          <p:nvPr/>
        </p:nvSpPr>
        <p:spPr>
          <a:xfrm>
            <a:off x="0" y="0"/>
            <a:ext cx="9144000" cy="9906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dirty="0">
              <a:effectLst>
                <a:outerShdw blurRad="38100" dist="38100" dir="2700000">
                  <a:srgbClr val="FFFFFF"/>
                </a:outerShdw>
              </a:effectLst>
              <a:latin typeface="Times New Roman" charset="0"/>
            </a:endParaRPr>
          </a:p>
        </p:txBody>
      </p:sp>
      <p:sp>
        <p:nvSpPr>
          <p:cNvPr id="858115" name="Text Box 858114"/>
          <p:cNvSpPr txBox="1"/>
          <p:nvPr/>
        </p:nvSpPr>
        <p:spPr>
          <a:xfrm>
            <a:off x="228600" y="152400"/>
            <a:ext cx="3424238" cy="579438"/>
          </a:xfrm>
          <a:prstGeom prst="rect">
            <a:avLst/>
          </a:prstGeom>
          <a:noFill/>
          <a:ln w="9525">
            <a:noFill/>
          </a:ln>
        </p:spPr>
        <p:txBody>
          <a:bodyPr wrap="none" anchor="t" anchorCtr="0">
            <a:spAutoFit/>
          </a:bodyPr>
          <a:lstStyle/>
          <a:p>
            <a:r>
              <a:rPr>
                <a:effectLst>
                  <a:outerShdw blurRad="38100" dist="38100" dir="2700000">
                    <a:srgbClr val="C0C0C0"/>
                  </a:outerShdw>
                </a:effectLst>
                <a:latin typeface="Times" charset="0"/>
              </a:rPr>
              <a:t>1-2   NETWORKS</a:t>
            </a:r>
          </a:p>
        </p:txBody>
      </p:sp>
      <p:sp>
        <p:nvSpPr>
          <p:cNvPr id="858116" name="Text Box 858115"/>
          <p:cNvSpPr txBox="1"/>
          <p:nvPr/>
        </p:nvSpPr>
        <p:spPr>
          <a:xfrm>
            <a:off x="8229600" y="6400800"/>
            <a:ext cx="184150" cy="366713"/>
          </a:xfrm>
          <a:prstGeom prst="rect">
            <a:avLst/>
          </a:prstGeom>
          <a:noFill/>
          <a:ln w="9525">
            <a:noFill/>
          </a:ln>
        </p:spPr>
        <p:txBody>
          <a:bodyPr wrap="none" anchor="t" anchorCtr="0">
            <a:spAutoFit/>
          </a:bodyPr>
          <a:lstStyle/>
          <a:p>
            <a:endParaRPr sz="1800" dirty="0">
              <a:latin typeface="Times New Roman" charset="0"/>
            </a:endParaRPr>
          </a:p>
        </p:txBody>
      </p:sp>
      <p:sp>
        <p:nvSpPr>
          <p:cNvPr id="858118" name="Rectangles 858117"/>
          <p:cNvSpPr/>
          <p:nvPr/>
        </p:nvSpPr>
        <p:spPr>
          <a:xfrm>
            <a:off x="228600" y="1219200"/>
            <a:ext cx="8610600" cy="3081338"/>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latin typeface="Times New Roman" charset="0"/>
              </a:rPr>
              <a:t>A </a:t>
            </a:r>
            <a:r>
              <a:rPr sz="2800" i="1">
                <a:solidFill>
                  <a:schemeClr val="hlink"/>
                </a:solidFill>
                <a:effectLst>
                  <a:outerShdw blurRad="38100" dist="38100" dir="2700000">
                    <a:srgbClr val="C0C0C0"/>
                  </a:outerShdw>
                </a:effectLst>
                <a:latin typeface="Times New Roman" charset="0"/>
              </a:rPr>
              <a:t>network</a:t>
            </a:r>
            <a:r>
              <a:rPr sz="2800" i="1">
                <a:effectLst>
                  <a:outerShdw blurRad="38100" dist="38100" dir="2700000">
                    <a:srgbClr val="C0C0C0"/>
                  </a:outerShdw>
                </a:effectLst>
                <a:latin typeface="Times New Roman" charset="0"/>
              </a:rPr>
              <a:t> is a set of devices (often referred to as </a:t>
            </a:r>
            <a:r>
              <a:rPr sz="2800" i="1">
                <a:solidFill>
                  <a:schemeClr val="hlink"/>
                </a:solidFill>
                <a:effectLst>
                  <a:outerShdw blurRad="38100" dist="38100" dir="2700000">
                    <a:srgbClr val="C0C0C0"/>
                  </a:outerShdw>
                </a:effectLst>
                <a:latin typeface="Times New Roman" charset="0"/>
              </a:rPr>
              <a:t>nodes</a:t>
            </a:r>
            <a:r>
              <a:rPr sz="2800" i="1">
                <a:effectLst>
                  <a:outerShdw blurRad="38100" dist="38100" dir="2700000">
                    <a:srgbClr val="C0C0C0"/>
                  </a:outerShdw>
                </a:effectLst>
                <a:latin typeface="Times New Roman" charset="0"/>
              </a:rPr>
              <a:t>) connected by communication </a:t>
            </a:r>
            <a:r>
              <a:rPr sz="2800" i="1">
                <a:solidFill>
                  <a:schemeClr val="hlink"/>
                </a:solidFill>
                <a:effectLst>
                  <a:outerShdw blurRad="38100" dist="38100" dir="2700000">
                    <a:srgbClr val="C0C0C0"/>
                  </a:outerShdw>
                </a:effectLst>
                <a:latin typeface="Times New Roman" charset="0"/>
              </a:rPr>
              <a:t>links</a:t>
            </a:r>
            <a:r>
              <a:rPr sz="2800" i="1">
                <a:effectLst>
                  <a:outerShdw blurRad="38100" dist="38100" dir="2700000">
                    <a:srgbClr val="C0C0C0"/>
                  </a:outerShdw>
                </a:effectLst>
                <a:latin typeface="Times New Roman" charset="0"/>
              </a:rPr>
              <a:t>. A node can be a computer, printer, or any other device capable of sending and/or receiving data generated by other nodes on the network. A link can be a cable, air, optical fiber,</a:t>
            </a:r>
            <a:r>
              <a:rPr sz="2800" i="1" dirty="0">
                <a:effectLst>
                  <a:outerShdw blurRad="38100" dist="38100" dir="2700000">
                    <a:srgbClr val="C0C0C0"/>
                  </a:outerShdw>
                </a:effectLst>
                <a:latin typeface="Times New Roman" charset="0"/>
              </a:rPr>
              <a:t> </a:t>
            </a:r>
            <a:r>
              <a:rPr sz="2800" i="1">
                <a:effectLst>
                  <a:outerShdw blurRad="38100" dist="38100" dir="2700000">
                    <a:srgbClr val="C0C0C0"/>
                  </a:outerShdw>
                </a:effectLst>
                <a:latin typeface="Times New Roman" charset="0"/>
              </a:rPr>
              <a:t>or any medium which can transport a signal carrying</a:t>
            </a:r>
            <a:r>
              <a:rPr sz="2800" i="1" dirty="0">
                <a:effectLst>
                  <a:outerShdw blurRad="38100" dist="38100" dir="2700000">
                    <a:srgbClr val="C0C0C0"/>
                  </a:outerShdw>
                </a:effectLst>
                <a:latin typeface="Times New Roman" charset="0"/>
              </a:rPr>
              <a:t> </a:t>
            </a:r>
            <a:r>
              <a:rPr sz="2800" i="1">
                <a:effectLst>
                  <a:outerShdw blurRad="38100" dist="38100" dir="2700000">
                    <a:srgbClr val="C0C0C0"/>
                  </a:outerShdw>
                </a:effectLst>
                <a:latin typeface="Times New Roman" charset="0"/>
              </a:rPr>
              <a:t>information.</a:t>
            </a:r>
          </a:p>
        </p:txBody>
      </p:sp>
      <p:sp>
        <p:nvSpPr>
          <p:cNvPr id="858119" name="Rectangles 858118"/>
          <p:cNvSpPr/>
          <p:nvPr/>
        </p:nvSpPr>
        <p:spPr>
          <a:xfrm>
            <a:off x="304800" y="4876800"/>
            <a:ext cx="7696200" cy="1187450"/>
          </a:xfrm>
          <a:prstGeom prst="rect">
            <a:avLst/>
          </a:prstGeom>
          <a:noFill/>
          <a:ln w="9525">
            <a:noFill/>
          </a:ln>
        </p:spPr>
        <p:txBody>
          <a:bodyPr>
            <a:spAutoFit/>
          </a:bodyPr>
          <a:lstStyle/>
          <a:p>
            <a:pPr>
              <a:buSzPct val="117000"/>
              <a:buFont typeface="Wingdings" panose="05000000000000000000" pitchFamily="2" charset="2"/>
              <a:buChar char="§"/>
            </a:pPr>
            <a:r>
              <a:rPr lang="fr-FR" altLang="x-none" sz="2400" dirty="0" err="1">
                <a:solidFill>
                  <a:srgbClr val="0033CC"/>
                </a:solidFill>
                <a:latin typeface="Times New Roman" charset="0"/>
              </a:rPr>
              <a:t> </a:t>
            </a:r>
            <a:r>
              <a:rPr lang="fr-FR" altLang="x-none" sz="2400">
                <a:solidFill>
                  <a:srgbClr val="0033CC"/>
                </a:solidFill>
                <a:latin typeface="Times New Roman" charset="0"/>
              </a:rPr>
              <a:t>Network </a:t>
            </a:r>
            <a:r>
              <a:rPr lang="fr-FR" altLang="x-none" sz="2400" err="1">
                <a:solidFill>
                  <a:srgbClr val="0033CC"/>
                </a:solidFill>
                <a:latin typeface="Times New Roman" charset="0"/>
              </a:rPr>
              <a:t>Criteria</a:t>
            </a:r>
          </a:p>
          <a:p>
            <a:pPr>
              <a:buSzPct val="117000"/>
              <a:buFont typeface="Wingdings" panose="05000000000000000000" pitchFamily="2" charset="2"/>
              <a:buChar char="§"/>
            </a:pPr>
            <a:r>
              <a:rPr sz="2400" err="1">
                <a:solidFill>
                  <a:srgbClr val="0033CC"/>
                </a:solidFill>
                <a:latin typeface="Times New Roman" charset="0"/>
              </a:rPr>
              <a:t> </a:t>
            </a:r>
            <a:r>
              <a:rPr sz="2400">
                <a:solidFill>
                  <a:srgbClr val="0033CC"/>
                </a:solidFill>
                <a:latin typeface="Times New Roman" charset="0"/>
              </a:rPr>
              <a:t>Physical Structures</a:t>
            </a:r>
          </a:p>
          <a:p>
            <a:pPr>
              <a:buSzPct val="117000"/>
              <a:buFont typeface="Wingdings" panose="05000000000000000000" pitchFamily="2" charset="2"/>
              <a:buChar char="§"/>
            </a:pPr>
            <a:r>
              <a:rPr sz="2400">
                <a:solidFill>
                  <a:srgbClr val="0033CC"/>
                </a:solidFill>
                <a:latin typeface="Times New Roman" charset="0"/>
              </a:rPr>
              <a:t> Categories of Networks</a:t>
            </a:r>
          </a:p>
        </p:txBody>
      </p:sp>
      <p:sp>
        <p:nvSpPr>
          <p:cNvPr id="858120" name="Text Box 858119"/>
          <p:cNvSpPr txBox="1"/>
          <p:nvPr/>
        </p:nvSpPr>
        <p:spPr>
          <a:xfrm>
            <a:off x="704850" y="4387850"/>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latin typeface="Times New Roman" charset="0"/>
              </a:rPr>
              <a:t>Topics discussed in this section: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1.</a:t>
            </a:r>
            <a:fld id="{9A0DB2DC-4C9A-4742-B13C-FB6460FD3503}" type="slidenum">
              <a:rPr lang="en-US" sz="2000" b="1">
                <a:latin typeface="Arial" panose="02080604020202020204" pitchFamily="34" charset="0"/>
              </a:rPr>
              <a:t>63</a:t>
            </a:fld>
            <a:endParaRPr lang="en-US" sz="2000" b="1">
              <a:latin typeface="Arial" panose="02080604020202020204" pitchFamily="34" charset="0"/>
            </a:endParaRPr>
          </a:p>
        </p:txBody>
      </p:sp>
      <p:sp>
        <p:nvSpPr>
          <p:cNvPr id="863234" name="Straight Connector 863233"/>
          <p:cNvSpPr/>
          <p:nvPr/>
        </p:nvSpPr>
        <p:spPr>
          <a:xfrm>
            <a:off x="152400" y="228600"/>
            <a:ext cx="8763000" cy="0"/>
          </a:xfrm>
          <a:prstGeom prst="line">
            <a:avLst/>
          </a:prstGeom>
          <a:ln w="76200" cap="flat" cmpd="sng">
            <a:solidFill>
              <a:schemeClr val="hlink"/>
            </a:solidFill>
            <a:prstDash val="solid"/>
            <a:headEnd type="none" w="med" len="med"/>
            <a:tailEnd type="none" w="med" len="med"/>
          </a:ln>
        </p:spPr>
      </p:sp>
      <p:sp>
        <p:nvSpPr>
          <p:cNvPr id="863235" name="Straight Connector 863234"/>
          <p:cNvSpPr/>
          <p:nvPr/>
        </p:nvSpPr>
        <p:spPr>
          <a:xfrm>
            <a:off x="152400" y="1066800"/>
            <a:ext cx="8763000" cy="0"/>
          </a:xfrm>
          <a:prstGeom prst="line">
            <a:avLst/>
          </a:prstGeom>
          <a:ln w="19050" cap="flat" cmpd="sng">
            <a:solidFill>
              <a:schemeClr val="hlink"/>
            </a:solidFill>
            <a:prstDash val="solid"/>
            <a:headEnd type="none" w="med" len="med"/>
            <a:tailEnd type="none" w="med" len="med"/>
          </a:ln>
        </p:spPr>
      </p:sp>
      <p:sp>
        <p:nvSpPr>
          <p:cNvPr id="863236" name="Text Box 863235"/>
          <p:cNvSpPr txBox="1"/>
          <p:nvPr/>
        </p:nvSpPr>
        <p:spPr>
          <a:xfrm>
            <a:off x="304800" y="361950"/>
            <a:ext cx="3197225" cy="579438"/>
          </a:xfrm>
          <a:prstGeom prst="rect">
            <a:avLst/>
          </a:prstGeom>
          <a:noFill/>
          <a:ln w="9525">
            <a:noFill/>
          </a:ln>
        </p:spPr>
        <p:txBody>
          <a:bodyPr wrap="none" anchor="t" anchorCtr="0">
            <a:spAutoFit/>
          </a:bodyPr>
          <a:lstStyle/>
          <a:p>
            <a:r>
              <a:rPr>
                <a:latin typeface="Times New Roman" charset="0"/>
              </a:rPr>
              <a:t>Network Criteria</a:t>
            </a:r>
            <a:endParaRPr sz="2000" i="1">
              <a:latin typeface="Times New Roman" charset="0"/>
            </a:endParaRPr>
          </a:p>
        </p:txBody>
      </p:sp>
      <p:sp>
        <p:nvSpPr>
          <p:cNvPr id="863237" name="Straight Connector 863236"/>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sp>
        <p:nvSpPr>
          <p:cNvPr id="863239" name="Text Box 863238"/>
          <p:cNvSpPr txBox="1"/>
          <p:nvPr/>
        </p:nvSpPr>
        <p:spPr>
          <a:xfrm>
            <a:off x="457200" y="1524000"/>
            <a:ext cx="7315200" cy="579438"/>
          </a:xfrm>
          <a:prstGeom prst="rect">
            <a:avLst/>
          </a:prstGeom>
          <a:noFill/>
          <a:ln w="9525">
            <a:noFill/>
          </a:ln>
        </p:spPr>
        <p:txBody>
          <a:bodyPr>
            <a:spAutoFit/>
          </a:bodyPr>
          <a:lstStyle/>
          <a:p>
            <a:pPr>
              <a:buNone/>
            </a:pPr>
            <a:endParaRPr dirty="0">
              <a:latin typeface="Arial" panose="02080604020202020204" pitchFamily="34" charset="0"/>
            </a:endParaRPr>
          </a:p>
        </p:txBody>
      </p:sp>
      <p:sp>
        <p:nvSpPr>
          <p:cNvPr id="863241" name="Text Placeholder 863240"/>
          <p:cNvSpPr>
            <a:spLocks noGrp="1"/>
          </p:cNvSpPr>
          <p:nvPr>
            <p:ph type="body" idx="1"/>
          </p:nvPr>
        </p:nvSpPr>
        <p:spPr>
          <a:xfrm>
            <a:off x="457200" y="1371600"/>
            <a:ext cx="7772400" cy="4114800"/>
          </a:xfrm>
          <a:noFill/>
          <a:ln>
            <a:noFill/>
          </a:ln>
        </p:spPr>
        <p:txBody>
          <a:bodyPr/>
          <a:lstStyle/>
          <a:p>
            <a:r>
              <a:rPr sz="2400" b="1">
                <a:solidFill>
                  <a:schemeClr val="folHlink"/>
                </a:solidFill>
                <a:latin typeface="Times New Roman" charset="0"/>
              </a:rPr>
              <a:t>Performance</a:t>
            </a:r>
          </a:p>
          <a:p>
            <a:pPr lvl="1"/>
            <a:r>
              <a:rPr sz="2000" b="1">
                <a:solidFill>
                  <a:schemeClr val="folHlink"/>
                </a:solidFill>
                <a:latin typeface="Times New Roman" charset="0"/>
              </a:rPr>
              <a:t>Depends on Network Elements</a:t>
            </a:r>
          </a:p>
          <a:p>
            <a:pPr lvl="1"/>
            <a:r>
              <a:rPr sz="2000" b="1">
                <a:solidFill>
                  <a:schemeClr val="folHlink"/>
                </a:solidFill>
                <a:latin typeface="Times New Roman" charset="0"/>
              </a:rPr>
              <a:t>Measured in terms of Delay and Throughput</a:t>
            </a:r>
          </a:p>
          <a:p>
            <a:r>
              <a:rPr sz="2400" b="1">
                <a:solidFill>
                  <a:schemeClr val="folHlink"/>
                </a:solidFill>
                <a:latin typeface="Times New Roman" charset="0"/>
              </a:rPr>
              <a:t>Reliability</a:t>
            </a:r>
          </a:p>
          <a:p>
            <a:pPr lvl="1"/>
            <a:r>
              <a:rPr sz="2000" b="1">
                <a:solidFill>
                  <a:schemeClr val="folHlink"/>
                </a:solidFill>
                <a:latin typeface="Times New Roman" charset="0"/>
              </a:rPr>
              <a:t>Failure rate of network components</a:t>
            </a:r>
          </a:p>
          <a:p>
            <a:pPr lvl="1"/>
            <a:r>
              <a:rPr sz="2000" b="1">
                <a:solidFill>
                  <a:schemeClr val="folHlink"/>
                </a:solidFill>
                <a:latin typeface="Times New Roman" charset="0"/>
              </a:rPr>
              <a:t>Measured in terms of availability/robustness</a:t>
            </a:r>
          </a:p>
          <a:p>
            <a:r>
              <a:rPr sz="2400" b="1">
                <a:solidFill>
                  <a:schemeClr val="folHlink"/>
                </a:solidFill>
                <a:latin typeface="Times New Roman" charset="0"/>
              </a:rPr>
              <a:t>Security</a:t>
            </a:r>
          </a:p>
          <a:p>
            <a:pPr lvl="1"/>
            <a:r>
              <a:rPr sz="2000" b="1">
                <a:solidFill>
                  <a:schemeClr val="folHlink"/>
                </a:solidFill>
                <a:latin typeface="Times New Roman" charset="0"/>
              </a:rPr>
              <a:t>Data protection against</a:t>
            </a:r>
            <a:r>
              <a:rPr sz="2000" b="1" dirty="0">
                <a:solidFill>
                  <a:schemeClr val="folHlink"/>
                </a:solidFill>
                <a:latin typeface="Times New Roman" charset="0"/>
              </a:rPr>
              <a:t> </a:t>
            </a:r>
            <a:r>
              <a:rPr sz="2000" b="1">
                <a:solidFill>
                  <a:schemeClr val="folHlink"/>
                </a:solidFill>
                <a:latin typeface="Times New Roman" charset="0"/>
              </a:rPr>
              <a:t>corruption/loss of</a:t>
            </a:r>
            <a:r>
              <a:rPr sz="2000" b="1" dirty="0">
                <a:solidFill>
                  <a:schemeClr val="folHlink"/>
                </a:solidFill>
                <a:latin typeface="Times New Roman" charset="0"/>
              </a:rPr>
              <a:t> </a:t>
            </a:r>
            <a:r>
              <a:rPr sz="2000" b="1">
                <a:solidFill>
                  <a:schemeClr val="folHlink"/>
                </a:solidFill>
                <a:latin typeface="Times New Roman" charset="0"/>
              </a:rPr>
              <a:t>data due to:</a:t>
            </a:r>
          </a:p>
          <a:p>
            <a:pPr lvl="3"/>
            <a:r>
              <a:rPr sz="1600" b="1">
                <a:solidFill>
                  <a:schemeClr val="folHlink"/>
                </a:solidFill>
                <a:latin typeface="Times New Roman" charset="0"/>
              </a:rPr>
              <a:t>Errors</a:t>
            </a:r>
          </a:p>
          <a:p>
            <a:pPr lvl="3"/>
            <a:r>
              <a:rPr sz="1600" b="1">
                <a:solidFill>
                  <a:schemeClr val="folHlink"/>
                </a:solidFill>
                <a:latin typeface="Times New Roman" charset="0"/>
              </a:rPr>
              <a:t>Malicious users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64</a:t>
            </a:fld>
            <a:endParaRPr lang="en-US" sz="1400" b="1">
              <a:solidFill>
                <a:schemeClr val="bg1"/>
              </a:solidFill>
              <a:effectLst/>
            </a:endParaRPr>
          </a:p>
        </p:txBody>
      </p:sp>
      <p:sp>
        <p:nvSpPr>
          <p:cNvPr id="8194" name="Title 8193"/>
          <p:cNvSpPr>
            <a:spLocks noGrp="1"/>
          </p:cNvSpPr>
          <p:nvPr>
            <p:ph type="title"/>
          </p:nvPr>
        </p:nvSpPr>
        <p:spPr/>
        <p:txBody>
          <a:bodyPr anchor="ctr" anchorCtr="0"/>
          <a:lstStyle/>
          <a:p>
            <a:r>
              <a:t>The Uses of a Network</a:t>
            </a:r>
          </a:p>
        </p:txBody>
      </p:sp>
      <p:sp>
        <p:nvSpPr>
          <p:cNvPr id="8195" name="Text Placeholder 8194"/>
          <p:cNvSpPr>
            <a:spLocks noGrp="1"/>
          </p:cNvSpPr>
          <p:nvPr>
            <p:ph type="body" idx="1"/>
          </p:nvPr>
        </p:nvSpPr>
        <p:spPr/>
        <p:txBody>
          <a:bodyPr/>
          <a:lstStyle/>
          <a:p>
            <a:r>
              <a:t>Simultaneous access to data</a:t>
            </a:r>
          </a:p>
          <a:p>
            <a:pPr lvl="1"/>
            <a:r>
              <a:t>Data files are shared</a:t>
            </a:r>
          </a:p>
          <a:p>
            <a:pPr lvl="2"/>
            <a:r>
              <a:t>Access can be limited</a:t>
            </a:r>
          </a:p>
          <a:p>
            <a:pPr lvl="1"/>
            <a:r>
              <a:t>Shared files stored on a server</a:t>
            </a:r>
          </a:p>
          <a:p>
            <a:pPr lvl="1"/>
            <a:r>
              <a:t>Software can be shared</a:t>
            </a:r>
          </a:p>
          <a:p>
            <a:pPr lvl="2"/>
            <a:r>
              <a:t>Site licenses</a:t>
            </a:r>
          </a:p>
          <a:p>
            <a:pPr lvl="2"/>
            <a:r>
              <a:t>Network versions</a:t>
            </a:r>
          </a:p>
          <a:p>
            <a:pPr lvl="2"/>
            <a:r>
              <a:t>Application servers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65</a:t>
            </a:fld>
            <a:endParaRPr lang="en-US" sz="1400" b="1">
              <a:solidFill>
                <a:schemeClr val="bg1"/>
              </a:solidFill>
              <a:effectLst/>
            </a:endParaRPr>
          </a:p>
        </p:txBody>
      </p:sp>
      <p:sp>
        <p:nvSpPr>
          <p:cNvPr id="10242" name="Title 10241"/>
          <p:cNvSpPr>
            <a:spLocks noGrp="1"/>
          </p:cNvSpPr>
          <p:nvPr>
            <p:ph type="title"/>
          </p:nvPr>
        </p:nvSpPr>
        <p:spPr/>
        <p:txBody>
          <a:bodyPr anchor="ctr" anchorCtr="0"/>
          <a:lstStyle/>
          <a:p>
            <a:r>
              <a:t>The Uses of a Network</a:t>
            </a:r>
          </a:p>
        </p:txBody>
      </p:sp>
      <p:sp>
        <p:nvSpPr>
          <p:cNvPr id="10243" name="Text Placeholder 10242"/>
          <p:cNvSpPr>
            <a:spLocks noGrp="1"/>
          </p:cNvSpPr>
          <p:nvPr>
            <p:ph type="body" idx="1"/>
          </p:nvPr>
        </p:nvSpPr>
        <p:spPr/>
        <p:txBody>
          <a:bodyPr/>
          <a:lstStyle/>
          <a:p>
            <a:r>
              <a:t>Shared peripheral device</a:t>
            </a:r>
          </a:p>
          <a:p>
            <a:pPr lvl="1"/>
            <a:r>
              <a:t>Printers and faxes are common shares</a:t>
            </a:r>
          </a:p>
          <a:p>
            <a:pPr lvl="1"/>
            <a:r>
              <a:t>Reduces the cost per user</a:t>
            </a:r>
          </a:p>
          <a:p>
            <a:pPr lvl="1"/>
            <a:r>
              <a:t>Devices can be connected to the network</a:t>
            </a:r>
          </a:p>
          <a:p>
            <a:pPr lvl="1"/>
            <a:r>
              <a:t>Print servers control network printing</a:t>
            </a:r>
          </a:p>
          <a:p>
            <a:pPr lvl="2"/>
            <a:r>
              <a:t>Manage the print queue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66</a:t>
            </a:fld>
            <a:endParaRPr lang="en-US" sz="1400" b="1">
              <a:solidFill>
                <a:schemeClr val="bg1"/>
              </a:solidFill>
              <a:effectLst/>
            </a:endParaRPr>
          </a:p>
        </p:txBody>
      </p:sp>
      <p:sp>
        <p:nvSpPr>
          <p:cNvPr id="76802" name="Title 76801"/>
          <p:cNvSpPr>
            <a:spLocks noGrp="1"/>
          </p:cNvSpPr>
          <p:nvPr>
            <p:ph type="title"/>
          </p:nvPr>
        </p:nvSpPr>
        <p:spPr/>
        <p:txBody>
          <a:bodyPr anchor="ctr" anchorCtr="0"/>
          <a:lstStyle/>
          <a:p>
            <a:r>
              <a:t>Sharing Data</a:t>
            </a:r>
          </a:p>
        </p:txBody>
      </p:sp>
      <p:pic>
        <p:nvPicPr>
          <p:cNvPr id="76804" name="Picture 76803" descr="D:\My Documents\!books\norton im\chapter 9\fileSharing.tif"/>
          <p:cNvPicPr>
            <a:picLocks noChangeAspect="1"/>
          </p:cNvPicPr>
          <p:nvPr/>
        </p:nvPicPr>
        <p:blipFill>
          <a:blip r:embed="rId2"/>
          <a:stretch>
            <a:fillRect/>
          </a:stretch>
        </p:blipFill>
        <p:spPr>
          <a:xfrm>
            <a:off x="1143000" y="2133600"/>
            <a:ext cx="7391400" cy="3640138"/>
          </a:xfrm>
          <a:prstGeom prst="rect">
            <a:avLst/>
          </a:prstGeom>
          <a:noFill/>
          <a:ln w="9525">
            <a:noFill/>
          </a:ln>
        </p:spPr>
      </p:pic>
      <p:sp>
        <p:nvSpPr>
          <p:cNvPr id="76805" name="Text Box 76804"/>
          <p:cNvSpPr txBox="1"/>
          <p:nvPr/>
        </p:nvSpPr>
        <p:spPr>
          <a:xfrm>
            <a:off x="4953000" y="2667000"/>
            <a:ext cx="3505200" cy="641350"/>
          </a:xfrm>
          <a:prstGeom prst="rect">
            <a:avLst/>
          </a:prstGeom>
          <a:noFill/>
          <a:ln w="9525">
            <a:noFill/>
          </a:ln>
        </p:spPr>
        <p:txBody>
          <a:bodyPr>
            <a:spAutoFit/>
          </a:bodyPr>
          <a:lstStyle/>
          <a:p>
            <a:pPr>
              <a:spcBef>
                <a:spcPct val="50000"/>
              </a:spcBef>
            </a:pPr>
            <a:r>
              <a:rPr>
                <a:effectLst>
                  <a:outerShdw blurRad="38100" dist="38100" dir="2700000">
                    <a:srgbClr val="C0C0C0"/>
                  </a:outerShdw>
                </a:effectLst>
              </a:rPr>
              <a:t>File server contains documents used by other computers.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67</a:t>
            </a:fld>
            <a:endParaRPr lang="en-US" sz="1400" b="1">
              <a:solidFill>
                <a:schemeClr val="bg1"/>
              </a:solidFill>
              <a:effectLst/>
            </a:endParaRPr>
          </a:p>
        </p:txBody>
      </p:sp>
      <p:sp>
        <p:nvSpPr>
          <p:cNvPr id="13314" name="Title 13313"/>
          <p:cNvSpPr>
            <a:spLocks noGrp="1"/>
          </p:cNvSpPr>
          <p:nvPr>
            <p:ph type="title"/>
          </p:nvPr>
        </p:nvSpPr>
        <p:spPr/>
        <p:txBody>
          <a:bodyPr anchor="ctr" anchorCtr="0"/>
          <a:lstStyle/>
          <a:p>
            <a:r>
              <a:t>The Uses of a Network</a:t>
            </a:r>
          </a:p>
        </p:txBody>
      </p:sp>
      <p:sp>
        <p:nvSpPr>
          <p:cNvPr id="13315" name="Text Placeholder 13314"/>
          <p:cNvSpPr>
            <a:spLocks noGrp="1"/>
          </p:cNvSpPr>
          <p:nvPr>
            <p:ph type="body" idx="1"/>
          </p:nvPr>
        </p:nvSpPr>
        <p:spPr/>
        <p:txBody>
          <a:bodyPr/>
          <a:lstStyle/>
          <a:p>
            <a:r>
              <a:t>Personal communication</a:t>
            </a:r>
          </a:p>
          <a:p>
            <a:pPr lvl="1"/>
            <a:r>
              <a:t>Email</a:t>
            </a:r>
          </a:p>
          <a:p>
            <a:pPr lvl="2"/>
            <a:r>
              <a:t>Instantaneous communication</a:t>
            </a:r>
          </a:p>
          <a:p>
            <a:pPr lvl="1"/>
            <a:r>
              <a:t>Conferencing</a:t>
            </a:r>
          </a:p>
          <a:p>
            <a:pPr lvl="2"/>
            <a:r>
              <a:t>Tele conferencing</a:t>
            </a:r>
          </a:p>
          <a:p>
            <a:pPr lvl="2"/>
            <a:r>
              <a:t>Videoconferencing</a:t>
            </a:r>
          </a:p>
          <a:p>
            <a:pPr lvl="2"/>
            <a:r>
              <a:t>Audio-conferencing</a:t>
            </a:r>
          </a:p>
          <a:p>
            <a:pPr lvl="2"/>
            <a:r>
              <a:t>Data-conferencing</a:t>
            </a:r>
          </a:p>
          <a:p>
            <a:pPr lvl="1"/>
            <a:r>
              <a:t>Voice over IP</a:t>
            </a:r>
          </a:p>
          <a:p>
            <a:pPr lvl="2"/>
            <a:r>
              <a:t>Phone communication over network wires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68</a:t>
            </a:fld>
            <a:endParaRPr lang="en-US" sz="1400" b="1">
              <a:solidFill>
                <a:schemeClr val="bg1"/>
              </a:solidFill>
              <a:effectLst/>
            </a:endParaRPr>
          </a:p>
        </p:txBody>
      </p:sp>
      <p:sp>
        <p:nvSpPr>
          <p:cNvPr id="78850" name="Title 78849"/>
          <p:cNvSpPr>
            <a:spLocks noGrp="1"/>
          </p:cNvSpPr>
          <p:nvPr>
            <p:ph type="title"/>
          </p:nvPr>
        </p:nvSpPr>
        <p:spPr/>
        <p:txBody>
          <a:bodyPr anchor="ctr" anchorCtr="0"/>
          <a:lstStyle/>
          <a:p>
            <a:r>
              <a:t>Voice Over IP</a:t>
            </a:r>
          </a:p>
        </p:txBody>
      </p:sp>
      <p:pic>
        <p:nvPicPr>
          <p:cNvPr id="78853" name="Picture 78852" descr="D:\My Documents\!books\norton im\chapter 9\voip.tif"/>
          <p:cNvPicPr>
            <a:picLocks noChangeAspect="1"/>
          </p:cNvPicPr>
          <p:nvPr/>
        </p:nvPicPr>
        <p:blipFill>
          <a:blip r:embed="rId2"/>
          <a:stretch>
            <a:fillRect/>
          </a:stretch>
        </p:blipFill>
        <p:spPr>
          <a:xfrm>
            <a:off x="990600" y="2133600"/>
            <a:ext cx="7848600" cy="3281363"/>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69</a:t>
            </a:fld>
            <a:endParaRPr lang="en-US" sz="1400" b="1">
              <a:solidFill>
                <a:schemeClr val="bg1"/>
              </a:solidFill>
              <a:effectLst/>
            </a:endParaRPr>
          </a:p>
        </p:txBody>
      </p:sp>
      <p:sp>
        <p:nvSpPr>
          <p:cNvPr id="17410" name="Title 17409"/>
          <p:cNvSpPr>
            <a:spLocks noGrp="1"/>
          </p:cNvSpPr>
          <p:nvPr>
            <p:ph type="title"/>
          </p:nvPr>
        </p:nvSpPr>
        <p:spPr/>
        <p:txBody>
          <a:bodyPr anchor="ctr" anchorCtr="0"/>
          <a:lstStyle/>
          <a:p>
            <a:r>
              <a:t>The Uses of a Network</a:t>
            </a:r>
          </a:p>
        </p:txBody>
      </p:sp>
      <p:sp>
        <p:nvSpPr>
          <p:cNvPr id="17411" name="Text Placeholder 17410"/>
          <p:cNvSpPr>
            <a:spLocks noGrp="1"/>
          </p:cNvSpPr>
          <p:nvPr>
            <p:ph type="body" idx="1"/>
          </p:nvPr>
        </p:nvSpPr>
        <p:spPr/>
        <p:txBody>
          <a:bodyPr/>
          <a:lstStyle/>
          <a:p>
            <a:r>
              <a:t>Easier data backup</a:t>
            </a:r>
          </a:p>
          <a:p>
            <a:pPr lvl="1"/>
            <a:r>
              <a:t>Backup copies data to removable media</a:t>
            </a:r>
          </a:p>
          <a:p>
            <a:pPr lvl="1"/>
            <a:r>
              <a:t>Server data backed up in one step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a:t>Categories of Networks</a:t>
            </a:r>
          </a:p>
        </p:txBody>
      </p:sp>
      <p:sp>
        <p:nvSpPr>
          <p:cNvPr id="203779" name="Rectangle 3"/>
          <p:cNvSpPr>
            <a:spLocks noGrp="1" noChangeArrowheads="1"/>
          </p:cNvSpPr>
          <p:nvPr>
            <p:ph type="body" idx="1"/>
          </p:nvPr>
        </p:nvSpPr>
        <p:spPr/>
        <p:txBody>
          <a:bodyPr/>
          <a:lstStyle/>
          <a:p>
            <a:pPr eaLnBrk="1" hangingPunct="1">
              <a:defRPr/>
            </a:pPr>
            <a:r>
              <a:rPr lang="en-US"/>
              <a:t>Network Category depends on its size</a:t>
            </a:r>
          </a:p>
          <a:p>
            <a:pPr eaLnBrk="1" hangingPunct="1">
              <a:defRPr/>
            </a:pPr>
            <a:r>
              <a:rPr lang="en-US"/>
              <a:t>Two primary categories</a:t>
            </a:r>
          </a:p>
          <a:p>
            <a:pPr lvl="1" eaLnBrk="1" hangingPunct="1">
              <a:defRPr/>
            </a:pPr>
            <a:r>
              <a:rPr lang="en-US" b="1">
                <a:solidFill>
                  <a:srgbClr val="3333FF"/>
                </a:solidFill>
                <a:effectLst>
                  <a:outerShdw blurRad="38100" dist="38100" dir="2700000" algn="tl">
                    <a:srgbClr val="C0C0C0"/>
                  </a:outerShdw>
                </a:effectLst>
              </a:rPr>
              <a:t>LAN</a:t>
            </a:r>
            <a:r>
              <a:rPr lang="en-US"/>
              <a:t>: Covers area &lt; 2miles</a:t>
            </a:r>
          </a:p>
          <a:p>
            <a:pPr lvl="1" eaLnBrk="1" hangingPunct="1">
              <a:defRPr/>
            </a:pPr>
            <a:r>
              <a:rPr lang="en-US" b="1">
                <a:solidFill>
                  <a:srgbClr val="3333FF"/>
                </a:solidFill>
                <a:effectLst>
                  <a:outerShdw blurRad="38100" dist="38100" dir="2700000" algn="tl">
                    <a:srgbClr val="C0C0C0"/>
                  </a:outerShdw>
                </a:effectLst>
              </a:rPr>
              <a:t>WAN</a:t>
            </a:r>
            <a:r>
              <a:rPr lang="en-US"/>
              <a:t>: Can be worldwide</a:t>
            </a:r>
          </a:p>
          <a:p>
            <a:pPr lvl="1" eaLnBrk="1" hangingPunct="1">
              <a:defRPr/>
            </a:pPr>
            <a:endParaRPr lang="en-US"/>
          </a:p>
          <a:p>
            <a:pPr lvl="1" eaLnBrk="1" hangingPunct="1">
              <a:defRPr/>
            </a:pPr>
            <a:r>
              <a:rPr lang="en-US" b="1">
                <a:solidFill>
                  <a:srgbClr val="3333FF"/>
                </a:solidFill>
                <a:effectLst>
                  <a:outerShdw blurRad="38100" dist="38100" dir="2700000" algn="tl">
                    <a:srgbClr val="C0C0C0"/>
                  </a:outerShdw>
                </a:effectLst>
              </a:rPr>
              <a:t>MAN</a:t>
            </a:r>
            <a:r>
              <a:rPr lang="en-US"/>
              <a:t>: Between LAN &amp; WAN, span 10s of miles</a:t>
            </a:r>
          </a:p>
        </p:txBody>
      </p:sp>
    </p:spTree>
    <p:extLst>
      <p:ext uri="{BB962C8B-B14F-4D97-AF65-F5344CB8AC3E}">
        <p14:creationId xmlns:p14="http://schemas.microsoft.com/office/powerpoint/2010/main" val="13918181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a:t>Local Area Network (LAN)</a:t>
            </a:r>
          </a:p>
        </p:txBody>
      </p:sp>
      <p:sp>
        <p:nvSpPr>
          <p:cNvPr id="55299" name="Rectangle 3"/>
          <p:cNvSpPr>
            <a:spLocks noGrp="1" noChangeArrowheads="1"/>
          </p:cNvSpPr>
          <p:nvPr>
            <p:ph type="body" idx="1"/>
          </p:nvPr>
        </p:nvSpPr>
        <p:spPr/>
        <p:txBody>
          <a:bodyPr/>
          <a:lstStyle/>
          <a:p>
            <a:pPr eaLnBrk="1" hangingPunct="1"/>
            <a:r>
              <a:rPr lang="en-US" sz="2800"/>
              <a:t>Privately owned</a:t>
            </a:r>
          </a:p>
          <a:p>
            <a:pPr eaLnBrk="1" hangingPunct="1"/>
            <a:r>
              <a:rPr lang="en-US" sz="2800"/>
              <a:t>Links devices in the same office, building, or campus</a:t>
            </a:r>
          </a:p>
          <a:p>
            <a:pPr eaLnBrk="1" hangingPunct="1"/>
            <a:r>
              <a:rPr lang="en-US" sz="2800"/>
              <a:t>Simple LAN: 2 PCs &amp; 1 printer in home or office</a:t>
            </a:r>
          </a:p>
          <a:p>
            <a:pPr eaLnBrk="1" hangingPunct="1"/>
            <a:r>
              <a:rPr lang="en-US" sz="2800"/>
              <a:t>Size is limited to a few kilometers</a:t>
            </a:r>
          </a:p>
          <a:p>
            <a:pPr eaLnBrk="1" hangingPunct="1"/>
            <a:r>
              <a:rPr lang="en-US" sz="2800"/>
              <a:t>Allow resources to be shared (hardware, software, or data)</a:t>
            </a:r>
          </a:p>
        </p:txBody>
      </p:sp>
    </p:spTree>
    <p:extLst>
      <p:ext uri="{BB962C8B-B14F-4D97-AF65-F5344CB8AC3E}">
        <p14:creationId xmlns:p14="http://schemas.microsoft.com/office/powerpoint/2010/main" val="29953344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en-US"/>
              <a:t>Local Area Network (LAN)</a:t>
            </a:r>
          </a:p>
        </p:txBody>
      </p:sp>
      <p:pic>
        <p:nvPicPr>
          <p:cNvPr id="5632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138" y="1677988"/>
            <a:ext cx="6943725"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6"/>
          <p:cNvSpPr txBox="1">
            <a:spLocks noChangeArrowheads="1"/>
          </p:cNvSpPr>
          <p:nvPr/>
        </p:nvSpPr>
        <p:spPr bwMode="auto">
          <a:xfrm>
            <a:off x="1049338" y="6226175"/>
            <a:ext cx="7110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algn="r" rtl="1" eaLnBrk="0" fontAlgn="base" hangingPunct="0">
              <a:spcBef>
                <a:spcPct val="0"/>
              </a:spcBef>
              <a:spcAft>
                <a:spcPct val="0"/>
              </a:spcAft>
              <a:defRPr sz="2400">
                <a:solidFill>
                  <a:schemeClr val="tx1"/>
                </a:solidFill>
                <a:latin typeface="Arial" charset="0"/>
                <a:cs typeface="Arial" charset="0"/>
              </a:defRPr>
            </a:lvl6pPr>
            <a:lvl7pPr marL="2971800" indent="-228600" algn="r" rtl="1" eaLnBrk="0" fontAlgn="base" hangingPunct="0">
              <a:spcBef>
                <a:spcPct val="0"/>
              </a:spcBef>
              <a:spcAft>
                <a:spcPct val="0"/>
              </a:spcAft>
              <a:defRPr sz="2400">
                <a:solidFill>
                  <a:schemeClr val="tx1"/>
                </a:solidFill>
                <a:latin typeface="Arial" charset="0"/>
                <a:cs typeface="Arial" charset="0"/>
              </a:defRPr>
            </a:lvl7pPr>
            <a:lvl8pPr marL="3429000" indent="-228600" algn="r" rtl="1" eaLnBrk="0" fontAlgn="base" hangingPunct="0">
              <a:spcBef>
                <a:spcPct val="0"/>
              </a:spcBef>
              <a:spcAft>
                <a:spcPct val="0"/>
              </a:spcAft>
              <a:defRPr sz="2400">
                <a:solidFill>
                  <a:schemeClr val="tx1"/>
                </a:solidFill>
                <a:latin typeface="Arial" charset="0"/>
                <a:cs typeface="Arial" charset="0"/>
              </a:defRPr>
            </a:lvl8pPr>
            <a:lvl9pPr marL="3886200" indent="-228600" algn="r" rtl="1" eaLnBrk="0" fontAlgn="base" hangingPunct="0">
              <a:spcBef>
                <a:spcPct val="0"/>
              </a:spcBef>
              <a:spcAft>
                <a:spcPct val="0"/>
              </a:spcAft>
              <a:defRPr sz="2400">
                <a:solidFill>
                  <a:schemeClr val="tx1"/>
                </a:solidFill>
                <a:latin typeface="Arial" charset="0"/>
                <a:cs typeface="Arial" charset="0"/>
              </a:defRPr>
            </a:lvl9pPr>
          </a:lstStyle>
          <a:p>
            <a:pPr algn="l" rtl="0"/>
            <a:r>
              <a:rPr lang="en-US" sz="2000"/>
              <a:t>An isolated LAN connecting 12 computers to a hub in a closet</a:t>
            </a:r>
          </a:p>
        </p:txBody>
      </p:sp>
    </p:spTree>
    <p:extLst>
      <p:ext uri="{BB962C8B-B14F-4D97-AF65-F5344CB8AC3E}">
        <p14:creationId xmlns:p14="http://schemas.microsoft.com/office/powerpoint/2010/main" val="1057517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en-US"/>
              <a:t>Local Area Network (LAN)</a:t>
            </a:r>
          </a:p>
        </p:txBody>
      </p:sp>
      <p:sp>
        <p:nvSpPr>
          <p:cNvPr id="57347" name="Rectangle 3"/>
          <p:cNvSpPr>
            <a:spLocks noGrp="1" noChangeArrowheads="1"/>
          </p:cNvSpPr>
          <p:nvPr>
            <p:ph type="body" idx="1"/>
          </p:nvPr>
        </p:nvSpPr>
        <p:spPr/>
        <p:txBody>
          <a:bodyPr/>
          <a:lstStyle/>
          <a:p>
            <a:pPr eaLnBrk="1" hangingPunct="1"/>
            <a:r>
              <a:rPr lang="en-US" sz="2800"/>
              <a:t>LAN is distinguished by:</a:t>
            </a:r>
          </a:p>
          <a:p>
            <a:pPr lvl="1" eaLnBrk="1" hangingPunct="1"/>
            <a:r>
              <a:rPr lang="en-US" sz="2300"/>
              <a:t>Size (# users of OS, or licensing restrictions)</a:t>
            </a:r>
          </a:p>
          <a:p>
            <a:pPr lvl="1" eaLnBrk="1" hangingPunct="1"/>
            <a:r>
              <a:rPr lang="en-US" sz="2300"/>
              <a:t>Transmission medium (only one type)</a:t>
            </a:r>
          </a:p>
          <a:p>
            <a:pPr lvl="1" eaLnBrk="1" hangingPunct="1"/>
            <a:r>
              <a:rPr lang="en-US" sz="2300"/>
              <a:t>Topology (bus, ring, star)</a:t>
            </a:r>
          </a:p>
          <a:p>
            <a:pPr lvl="1" eaLnBrk="1" hangingPunct="1"/>
            <a:endParaRPr lang="en-US" sz="2300"/>
          </a:p>
          <a:p>
            <a:pPr eaLnBrk="1" hangingPunct="1"/>
            <a:r>
              <a:rPr lang="en-US" sz="2900"/>
              <a:t>Data Rates (speed):</a:t>
            </a:r>
          </a:p>
          <a:p>
            <a:pPr lvl="1" eaLnBrk="1" hangingPunct="1"/>
            <a:r>
              <a:rPr lang="en-US" sz="2300"/>
              <a:t>Early: 4 to 16 Mbps</a:t>
            </a:r>
          </a:p>
          <a:p>
            <a:pPr lvl="1" eaLnBrk="1" hangingPunct="1"/>
            <a:r>
              <a:rPr lang="en-US" sz="2300"/>
              <a:t>Today: 100 to 1000 Mbps</a:t>
            </a:r>
          </a:p>
        </p:txBody>
      </p:sp>
      <p:pic>
        <p:nvPicPr>
          <p:cNvPr id="573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7338" y="3405188"/>
            <a:ext cx="3400425"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78517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defRPr/>
            </a:pPr>
            <a:r>
              <a:rPr lang="en-US"/>
              <a:t>Wide Area Networks (WAN)</a:t>
            </a:r>
          </a:p>
        </p:txBody>
      </p:sp>
      <p:sp>
        <p:nvSpPr>
          <p:cNvPr id="58371" name="Rectangle 3"/>
          <p:cNvSpPr>
            <a:spLocks noGrp="1" noChangeArrowheads="1"/>
          </p:cNvSpPr>
          <p:nvPr>
            <p:ph type="body" idx="1"/>
          </p:nvPr>
        </p:nvSpPr>
        <p:spPr/>
        <p:txBody>
          <a:bodyPr/>
          <a:lstStyle/>
          <a:p>
            <a:pPr eaLnBrk="1" hangingPunct="1"/>
            <a:r>
              <a:rPr lang="en-US" sz="2800"/>
              <a:t>Provides long-distance transmission of data over large geographic areas (country, continent, world)</a:t>
            </a:r>
          </a:p>
        </p:txBody>
      </p:sp>
      <p:pic>
        <p:nvPicPr>
          <p:cNvPr id="5837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950" y="2916238"/>
            <a:ext cx="612140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89869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defRPr/>
            </a:pPr>
            <a:r>
              <a:rPr lang="en-US"/>
              <a:t>Wide Area Networks (WAN)</a:t>
            </a:r>
          </a:p>
        </p:txBody>
      </p:sp>
      <p:sp>
        <p:nvSpPr>
          <p:cNvPr id="59395" name="Rectangle 3"/>
          <p:cNvSpPr>
            <a:spLocks noGrp="1" noChangeArrowheads="1"/>
          </p:cNvSpPr>
          <p:nvPr>
            <p:ph type="body" idx="1"/>
          </p:nvPr>
        </p:nvSpPr>
        <p:spPr/>
        <p:txBody>
          <a:bodyPr/>
          <a:lstStyle/>
          <a:p>
            <a:pPr eaLnBrk="1" hangingPunct="1"/>
            <a:r>
              <a:rPr lang="en-US" sz="2800"/>
              <a:t>Switched WAN</a:t>
            </a:r>
          </a:p>
          <a:p>
            <a:pPr lvl="1" eaLnBrk="1" hangingPunct="1"/>
            <a:r>
              <a:rPr lang="en-US" sz="2300"/>
              <a:t>Backbone of the Internet</a:t>
            </a:r>
          </a:p>
          <a:p>
            <a:pPr lvl="1" eaLnBrk="1" hangingPunct="1"/>
            <a:endParaRPr lang="en-US" sz="2500"/>
          </a:p>
          <a:p>
            <a:pPr eaLnBrk="1" hangingPunct="1"/>
            <a:r>
              <a:rPr lang="en-US" sz="2800"/>
              <a:t>Dialup line point-to-point WAN</a:t>
            </a:r>
          </a:p>
          <a:p>
            <a:pPr lvl="1" eaLnBrk="1" hangingPunct="1"/>
            <a:r>
              <a:rPr lang="en-US" sz="2300"/>
              <a:t>Leased line from a telephone company</a:t>
            </a:r>
          </a:p>
        </p:txBody>
      </p:sp>
    </p:spTree>
    <p:extLst>
      <p:ext uri="{BB962C8B-B14F-4D97-AF65-F5344CB8AC3E}">
        <p14:creationId xmlns:p14="http://schemas.microsoft.com/office/powerpoint/2010/main" val="917579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6" name="Rectangle 4"/>
          <p:cNvSpPr>
            <a:spLocks noGrp="1" noChangeArrowheads="1"/>
          </p:cNvSpPr>
          <p:nvPr>
            <p:ph type="title"/>
          </p:nvPr>
        </p:nvSpPr>
        <p:spPr/>
        <p:txBody>
          <a:bodyPr/>
          <a:lstStyle/>
          <a:p>
            <a:pPr eaLnBrk="1" hangingPunct="1">
              <a:defRPr/>
            </a:pPr>
            <a:r>
              <a:rPr lang="en-US"/>
              <a:t>Wide Area Networks (WAN)</a:t>
            </a:r>
          </a:p>
        </p:txBody>
      </p:sp>
      <p:pic>
        <p:nvPicPr>
          <p:cNvPr id="6041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75" y="1601788"/>
            <a:ext cx="7112000" cy="505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94701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defRPr/>
            </a:pPr>
            <a:r>
              <a:rPr lang="en-US"/>
              <a:t>Metropolitan Area Networks (MAN)</a:t>
            </a:r>
          </a:p>
        </p:txBody>
      </p:sp>
      <p:sp>
        <p:nvSpPr>
          <p:cNvPr id="61443" name="Rectangle 3"/>
          <p:cNvSpPr>
            <a:spLocks noGrp="1" noChangeArrowheads="1"/>
          </p:cNvSpPr>
          <p:nvPr>
            <p:ph type="body" idx="1"/>
          </p:nvPr>
        </p:nvSpPr>
        <p:spPr/>
        <p:txBody>
          <a:bodyPr/>
          <a:lstStyle/>
          <a:p>
            <a:pPr eaLnBrk="1" hangingPunct="1"/>
            <a:r>
              <a:rPr lang="en-US" sz="2800"/>
              <a:t>Size between LAN and WAN</a:t>
            </a:r>
          </a:p>
          <a:p>
            <a:pPr eaLnBrk="1" hangingPunct="1"/>
            <a:r>
              <a:rPr lang="en-US" sz="2800"/>
              <a:t>Inside a town or a city</a:t>
            </a:r>
          </a:p>
          <a:p>
            <a:pPr eaLnBrk="1" hangingPunct="1"/>
            <a:r>
              <a:rPr lang="en-US" sz="2800"/>
              <a:t>Example: the part of the telephone company network that can provide a high-speed DSL to the customer</a:t>
            </a:r>
          </a:p>
        </p:txBody>
      </p:sp>
    </p:spTree>
    <p:extLst>
      <p:ext uri="{BB962C8B-B14F-4D97-AF65-F5344CB8AC3E}">
        <p14:creationId xmlns:p14="http://schemas.microsoft.com/office/powerpoint/2010/main" val="36077621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en-US"/>
              <a:t>Interconnection of Networks: Internetworks</a:t>
            </a:r>
            <a:endParaRPr lang="en-US" sz="3400"/>
          </a:p>
        </p:txBody>
      </p:sp>
      <p:sp>
        <p:nvSpPr>
          <p:cNvPr id="62467" name="Rectangle 3"/>
          <p:cNvSpPr>
            <a:spLocks noGrp="1" noChangeArrowheads="1"/>
          </p:cNvSpPr>
          <p:nvPr>
            <p:ph type="body" idx="1"/>
          </p:nvPr>
        </p:nvSpPr>
        <p:spPr/>
        <p:txBody>
          <a:bodyPr/>
          <a:lstStyle/>
          <a:p>
            <a:pPr eaLnBrk="1" hangingPunct="1"/>
            <a:r>
              <a:rPr lang="en-US" sz="2800"/>
              <a:t>Two or more networks connected together</a:t>
            </a:r>
          </a:p>
        </p:txBody>
      </p:sp>
      <p:pic>
        <p:nvPicPr>
          <p:cNvPr id="624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8350" y="2178050"/>
            <a:ext cx="497840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51662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defRPr/>
            </a:pPr>
            <a:r>
              <a:rPr lang="en-US"/>
              <a:t>The Internet</a:t>
            </a:r>
          </a:p>
        </p:txBody>
      </p:sp>
      <p:sp>
        <p:nvSpPr>
          <p:cNvPr id="63491" name="Rectangle 3"/>
          <p:cNvSpPr>
            <a:spLocks noGrp="1" noChangeArrowheads="1"/>
          </p:cNvSpPr>
          <p:nvPr>
            <p:ph type="body" idx="1"/>
          </p:nvPr>
        </p:nvSpPr>
        <p:spPr/>
        <p:txBody>
          <a:bodyPr/>
          <a:lstStyle/>
          <a:p>
            <a:pPr eaLnBrk="1" hangingPunct="1"/>
            <a:r>
              <a:rPr lang="en-US" sz="2400">
                <a:solidFill>
                  <a:schemeClr val="hlink"/>
                </a:solidFill>
              </a:rPr>
              <a:t>Internet</a:t>
            </a:r>
            <a:r>
              <a:rPr lang="en-US" sz="2400"/>
              <a:t> has revolutionized many aspects of our daily lives. </a:t>
            </a:r>
          </a:p>
          <a:p>
            <a:pPr eaLnBrk="1" hangingPunct="1"/>
            <a:r>
              <a:rPr lang="en-US" sz="2400"/>
              <a:t>It has affected the way we do business as well as the way we spend our leisure time.</a:t>
            </a:r>
          </a:p>
          <a:p>
            <a:pPr eaLnBrk="1" hangingPunct="1"/>
            <a:r>
              <a:rPr lang="en-US" sz="2400"/>
              <a:t>Internet is a communication system that has brought a wealth of information to our fingertips and organized it for our use</a:t>
            </a:r>
          </a:p>
          <a:p>
            <a:pPr eaLnBrk="1" hangingPunct="1"/>
            <a:r>
              <a:rPr lang="en-US" sz="2400"/>
              <a:t>An </a:t>
            </a:r>
            <a:r>
              <a:rPr lang="en-US" sz="2400">
                <a:solidFill>
                  <a:srgbClr val="CC0000"/>
                </a:solidFill>
              </a:rPr>
              <a:t>internet</a:t>
            </a:r>
            <a:r>
              <a:rPr lang="en-US" sz="2400"/>
              <a:t> is 2 or more networks that can communicate with each other</a:t>
            </a:r>
          </a:p>
          <a:p>
            <a:pPr eaLnBrk="1" hangingPunct="1"/>
            <a:r>
              <a:rPr lang="en-US" sz="2400"/>
              <a:t>The </a:t>
            </a:r>
            <a:r>
              <a:rPr lang="en-US" sz="2400">
                <a:solidFill>
                  <a:srgbClr val="CC0000"/>
                </a:solidFill>
              </a:rPr>
              <a:t>Internet</a:t>
            </a:r>
            <a:r>
              <a:rPr lang="en-US" sz="2400"/>
              <a:t> is a collaboration of more than hundreds of thousands of interconnected networks</a:t>
            </a:r>
          </a:p>
        </p:txBody>
      </p:sp>
      <p:pic>
        <p:nvPicPr>
          <p:cNvPr id="63492" name="Picture 4" descr="W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850" y="5608638"/>
            <a:ext cx="12112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3458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defRPr/>
            </a:pPr>
            <a:r>
              <a:rPr lang="en-US"/>
              <a:t>The Internet</a:t>
            </a:r>
          </a:p>
        </p:txBody>
      </p:sp>
      <p:sp>
        <p:nvSpPr>
          <p:cNvPr id="64515" name="Rectangle 3"/>
          <p:cNvSpPr>
            <a:spLocks noGrp="1" noChangeArrowheads="1"/>
          </p:cNvSpPr>
          <p:nvPr>
            <p:ph type="body" idx="1"/>
          </p:nvPr>
        </p:nvSpPr>
        <p:spPr/>
        <p:txBody>
          <a:bodyPr/>
          <a:lstStyle/>
          <a:p>
            <a:pPr eaLnBrk="1" hangingPunct="1">
              <a:lnSpc>
                <a:spcPct val="80000"/>
              </a:lnSpc>
            </a:pPr>
            <a:r>
              <a:rPr lang="en-GB" sz="1600"/>
              <a:t>An internet (small i) is two or more networks</a:t>
            </a:r>
          </a:p>
          <a:p>
            <a:pPr eaLnBrk="1" hangingPunct="1">
              <a:lnSpc>
                <a:spcPct val="80000"/>
              </a:lnSpc>
            </a:pPr>
            <a:r>
              <a:rPr lang="en-GB" sz="1600"/>
              <a:t>Notable internet is called the Internet (hundreds of thousands interconnected networks)</a:t>
            </a:r>
            <a:r>
              <a:rPr lang="en-GB" sz="1800"/>
              <a:t> </a:t>
            </a:r>
          </a:p>
          <a:p>
            <a:pPr lvl="1" eaLnBrk="1" hangingPunct="1">
              <a:lnSpc>
                <a:spcPct val="80000"/>
              </a:lnSpc>
            </a:pPr>
            <a:r>
              <a:rPr lang="en-GB" sz="1600"/>
              <a:t> </a:t>
            </a:r>
            <a:r>
              <a:rPr lang="en-GB" sz="1400"/>
              <a:t>Private individuals + government agencies + school + research facilities + </a:t>
            </a:r>
          </a:p>
          <a:p>
            <a:pPr lvl="1" eaLnBrk="1" hangingPunct="1">
              <a:lnSpc>
                <a:spcPct val="80000"/>
              </a:lnSpc>
              <a:buFont typeface="Wingdings" pitchFamily="2" charset="2"/>
              <a:buNone/>
            </a:pPr>
            <a:r>
              <a:rPr lang="en-GB" sz="1400"/>
              <a:t>      Corporations + libraries  in more than 100 countries</a:t>
            </a:r>
            <a:r>
              <a:rPr lang="en-GB" sz="1600"/>
              <a:t> </a:t>
            </a:r>
          </a:p>
          <a:p>
            <a:pPr eaLnBrk="1" hangingPunct="1">
              <a:lnSpc>
                <a:spcPct val="80000"/>
              </a:lnSpc>
            </a:pPr>
            <a:r>
              <a:rPr lang="en-GB" sz="1600"/>
              <a:t>This communication system came in 1969</a:t>
            </a:r>
          </a:p>
          <a:p>
            <a:pPr eaLnBrk="1" hangingPunct="1">
              <a:lnSpc>
                <a:spcPct val="80000"/>
              </a:lnSpc>
            </a:pPr>
            <a:r>
              <a:rPr lang="en-GB" sz="1600"/>
              <a:t>Mid-1960 (ARPA) Advanced Research Projects Agency in (DOD) was interested to connect mainframes in research organizations</a:t>
            </a:r>
          </a:p>
          <a:p>
            <a:pPr eaLnBrk="1" hangingPunct="1">
              <a:lnSpc>
                <a:spcPct val="80000"/>
              </a:lnSpc>
            </a:pPr>
            <a:r>
              <a:rPr lang="en-GB" sz="1600"/>
              <a:t>1967, ARPA presented its ideas for ARPANET </a:t>
            </a:r>
          </a:p>
          <a:p>
            <a:pPr lvl="1" eaLnBrk="1" hangingPunct="1">
              <a:lnSpc>
                <a:spcPct val="80000"/>
              </a:lnSpc>
            </a:pPr>
            <a:r>
              <a:rPr lang="en-GB" sz="1400"/>
              <a:t>Host computer connecting  to (IMP) interface message processor.</a:t>
            </a:r>
          </a:p>
          <a:p>
            <a:pPr lvl="1" eaLnBrk="1" hangingPunct="1">
              <a:lnSpc>
                <a:spcPct val="80000"/>
              </a:lnSpc>
            </a:pPr>
            <a:r>
              <a:rPr lang="en-GB" sz="1400"/>
              <a:t>Each IMP communicate with other IMP</a:t>
            </a:r>
          </a:p>
          <a:p>
            <a:pPr eaLnBrk="1" hangingPunct="1">
              <a:lnSpc>
                <a:spcPct val="80000"/>
              </a:lnSpc>
            </a:pPr>
            <a:r>
              <a:rPr lang="en-GB" sz="1600"/>
              <a:t>1969, four nodes (universities) connected via IMPs to form a network</a:t>
            </a:r>
          </a:p>
          <a:p>
            <a:pPr lvl="1" eaLnBrk="1" hangingPunct="1">
              <a:lnSpc>
                <a:spcPct val="80000"/>
              </a:lnSpc>
            </a:pPr>
            <a:r>
              <a:rPr lang="en-GB" sz="1600"/>
              <a:t> Software (NCP) Network Control Protocol provided communication between the hosts.</a:t>
            </a:r>
          </a:p>
          <a:p>
            <a:pPr eaLnBrk="1" hangingPunct="1">
              <a:lnSpc>
                <a:spcPct val="80000"/>
              </a:lnSpc>
            </a:pPr>
            <a:r>
              <a:rPr lang="en-GB" sz="1600"/>
              <a:t>1972,  Vint Cerf and Bob Kahn invented (TCP) Transmission Control Protocol</a:t>
            </a:r>
          </a:p>
          <a:p>
            <a:pPr eaLnBrk="1" hangingPunct="1">
              <a:lnSpc>
                <a:spcPct val="80000"/>
              </a:lnSpc>
            </a:pPr>
            <a:r>
              <a:rPr lang="en-GB" sz="1600"/>
              <a:t>Later</a:t>
            </a:r>
            <a:r>
              <a:rPr lang="en-GB" sz="1800"/>
              <a:t> </a:t>
            </a:r>
            <a:r>
              <a:rPr lang="en-GB" sz="1600"/>
              <a:t>TCP was split to (TCP) Transmission Control Protocol and (IP) Internetworking Protocol</a:t>
            </a:r>
            <a:endParaRPr lang="en-US" sz="1600"/>
          </a:p>
        </p:txBody>
      </p:sp>
    </p:spTree>
    <p:extLst>
      <p:ext uri="{BB962C8B-B14F-4D97-AF65-F5344CB8AC3E}">
        <p14:creationId xmlns:p14="http://schemas.microsoft.com/office/powerpoint/2010/main" val="33013022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defRPr/>
            </a:pPr>
            <a:r>
              <a:rPr lang="en-US"/>
              <a:t>The Internet</a:t>
            </a:r>
          </a:p>
        </p:txBody>
      </p:sp>
      <p:sp>
        <p:nvSpPr>
          <p:cNvPr id="221187" name="Rectangle 3"/>
          <p:cNvSpPr>
            <a:spLocks noGrp="1" noChangeArrowheads="1"/>
          </p:cNvSpPr>
          <p:nvPr>
            <p:ph type="body" idx="1"/>
          </p:nvPr>
        </p:nvSpPr>
        <p:spPr/>
        <p:txBody>
          <a:bodyPr/>
          <a:lstStyle/>
          <a:p>
            <a:pPr eaLnBrk="1" hangingPunct="1">
              <a:lnSpc>
                <a:spcPct val="90000"/>
              </a:lnSpc>
            </a:pPr>
            <a:r>
              <a:rPr lang="en-GB" sz="3600"/>
              <a:t>Internet Today</a:t>
            </a:r>
          </a:p>
          <a:p>
            <a:pPr lvl="1" eaLnBrk="1" hangingPunct="1">
              <a:lnSpc>
                <a:spcPct val="90000"/>
              </a:lnSpc>
            </a:pPr>
            <a:r>
              <a:rPr lang="en-GB"/>
              <a:t>Made of many LANs and WANs</a:t>
            </a:r>
          </a:p>
          <a:p>
            <a:pPr lvl="1" eaLnBrk="1" hangingPunct="1">
              <a:lnSpc>
                <a:spcPct val="90000"/>
              </a:lnSpc>
            </a:pPr>
            <a:r>
              <a:rPr lang="en-GB"/>
              <a:t>Every day new networks area added and removed</a:t>
            </a:r>
          </a:p>
          <a:p>
            <a:pPr lvl="1" eaLnBrk="1" hangingPunct="1">
              <a:lnSpc>
                <a:spcPct val="90000"/>
              </a:lnSpc>
            </a:pPr>
            <a:r>
              <a:rPr lang="en-GB"/>
              <a:t>Internet services Providers (ISPs) offer services to the end users</a:t>
            </a:r>
          </a:p>
          <a:p>
            <a:pPr lvl="2" eaLnBrk="1" hangingPunct="1">
              <a:lnSpc>
                <a:spcPct val="90000"/>
              </a:lnSpc>
            </a:pPr>
            <a:r>
              <a:rPr lang="en-GB" sz="2500"/>
              <a:t>International service providers</a:t>
            </a:r>
          </a:p>
          <a:p>
            <a:pPr lvl="2" eaLnBrk="1" hangingPunct="1">
              <a:lnSpc>
                <a:spcPct val="90000"/>
              </a:lnSpc>
            </a:pPr>
            <a:r>
              <a:rPr lang="en-GB" sz="2500"/>
              <a:t>National service providers</a:t>
            </a:r>
          </a:p>
          <a:p>
            <a:pPr lvl="2" eaLnBrk="1" hangingPunct="1">
              <a:lnSpc>
                <a:spcPct val="90000"/>
              </a:lnSpc>
            </a:pPr>
            <a:r>
              <a:rPr lang="en-GB" sz="2500"/>
              <a:t>Regional service providers</a:t>
            </a:r>
          </a:p>
          <a:p>
            <a:pPr lvl="2" eaLnBrk="1" hangingPunct="1">
              <a:lnSpc>
                <a:spcPct val="90000"/>
              </a:lnSpc>
            </a:pPr>
            <a:r>
              <a:rPr lang="en-GB" sz="2500"/>
              <a:t>Local service providers</a:t>
            </a:r>
          </a:p>
        </p:txBody>
      </p:sp>
      <p:sp>
        <p:nvSpPr>
          <p:cNvPr id="221188" name="AutoShape 4"/>
          <p:cNvSpPr>
            <a:spLocks noChangeArrowheads="1"/>
          </p:cNvSpPr>
          <p:nvPr/>
        </p:nvSpPr>
        <p:spPr bwMode="auto">
          <a:xfrm>
            <a:off x="6877050" y="4395788"/>
            <a:ext cx="477838" cy="1704975"/>
          </a:xfrm>
          <a:prstGeom prst="downArrow">
            <a:avLst>
              <a:gd name="adj1" fmla="val 50000"/>
              <a:gd name="adj2" fmla="val 89203"/>
            </a:avLst>
          </a:prstGeom>
          <a:gradFill rotWithShape="1">
            <a:gsLst>
              <a:gs pos="0">
                <a:srgbClr val="FF0000"/>
              </a:gs>
              <a:gs pos="100000">
                <a:schemeClr val="bg1"/>
              </a:gs>
            </a:gsLst>
            <a:lin ang="5400000" scaled="1"/>
          </a:gradFill>
          <a:ln w="9525">
            <a:solidFill>
              <a:schemeClr val="tx1"/>
            </a:solidFill>
            <a:miter lim="800000"/>
            <a:headEnd/>
            <a:tailEnd/>
          </a:ln>
        </p:spPr>
        <p:txBody>
          <a:bodyPr wrap="none" lIns="92075" tIns="46038" rIns="92075" bIns="46038" anchor="ctr"/>
          <a:lstStyle/>
          <a:p>
            <a:endParaRPr lang="ar-SA"/>
          </a:p>
        </p:txBody>
      </p:sp>
      <p:sp>
        <p:nvSpPr>
          <p:cNvPr id="221189" name="Text Box 5"/>
          <p:cNvSpPr txBox="1">
            <a:spLocks noChangeArrowheads="1"/>
          </p:cNvSpPr>
          <p:nvPr/>
        </p:nvSpPr>
        <p:spPr bwMode="auto">
          <a:xfrm>
            <a:off x="7378700" y="4616450"/>
            <a:ext cx="666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b">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algn="r" rtl="1" eaLnBrk="0" fontAlgn="base" hangingPunct="0">
              <a:spcBef>
                <a:spcPct val="0"/>
              </a:spcBef>
              <a:spcAft>
                <a:spcPct val="0"/>
              </a:spcAft>
              <a:defRPr sz="2400">
                <a:solidFill>
                  <a:schemeClr val="tx1"/>
                </a:solidFill>
                <a:latin typeface="Arial" charset="0"/>
                <a:cs typeface="Arial" charset="0"/>
              </a:defRPr>
            </a:lvl6pPr>
            <a:lvl7pPr marL="2971800" indent="-228600" algn="r" rtl="1" eaLnBrk="0" fontAlgn="base" hangingPunct="0">
              <a:spcBef>
                <a:spcPct val="0"/>
              </a:spcBef>
              <a:spcAft>
                <a:spcPct val="0"/>
              </a:spcAft>
              <a:defRPr sz="2400">
                <a:solidFill>
                  <a:schemeClr val="tx1"/>
                </a:solidFill>
                <a:latin typeface="Arial" charset="0"/>
                <a:cs typeface="Arial" charset="0"/>
              </a:defRPr>
            </a:lvl7pPr>
            <a:lvl8pPr marL="3429000" indent="-228600" algn="r" rtl="1" eaLnBrk="0" fontAlgn="base" hangingPunct="0">
              <a:spcBef>
                <a:spcPct val="0"/>
              </a:spcBef>
              <a:spcAft>
                <a:spcPct val="0"/>
              </a:spcAft>
              <a:defRPr sz="2400">
                <a:solidFill>
                  <a:schemeClr val="tx1"/>
                </a:solidFill>
                <a:latin typeface="Arial" charset="0"/>
                <a:cs typeface="Arial" charset="0"/>
              </a:defRPr>
            </a:lvl8pPr>
            <a:lvl9pPr marL="3886200" indent="-228600" algn="r" rtl="1" eaLnBrk="0" fontAlgn="base" hangingPunct="0">
              <a:spcBef>
                <a:spcPct val="0"/>
              </a:spcBef>
              <a:spcAft>
                <a:spcPct val="0"/>
              </a:spcAft>
              <a:defRPr sz="2400">
                <a:solidFill>
                  <a:schemeClr val="tx1"/>
                </a:solidFill>
                <a:latin typeface="Arial" charset="0"/>
                <a:cs typeface="Arial" charset="0"/>
              </a:defRPr>
            </a:lvl9pPr>
          </a:lstStyle>
          <a:p>
            <a:pPr algn="ctr" eaLnBrk="1" hangingPunct="1"/>
            <a:r>
              <a:rPr lang="en-US" sz="1800"/>
              <a:t>Data</a:t>
            </a:r>
          </a:p>
          <a:p>
            <a:pPr algn="ctr" eaLnBrk="1" hangingPunct="1"/>
            <a:r>
              <a:rPr lang="en-US" sz="1800"/>
              <a:t>rate</a:t>
            </a:r>
          </a:p>
        </p:txBody>
      </p:sp>
    </p:spTree>
    <p:extLst>
      <p:ext uri="{BB962C8B-B14F-4D97-AF65-F5344CB8AC3E}">
        <p14:creationId xmlns:p14="http://schemas.microsoft.com/office/powerpoint/2010/main" val="3915489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118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1187">
                                            <p:txEl>
                                              <p:pRg st="3" end="3"/>
                                            </p:txEl>
                                          </p:spTgt>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221187">
                                            <p:txEl>
                                              <p:pRg st="4" end="4"/>
                                            </p:txEl>
                                          </p:spTgt>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nodeType="afterEffect">
                                  <p:stCondLst>
                                    <p:cond delay="0"/>
                                  </p:stCondLst>
                                  <p:childTnLst>
                                    <p:set>
                                      <p:cBhvr>
                                        <p:cTn id="16" dur="1" fill="hold">
                                          <p:stCondLst>
                                            <p:cond delay="0"/>
                                          </p:stCondLst>
                                        </p:cTn>
                                        <p:tgtEl>
                                          <p:spTgt spid="221187">
                                            <p:txEl>
                                              <p:pRg st="5" end="5"/>
                                            </p:txEl>
                                          </p:spTgt>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nodeType="afterEffect">
                                  <p:stCondLst>
                                    <p:cond delay="0"/>
                                  </p:stCondLst>
                                  <p:childTnLst>
                                    <p:set>
                                      <p:cBhvr>
                                        <p:cTn id="19" dur="1" fill="hold">
                                          <p:stCondLst>
                                            <p:cond delay="0"/>
                                          </p:stCondLst>
                                        </p:cTn>
                                        <p:tgtEl>
                                          <p:spTgt spid="221187">
                                            <p:txEl>
                                              <p:pRg st="6" end="6"/>
                                            </p:txEl>
                                          </p:spTgt>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nodeType="afterEffect">
                                  <p:stCondLst>
                                    <p:cond delay="0"/>
                                  </p:stCondLst>
                                  <p:childTnLst>
                                    <p:set>
                                      <p:cBhvr>
                                        <p:cTn id="22" dur="1" fill="hold">
                                          <p:stCondLst>
                                            <p:cond delay="0"/>
                                          </p:stCondLst>
                                        </p:cTn>
                                        <p:tgtEl>
                                          <p:spTgt spid="221187">
                                            <p:txEl>
                                              <p:pRg st="7" end="7"/>
                                            </p:txEl>
                                          </p:spTgt>
                                        </p:tgtEl>
                                        <p:attrNameLst>
                                          <p:attrName>style.visibility</p:attrName>
                                        </p:attrNameLst>
                                      </p:cBhvr>
                                      <p:to>
                                        <p:strVal val="visible"/>
                                      </p:to>
                                    </p:set>
                                  </p:childTnLst>
                                </p:cTn>
                              </p:par>
                            </p:childTnLst>
                          </p:cTn>
                        </p:par>
                        <p:par>
                          <p:cTn id="23" fill="hold" nodeType="afterGroup">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221188"/>
                                        </p:tgtEl>
                                        <p:attrNameLst>
                                          <p:attrName>style.visibility</p:attrName>
                                        </p:attrNameLst>
                                      </p:cBhvr>
                                      <p:to>
                                        <p:strVal val="visible"/>
                                      </p:to>
                                    </p:set>
                                    <p:animEffect transition="in" filter="fade">
                                      <p:cBhvr>
                                        <p:cTn id="26" dur="2000"/>
                                        <p:tgtEl>
                                          <p:spTgt spid="22118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1189"/>
                                        </p:tgtEl>
                                        <p:attrNameLst>
                                          <p:attrName>style.visibility</p:attrName>
                                        </p:attrNameLst>
                                      </p:cBhvr>
                                      <p:to>
                                        <p:strVal val="visible"/>
                                      </p:to>
                                    </p:set>
                                    <p:animEffect transition="in" filter="fade">
                                      <p:cBhvr>
                                        <p:cTn id="29" dur="2000"/>
                                        <p:tgtEl>
                                          <p:spTgt spid="221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nimBg="1"/>
      <p:bldP spid="22118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en-US"/>
              <a:t>The Internet</a:t>
            </a:r>
          </a:p>
        </p:txBody>
      </p:sp>
      <p:pic>
        <p:nvPicPr>
          <p:cNvPr id="66563"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5975" y="1622425"/>
            <a:ext cx="5021263"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 Box 6"/>
          <p:cNvSpPr txBox="1">
            <a:spLocks noChangeArrowheads="1"/>
          </p:cNvSpPr>
          <p:nvPr/>
        </p:nvSpPr>
        <p:spPr bwMode="auto">
          <a:xfrm>
            <a:off x="2271713" y="6251575"/>
            <a:ext cx="4613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algn="r" rtl="1" eaLnBrk="0" fontAlgn="base" hangingPunct="0">
              <a:spcBef>
                <a:spcPct val="0"/>
              </a:spcBef>
              <a:spcAft>
                <a:spcPct val="0"/>
              </a:spcAft>
              <a:defRPr sz="2400">
                <a:solidFill>
                  <a:schemeClr val="tx1"/>
                </a:solidFill>
                <a:latin typeface="Arial" charset="0"/>
                <a:cs typeface="Arial" charset="0"/>
              </a:defRPr>
            </a:lvl6pPr>
            <a:lvl7pPr marL="2971800" indent="-228600" algn="r" rtl="1" eaLnBrk="0" fontAlgn="base" hangingPunct="0">
              <a:spcBef>
                <a:spcPct val="0"/>
              </a:spcBef>
              <a:spcAft>
                <a:spcPct val="0"/>
              </a:spcAft>
              <a:defRPr sz="2400">
                <a:solidFill>
                  <a:schemeClr val="tx1"/>
                </a:solidFill>
                <a:latin typeface="Arial" charset="0"/>
                <a:cs typeface="Arial" charset="0"/>
              </a:defRPr>
            </a:lvl7pPr>
            <a:lvl8pPr marL="3429000" indent="-228600" algn="r" rtl="1" eaLnBrk="0" fontAlgn="base" hangingPunct="0">
              <a:spcBef>
                <a:spcPct val="0"/>
              </a:spcBef>
              <a:spcAft>
                <a:spcPct val="0"/>
              </a:spcAft>
              <a:defRPr sz="2400">
                <a:solidFill>
                  <a:schemeClr val="tx1"/>
                </a:solidFill>
                <a:latin typeface="Arial" charset="0"/>
                <a:cs typeface="Arial" charset="0"/>
              </a:defRPr>
            </a:lvl8pPr>
            <a:lvl9pPr marL="3886200" indent="-228600" algn="r" rtl="1" eaLnBrk="0" fontAlgn="base" hangingPunct="0">
              <a:spcBef>
                <a:spcPct val="0"/>
              </a:spcBef>
              <a:spcAft>
                <a:spcPct val="0"/>
              </a:spcAft>
              <a:defRPr sz="2400">
                <a:solidFill>
                  <a:schemeClr val="tx1"/>
                </a:solidFill>
                <a:latin typeface="Arial" charset="0"/>
                <a:cs typeface="Arial" charset="0"/>
              </a:defRPr>
            </a:lvl9pPr>
          </a:lstStyle>
          <a:p>
            <a:pPr algn="l" rtl="0"/>
            <a:r>
              <a:rPr lang="en-US" sz="2000"/>
              <a:t>Hierarchical organization of the Internet</a:t>
            </a:r>
          </a:p>
        </p:txBody>
      </p:sp>
    </p:spTree>
    <p:extLst>
      <p:ext uri="{BB962C8B-B14F-4D97-AF65-F5344CB8AC3E}">
        <p14:creationId xmlns:p14="http://schemas.microsoft.com/office/powerpoint/2010/main" val="3555576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83</a:t>
            </a:fld>
            <a:endParaRPr lang="en-US" sz="1400" b="1">
              <a:solidFill>
                <a:schemeClr val="bg1"/>
              </a:solidFill>
              <a:effectLst/>
            </a:endParaRPr>
          </a:p>
        </p:txBody>
      </p:sp>
      <p:sp>
        <p:nvSpPr>
          <p:cNvPr id="19458" name="Title 19457"/>
          <p:cNvSpPr>
            <a:spLocks noGrp="1"/>
          </p:cNvSpPr>
          <p:nvPr>
            <p:ph type="title"/>
          </p:nvPr>
        </p:nvSpPr>
        <p:spPr/>
        <p:txBody>
          <a:bodyPr anchor="ctr" anchorCtr="0"/>
          <a:lstStyle/>
          <a:p>
            <a:r>
              <a:t>Common Network Types</a:t>
            </a:r>
          </a:p>
        </p:txBody>
      </p:sp>
      <p:sp>
        <p:nvSpPr>
          <p:cNvPr id="19459" name="Text Placeholder 19458"/>
          <p:cNvSpPr>
            <a:spLocks noGrp="1"/>
          </p:cNvSpPr>
          <p:nvPr>
            <p:ph type="body" idx="1"/>
          </p:nvPr>
        </p:nvSpPr>
        <p:spPr/>
        <p:txBody>
          <a:bodyPr/>
          <a:lstStyle/>
          <a:p>
            <a:r>
              <a:t>Local Area Network (LAN)</a:t>
            </a:r>
          </a:p>
          <a:p>
            <a:pPr lvl="1"/>
            <a:r>
              <a:t>Contains printers, servers and computers</a:t>
            </a:r>
          </a:p>
          <a:p>
            <a:pPr lvl="1"/>
            <a:r>
              <a:t>Systems are close to each other</a:t>
            </a:r>
          </a:p>
          <a:p>
            <a:pPr lvl="1"/>
            <a:r>
              <a:t>Contained in one office or building</a:t>
            </a:r>
          </a:p>
          <a:p>
            <a:pPr lvl="1"/>
            <a:r>
              <a:t>Organizations often have several LANS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84</a:t>
            </a:fld>
            <a:endParaRPr lang="en-US" sz="1400" b="1">
              <a:solidFill>
                <a:schemeClr val="bg1"/>
              </a:solidFill>
              <a:effectLst/>
            </a:endParaRPr>
          </a:p>
        </p:txBody>
      </p:sp>
      <p:sp>
        <p:nvSpPr>
          <p:cNvPr id="21506" name="Title 21505"/>
          <p:cNvSpPr>
            <a:spLocks noGrp="1"/>
          </p:cNvSpPr>
          <p:nvPr>
            <p:ph type="title"/>
          </p:nvPr>
        </p:nvSpPr>
        <p:spPr/>
        <p:txBody>
          <a:bodyPr anchor="ctr" anchorCtr="0"/>
          <a:lstStyle/>
          <a:p>
            <a:r>
              <a:t>Common Network Types</a:t>
            </a:r>
          </a:p>
        </p:txBody>
      </p:sp>
      <p:sp>
        <p:nvSpPr>
          <p:cNvPr id="21507" name="Text Placeholder 21506"/>
          <p:cNvSpPr>
            <a:spLocks noGrp="1"/>
          </p:cNvSpPr>
          <p:nvPr>
            <p:ph type="body" idx="1"/>
          </p:nvPr>
        </p:nvSpPr>
        <p:spPr/>
        <p:txBody>
          <a:bodyPr/>
          <a:lstStyle/>
          <a:p>
            <a:r>
              <a:t>Wide Area Networks (WAN)</a:t>
            </a:r>
          </a:p>
          <a:p>
            <a:pPr lvl="1"/>
            <a:r>
              <a:t>Two or more LANs connected</a:t>
            </a:r>
          </a:p>
          <a:p>
            <a:pPr lvl="1"/>
            <a:r>
              <a:t>Over a large geographic area</a:t>
            </a:r>
          </a:p>
          <a:p>
            <a:pPr lvl="1"/>
            <a:r>
              <a:t>Typically use public or leased lines</a:t>
            </a:r>
          </a:p>
          <a:p>
            <a:pPr lvl="2"/>
            <a:r>
              <a:t>Phone lines</a:t>
            </a:r>
          </a:p>
          <a:p>
            <a:pPr lvl="2"/>
            <a:r>
              <a:t>Satellite</a:t>
            </a:r>
          </a:p>
          <a:p>
            <a:pPr lvl="1"/>
            <a:r>
              <a:t>The Internet is a WAN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85</a:t>
            </a:fld>
            <a:endParaRPr lang="en-US" sz="1400" b="1">
              <a:solidFill>
                <a:schemeClr val="bg1"/>
              </a:solidFill>
              <a:effectLst/>
            </a:endParaRPr>
          </a:p>
        </p:txBody>
      </p:sp>
      <p:sp>
        <p:nvSpPr>
          <p:cNvPr id="22530" name="Title 22529"/>
          <p:cNvSpPr>
            <a:spLocks noGrp="1"/>
          </p:cNvSpPr>
          <p:nvPr>
            <p:ph type="title"/>
          </p:nvPr>
        </p:nvSpPr>
        <p:spPr/>
        <p:txBody>
          <a:bodyPr anchor="ctr" anchorCtr="0"/>
          <a:lstStyle/>
          <a:p>
            <a:r>
              <a:t>Hybrid Network Types</a:t>
            </a:r>
          </a:p>
        </p:txBody>
      </p:sp>
      <p:sp>
        <p:nvSpPr>
          <p:cNvPr id="22531" name="Text Placeholder 22530"/>
          <p:cNvSpPr>
            <a:spLocks noGrp="1"/>
          </p:cNvSpPr>
          <p:nvPr>
            <p:ph type="body" idx="1"/>
          </p:nvPr>
        </p:nvSpPr>
        <p:spPr/>
        <p:txBody>
          <a:bodyPr/>
          <a:lstStyle/>
          <a:p>
            <a:r>
              <a:t>Campus Area Networks (CAN)</a:t>
            </a:r>
          </a:p>
          <a:p>
            <a:pPr lvl="1"/>
            <a:r>
              <a:t>A LAN in one large geographic area</a:t>
            </a:r>
          </a:p>
          <a:p>
            <a:pPr lvl="1"/>
            <a:r>
              <a:t>Resources related to the same organization</a:t>
            </a:r>
          </a:p>
          <a:p>
            <a:pPr lvl="1"/>
            <a:r>
              <a:t>Each department shares the LAN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86</a:t>
            </a:fld>
            <a:endParaRPr lang="en-US" sz="1400" b="1">
              <a:solidFill>
                <a:schemeClr val="bg1"/>
              </a:solidFill>
              <a:effectLst/>
            </a:endParaRPr>
          </a:p>
        </p:txBody>
      </p:sp>
      <p:sp>
        <p:nvSpPr>
          <p:cNvPr id="24578" name="Title 24577"/>
          <p:cNvSpPr>
            <a:spLocks noGrp="1"/>
          </p:cNvSpPr>
          <p:nvPr>
            <p:ph type="title"/>
          </p:nvPr>
        </p:nvSpPr>
        <p:spPr/>
        <p:txBody>
          <a:bodyPr anchor="ctr" anchorCtr="0"/>
          <a:lstStyle/>
          <a:p>
            <a:r>
              <a:t>Hybrid Network Types</a:t>
            </a:r>
          </a:p>
        </p:txBody>
      </p:sp>
      <p:sp>
        <p:nvSpPr>
          <p:cNvPr id="24579" name="Text Placeholder 24578"/>
          <p:cNvSpPr>
            <a:spLocks noGrp="1"/>
          </p:cNvSpPr>
          <p:nvPr>
            <p:ph type="body" idx="1"/>
          </p:nvPr>
        </p:nvSpPr>
        <p:spPr/>
        <p:txBody>
          <a:bodyPr/>
          <a:lstStyle/>
          <a:p>
            <a:r>
              <a:t>Metropolitan Area Network (MAN)</a:t>
            </a:r>
          </a:p>
          <a:p>
            <a:pPr lvl="1"/>
            <a:r>
              <a:t>Large network that connects different organizations</a:t>
            </a:r>
          </a:p>
          <a:p>
            <a:pPr lvl="1"/>
            <a:r>
              <a:t>Shares regional resources</a:t>
            </a:r>
          </a:p>
          <a:p>
            <a:pPr lvl="1"/>
            <a:r>
              <a:t>A network provider sells time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87</a:t>
            </a:fld>
            <a:endParaRPr lang="en-US" sz="1400" b="1">
              <a:solidFill>
                <a:schemeClr val="bg1"/>
              </a:solidFill>
              <a:effectLst/>
            </a:endParaRPr>
          </a:p>
        </p:txBody>
      </p:sp>
      <p:sp>
        <p:nvSpPr>
          <p:cNvPr id="25602" name="Title 25601"/>
          <p:cNvSpPr>
            <a:spLocks noGrp="1"/>
          </p:cNvSpPr>
          <p:nvPr>
            <p:ph type="title"/>
          </p:nvPr>
        </p:nvSpPr>
        <p:spPr/>
        <p:txBody>
          <a:bodyPr anchor="ctr" anchorCtr="0"/>
          <a:lstStyle/>
          <a:p>
            <a:r>
              <a:t>Hybrid Network Types</a:t>
            </a:r>
          </a:p>
        </p:txBody>
      </p:sp>
      <p:sp>
        <p:nvSpPr>
          <p:cNvPr id="25603" name="Text Placeholder 25602"/>
          <p:cNvSpPr>
            <a:spLocks noGrp="1"/>
          </p:cNvSpPr>
          <p:nvPr>
            <p:ph type="body" idx="1"/>
          </p:nvPr>
        </p:nvSpPr>
        <p:spPr/>
        <p:txBody>
          <a:bodyPr/>
          <a:lstStyle/>
          <a:p>
            <a:r>
              <a:t>Home Area Network (HAN)</a:t>
            </a:r>
          </a:p>
          <a:p>
            <a:pPr lvl="1"/>
            <a:r>
              <a:t>Small scale network</a:t>
            </a:r>
          </a:p>
          <a:p>
            <a:pPr lvl="1"/>
            <a:r>
              <a:t>Connects computers and entertainment appliances</a:t>
            </a:r>
          </a:p>
          <a:p>
            <a:pPr lvl="1"/>
            <a:r>
              <a:t>Found mainly in the home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88</a:t>
            </a:fld>
            <a:endParaRPr lang="en-US" sz="1400" b="1">
              <a:solidFill>
                <a:schemeClr val="bg1"/>
              </a:solidFill>
              <a:effectLst/>
            </a:endParaRPr>
          </a:p>
        </p:txBody>
      </p:sp>
      <p:sp>
        <p:nvSpPr>
          <p:cNvPr id="27650" name="Title 27649"/>
          <p:cNvSpPr>
            <a:spLocks noGrp="1"/>
          </p:cNvSpPr>
          <p:nvPr>
            <p:ph type="title"/>
          </p:nvPr>
        </p:nvSpPr>
        <p:spPr/>
        <p:txBody>
          <a:bodyPr anchor="ctr" anchorCtr="0"/>
          <a:lstStyle/>
          <a:p>
            <a:r>
              <a:t>Hybrid Network Types</a:t>
            </a:r>
          </a:p>
        </p:txBody>
      </p:sp>
      <p:sp>
        <p:nvSpPr>
          <p:cNvPr id="27651" name="Text Placeholder 27650"/>
          <p:cNvSpPr>
            <a:spLocks noGrp="1"/>
          </p:cNvSpPr>
          <p:nvPr>
            <p:ph type="body" idx="1"/>
          </p:nvPr>
        </p:nvSpPr>
        <p:spPr/>
        <p:txBody>
          <a:bodyPr/>
          <a:lstStyle/>
          <a:p>
            <a:r>
              <a:t>Personal Area Network (PAN)</a:t>
            </a:r>
          </a:p>
          <a:p>
            <a:pPr lvl="1"/>
            <a:r>
              <a:t>Very small scale network</a:t>
            </a:r>
          </a:p>
          <a:p>
            <a:pPr lvl="1"/>
            <a:r>
              <a:t>Range is less than 2 meters</a:t>
            </a:r>
          </a:p>
          <a:p>
            <a:pPr lvl="1"/>
            <a:r>
              <a:t>Cell phones, PDAs, MP3 players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89</a:t>
            </a:fld>
            <a:endParaRPr lang="en-US" sz="1400" b="1">
              <a:solidFill>
                <a:schemeClr val="bg1"/>
              </a:solidFill>
              <a:effectLst/>
            </a:endParaRPr>
          </a:p>
        </p:txBody>
      </p:sp>
      <p:sp>
        <p:nvSpPr>
          <p:cNvPr id="30722" name="Title 30721"/>
          <p:cNvSpPr>
            <a:spLocks noGrp="1"/>
          </p:cNvSpPr>
          <p:nvPr>
            <p:ph type="title"/>
          </p:nvPr>
        </p:nvSpPr>
        <p:spPr/>
        <p:txBody>
          <a:bodyPr anchor="ctr" anchorCtr="0"/>
          <a:lstStyle/>
          <a:p>
            <a:r>
              <a:t>How Networks Are Structured</a:t>
            </a:r>
          </a:p>
        </p:txBody>
      </p:sp>
      <p:sp>
        <p:nvSpPr>
          <p:cNvPr id="30723" name="Text Placeholder 30722"/>
          <p:cNvSpPr>
            <a:spLocks noGrp="1"/>
          </p:cNvSpPr>
          <p:nvPr>
            <p:ph type="body" idx="1"/>
          </p:nvPr>
        </p:nvSpPr>
        <p:spPr/>
        <p:txBody>
          <a:bodyPr/>
          <a:lstStyle/>
          <a:p>
            <a:r>
              <a:t>Server based network</a:t>
            </a:r>
          </a:p>
          <a:p>
            <a:pPr lvl="1"/>
            <a:r>
              <a:t>Node is any network device</a:t>
            </a:r>
          </a:p>
          <a:p>
            <a:pPr lvl="1"/>
            <a:r>
              <a:t>Servers control what the node accesses</a:t>
            </a:r>
          </a:p>
          <a:p>
            <a:pPr lvl="1"/>
            <a:r>
              <a:t>Users gain access by logging in</a:t>
            </a:r>
          </a:p>
          <a:p>
            <a:pPr lvl="1"/>
            <a:r>
              <a:t>Server is the most important computer</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90</a:t>
            </a:fld>
            <a:endParaRPr lang="en-US" sz="1400" b="1">
              <a:solidFill>
                <a:schemeClr val="bg1"/>
              </a:solidFill>
              <a:effectLst/>
            </a:endParaRPr>
          </a:p>
        </p:txBody>
      </p:sp>
      <p:sp>
        <p:nvSpPr>
          <p:cNvPr id="32770" name="Title 32769"/>
          <p:cNvSpPr>
            <a:spLocks noGrp="1"/>
          </p:cNvSpPr>
          <p:nvPr>
            <p:ph type="title"/>
          </p:nvPr>
        </p:nvSpPr>
        <p:spPr/>
        <p:txBody>
          <a:bodyPr anchor="ctr" anchorCtr="0"/>
          <a:lstStyle/>
          <a:p>
            <a:r>
              <a:t>How Networks Are Structured</a:t>
            </a:r>
          </a:p>
        </p:txBody>
      </p:sp>
      <p:sp>
        <p:nvSpPr>
          <p:cNvPr id="32771" name="Text Placeholder 32770"/>
          <p:cNvSpPr>
            <a:spLocks noGrp="1"/>
          </p:cNvSpPr>
          <p:nvPr>
            <p:ph type="body" idx="1"/>
          </p:nvPr>
        </p:nvSpPr>
        <p:spPr/>
        <p:txBody>
          <a:bodyPr/>
          <a:lstStyle/>
          <a:p>
            <a:r>
              <a:t>Client/Server network</a:t>
            </a:r>
          </a:p>
          <a:p>
            <a:pPr lvl="1"/>
            <a:r>
              <a:t>Nodes and servers share data roles</a:t>
            </a:r>
          </a:p>
          <a:p>
            <a:pPr lvl="1"/>
            <a:r>
              <a:t>Nodes are called clients</a:t>
            </a:r>
          </a:p>
          <a:p>
            <a:pPr lvl="1"/>
            <a:r>
              <a:t>Servers are used to control access</a:t>
            </a:r>
          </a:p>
          <a:p>
            <a:pPr lvl="1"/>
            <a:r>
              <a:t>Database software</a:t>
            </a:r>
          </a:p>
          <a:p>
            <a:pPr lvl="2"/>
            <a:r>
              <a:t>Access to data controlled by server</a:t>
            </a:r>
          </a:p>
          <a:p>
            <a:pPr lvl="1"/>
            <a:r>
              <a:t>Server is the most important computer</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91</a:t>
            </a:fld>
            <a:endParaRPr lang="en-US" sz="1400" b="1">
              <a:solidFill>
                <a:schemeClr val="bg1"/>
              </a:solidFill>
              <a:effectLst/>
            </a:endParaRPr>
          </a:p>
        </p:txBody>
      </p:sp>
      <p:sp>
        <p:nvSpPr>
          <p:cNvPr id="33794" name="Title 33793"/>
          <p:cNvSpPr>
            <a:spLocks noGrp="1"/>
          </p:cNvSpPr>
          <p:nvPr>
            <p:ph type="title"/>
          </p:nvPr>
        </p:nvSpPr>
        <p:spPr/>
        <p:txBody>
          <a:bodyPr anchor="ctr" anchorCtr="0"/>
          <a:lstStyle/>
          <a:p>
            <a:r>
              <a:t>How Networks Are Structured</a:t>
            </a:r>
          </a:p>
        </p:txBody>
      </p:sp>
      <p:sp>
        <p:nvSpPr>
          <p:cNvPr id="33795" name="Text Placeholder 33794"/>
          <p:cNvSpPr>
            <a:spLocks noGrp="1"/>
          </p:cNvSpPr>
          <p:nvPr>
            <p:ph type="body" idx="1"/>
          </p:nvPr>
        </p:nvSpPr>
        <p:spPr/>
        <p:txBody>
          <a:bodyPr/>
          <a:lstStyle/>
          <a:p>
            <a:r>
              <a:t>Peer to peer networks (P2PN)</a:t>
            </a:r>
          </a:p>
          <a:p>
            <a:pPr lvl="1"/>
            <a:r>
              <a:t>All nodes are equal</a:t>
            </a:r>
          </a:p>
          <a:p>
            <a:pPr lvl="1"/>
            <a:r>
              <a:t>Nodes access resources on other nodes</a:t>
            </a:r>
          </a:p>
          <a:p>
            <a:pPr lvl="1"/>
            <a:r>
              <a:t>Each node controls its own resources</a:t>
            </a:r>
          </a:p>
          <a:p>
            <a:pPr lvl="1"/>
            <a:r>
              <a:t>Most modern OS allow P2PN</a:t>
            </a:r>
          </a:p>
          <a:p>
            <a:pPr lvl="1"/>
            <a:r>
              <a:t>Distributing computing is a form</a:t>
            </a:r>
          </a:p>
          <a:p>
            <a:pPr lvl="1"/>
            <a:r>
              <a:t>Kazaa</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eaLnBrk="1" hangingPunct="1">
              <a:defRPr/>
            </a:pPr>
            <a:r>
              <a:rPr lang="en-US"/>
              <a:t>Physical Topology</a:t>
            </a:r>
          </a:p>
        </p:txBody>
      </p:sp>
      <p:pic>
        <p:nvPicPr>
          <p:cNvPr id="3891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375" y="1565275"/>
            <a:ext cx="4573588"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11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en-US"/>
              <a:t>Physical Topology</a:t>
            </a:r>
          </a:p>
        </p:txBody>
      </p:sp>
      <p:sp>
        <p:nvSpPr>
          <p:cNvPr id="39939" name="Rectangle 4"/>
          <p:cNvSpPr>
            <a:spLocks noGrp="1" noChangeArrowheads="1"/>
          </p:cNvSpPr>
          <p:nvPr>
            <p:ph type="body" idx="1"/>
          </p:nvPr>
        </p:nvSpPr>
        <p:spPr/>
        <p:txBody>
          <a:bodyPr/>
          <a:lstStyle/>
          <a:p>
            <a:pPr eaLnBrk="1" hangingPunct="1"/>
            <a:r>
              <a:rPr lang="en-US"/>
              <a:t>Mesh</a:t>
            </a:r>
          </a:p>
          <a:p>
            <a:pPr lvl="1" eaLnBrk="1" hangingPunct="1"/>
            <a:r>
              <a:rPr lang="en-GB"/>
              <a:t>Every link is dedicated  point-to-point link</a:t>
            </a:r>
          </a:p>
          <a:p>
            <a:pPr lvl="1" eaLnBrk="1" hangingPunct="1"/>
            <a:r>
              <a:rPr lang="en-GB"/>
              <a:t>The term dedicated means that the link carries traffic only between the two devices it connects</a:t>
            </a:r>
          </a:p>
          <a:p>
            <a:pPr lvl="1" eaLnBrk="1" hangingPunct="1"/>
            <a:endParaRPr lang="en-GB"/>
          </a:p>
          <a:p>
            <a:pPr lvl="1" eaLnBrk="1" hangingPunct="1"/>
            <a:endParaRPr lang="en-US"/>
          </a:p>
        </p:txBody>
      </p:sp>
      <p:pic>
        <p:nvPicPr>
          <p:cNvPr id="39940"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4075" y="3959225"/>
            <a:ext cx="298767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27571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en-US"/>
              <a:t>Physical Topology</a:t>
            </a:r>
          </a:p>
        </p:txBody>
      </p:sp>
      <p:sp>
        <p:nvSpPr>
          <p:cNvPr id="188419" name="Rectangle 3"/>
          <p:cNvSpPr>
            <a:spLocks noGrp="1" noChangeArrowheads="1"/>
          </p:cNvSpPr>
          <p:nvPr>
            <p:ph type="body" idx="1"/>
          </p:nvPr>
        </p:nvSpPr>
        <p:spPr/>
        <p:txBody>
          <a:bodyPr/>
          <a:lstStyle/>
          <a:p>
            <a:pPr eaLnBrk="1" hangingPunct="1">
              <a:defRPr/>
            </a:pPr>
            <a:r>
              <a:rPr lang="en-US"/>
              <a:t>Mesh</a:t>
            </a:r>
            <a:endParaRPr lang="en-GB"/>
          </a:p>
          <a:p>
            <a:pPr lvl="1" eaLnBrk="1" hangingPunct="1">
              <a:defRPr/>
            </a:pPr>
            <a:r>
              <a:rPr lang="en-GB"/>
              <a:t>To link</a:t>
            </a:r>
            <a:r>
              <a:rPr lang="en-GB">
                <a:solidFill>
                  <a:schemeClr val="tx2"/>
                </a:solidFill>
              </a:rPr>
              <a:t> </a:t>
            </a:r>
            <a:r>
              <a:rPr lang="en-GB" b="1" i="1">
                <a:solidFill>
                  <a:srgbClr val="3333FF"/>
                </a:solidFill>
                <a:effectLst>
                  <a:outerShdw blurRad="38100" dist="38100" dir="2700000" algn="tl">
                    <a:srgbClr val="C0C0C0"/>
                  </a:outerShdw>
                </a:effectLst>
              </a:rPr>
              <a:t>n</a:t>
            </a:r>
            <a:r>
              <a:rPr lang="en-GB"/>
              <a:t> devices</a:t>
            </a:r>
            <a:r>
              <a:rPr lang="en-GB">
                <a:solidFill>
                  <a:schemeClr val="tx2"/>
                </a:solidFill>
              </a:rPr>
              <a:t> </a:t>
            </a:r>
            <a:r>
              <a:rPr lang="en-GB"/>
              <a:t>fully connected mesh has:</a:t>
            </a:r>
            <a:br>
              <a:rPr lang="en-GB"/>
            </a:br>
            <a:r>
              <a:rPr lang="en-GB"/>
              <a:t>	    </a:t>
            </a:r>
            <a:r>
              <a:rPr lang="en-GB" b="1" i="1">
                <a:solidFill>
                  <a:srgbClr val="3333FF"/>
                </a:solidFill>
                <a:effectLst>
                  <a:outerShdw blurRad="38100" dist="38100" dir="2700000" algn="tl">
                    <a:srgbClr val="C0C0C0"/>
                  </a:outerShdw>
                </a:effectLst>
              </a:rPr>
              <a:t>n ( n - 1) / 2</a:t>
            </a:r>
            <a:r>
              <a:rPr lang="en-GB"/>
              <a:t> physical channels (Full-Duplex)</a:t>
            </a:r>
          </a:p>
          <a:p>
            <a:pPr lvl="1" eaLnBrk="1" hangingPunct="1">
              <a:defRPr/>
            </a:pPr>
            <a:endParaRPr lang="en-GB"/>
          </a:p>
          <a:p>
            <a:pPr lvl="1" eaLnBrk="1" hangingPunct="1">
              <a:defRPr/>
            </a:pPr>
            <a:r>
              <a:rPr lang="en-GB"/>
              <a:t>Every Device on the network must have</a:t>
            </a:r>
            <a:br>
              <a:rPr lang="en-GB"/>
            </a:br>
            <a:r>
              <a:rPr lang="en-GB"/>
              <a:t>		 </a:t>
            </a:r>
            <a:r>
              <a:rPr lang="en-GB" b="1" i="1">
                <a:solidFill>
                  <a:srgbClr val="3333FF"/>
                </a:solidFill>
                <a:effectLst>
                  <a:outerShdw blurRad="38100" dist="38100" dir="2700000" algn="tl">
                    <a:srgbClr val="C0C0C0"/>
                  </a:outerShdw>
                </a:effectLst>
              </a:rPr>
              <a:t>n - 1</a:t>
            </a:r>
            <a:r>
              <a:rPr lang="en-GB"/>
              <a:t> ports</a:t>
            </a:r>
          </a:p>
          <a:p>
            <a:pPr lvl="1" eaLnBrk="1" hangingPunct="1">
              <a:defRPr/>
            </a:pPr>
            <a:endParaRPr lang="en-US"/>
          </a:p>
        </p:txBody>
      </p:sp>
      <p:pic>
        <p:nvPicPr>
          <p:cNvPr id="40964" name="Picture 6" descr="mesh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86400" y="3997325"/>
            <a:ext cx="2819400"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05855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defRPr/>
            </a:pPr>
            <a:r>
              <a:rPr lang="en-US"/>
              <a:t>Physical Topology</a:t>
            </a:r>
          </a:p>
        </p:txBody>
      </p:sp>
      <p:sp>
        <p:nvSpPr>
          <p:cNvPr id="41987" name="Rectangle 3"/>
          <p:cNvSpPr>
            <a:spLocks noGrp="1" noChangeArrowheads="1"/>
          </p:cNvSpPr>
          <p:nvPr>
            <p:ph type="body" idx="1"/>
          </p:nvPr>
        </p:nvSpPr>
        <p:spPr/>
        <p:txBody>
          <a:bodyPr/>
          <a:lstStyle/>
          <a:p>
            <a:pPr eaLnBrk="1" hangingPunct="1"/>
            <a:r>
              <a:rPr lang="en-US"/>
              <a:t>Mesh</a:t>
            </a:r>
          </a:p>
          <a:p>
            <a:pPr lvl="1" eaLnBrk="1" hangingPunct="1"/>
            <a:r>
              <a:rPr lang="en-US"/>
              <a:t>Example:</a:t>
            </a:r>
            <a:endParaRPr lang="en-GB"/>
          </a:p>
          <a:p>
            <a:pPr lvl="1" eaLnBrk="1" hangingPunct="1">
              <a:buFont typeface="Wingdings" pitchFamily="2" charset="2"/>
              <a:buNone/>
            </a:pPr>
            <a:r>
              <a:rPr lang="en-US" b="1">
                <a:solidFill>
                  <a:srgbClr val="CC0000"/>
                </a:solidFill>
              </a:rPr>
              <a:t>		8</a:t>
            </a:r>
            <a:r>
              <a:rPr lang="en-US"/>
              <a:t> devices in mesh has links: n(n-1) / 2</a:t>
            </a:r>
          </a:p>
          <a:p>
            <a:pPr lvl="1" eaLnBrk="1" hangingPunct="1">
              <a:buFont typeface="Wingdings" pitchFamily="2" charset="2"/>
              <a:buNone/>
            </a:pPr>
            <a:endParaRPr lang="en-US"/>
          </a:p>
          <a:p>
            <a:pPr lvl="1" eaLnBrk="1" hangingPunct="1">
              <a:buFont typeface="Wingdings" pitchFamily="2" charset="2"/>
              <a:buNone/>
            </a:pPr>
            <a:r>
              <a:rPr lang="en-US"/>
              <a:t>		number of links = 8 (8-1)/2 = </a:t>
            </a:r>
            <a:r>
              <a:rPr lang="en-US" b="1">
                <a:solidFill>
                  <a:srgbClr val="CC0000"/>
                </a:solidFill>
              </a:rPr>
              <a:t>28</a:t>
            </a:r>
          </a:p>
          <a:p>
            <a:pPr lvl="1" eaLnBrk="1" hangingPunct="1">
              <a:buFont typeface="Wingdings" pitchFamily="2" charset="2"/>
              <a:buNone/>
            </a:pPr>
            <a:endParaRPr lang="en-US">
              <a:solidFill>
                <a:srgbClr val="CC0000"/>
              </a:solidFill>
            </a:endParaRPr>
          </a:p>
          <a:p>
            <a:pPr lvl="1" eaLnBrk="1" hangingPunct="1">
              <a:buFont typeface="Wingdings" pitchFamily="2" charset="2"/>
              <a:buNone/>
            </a:pPr>
            <a:r>
              <a:rPr lang="en-US"/>
              <a:t>		number of ports per device = n – 1 = 8 –1 = </a:t>
            </a:r>
            <a:r>
              <a:rPr lang="en-US" b="1">
                <a:solidFill>
                  <a:srgbClr val="CC0000"/>
                </a:solidFill>
              </a:rPr>
              <a:t>7</a:t>
            </a:r>
          </a:p>
          <a:p>
            <a:pPr lvl="1" eaLnBrk="1" hangingPunct="1">
              <a:buFont typeface="Wingdings" pitchFamily="2" charset="2"/>
              <a:buNone/>
            </a:pPr>
            <a:br>
              <a:rPr lang="en-GB"/>
            </a:br>
            <a:endParaRPr lang="en-US"/>
          </a:p>
        </p:txBody>
      </p:sp>
      <p:pic>
        <p:nvPicPr>
          <p:cNvPr id="4198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075" y="16764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5051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en-US"/>
              <a:t>Physical Topology</a:t>
            </a:r>
          </a:p>
        </p:txBody>
      </p:sp>
      <p:sp>
        <p:nvSpPr>
          <p:cNvPr id="43011" name="Rectangle 3"/>
          <p:cNvSpPr>
            <a:spLocks noGrp="1" noChangeArrowheads="1"/>
          </p:cNvSpPr>
          <p:nvPr>
            <p:ph type="body" idx="1"/>
          </p:nvPr>
        </p:nvSpPr>
        <p:spPr/>
        <p:txBody>
          <a:bodyPr/>
          <a:lstStyle/>
          <a:p>
            <a:pPr eaLnBrk="1" hangingPunct="1"/>
            <a:r>
              <a:rPr lang="en-US"/>
              <a:t>Mesh</a:t>
            </a:r>
            <a:endParaRPr lang="en-GB"/>
          </a:p>
          <a:p>
            <a:pPr lvl="1" eaLnBrk="1" hangingPunct="1"/>
            <a:r>
              <a:rPr lang="en-GB"/>
              <a:t>Advantages</a:t>
            </a:r>
          </a:p>
          <a:p>
            <a:pPr lvl="2" eaLnBrk="1" hangingPunct="1"/>
            <a:r>
              <a:rPr lang="en-US"/>
              <a:t>Each connection carry its own data load (no traffic problems)</a:t>
            </a:r>
          </a:p>
          <a:p>
            <a:pPr lvl="2" eaLnBrk="1" hangingPunct="1"/>
            <a:r>
              <a:rPr lang="en-US"/>
              <a:t>A mesh topology is robust</a:t>
            </a:r>
          </a:p>
          <a:p>
            <a:pPr lvl="2" eaLnBrk="1" hangingPunct="1"/>
            <a:r>
              <a:rPr lang="en-US"/>
              <a:t>Privacy or security</a:t>
            </a:r>
          </a:p>
          <a:p>
            <a:pPr lvl="2" eaLnBrk="1" hangingPunct="1"/>
            <a:r>
              <a:rPr lang="en-US"/>
              <a:t>Fault identification and fault isolation</a:t>
            </a:r>
          </a:p>
        </p:txBody>
      </p:sp>
      <p:pic>
        <p:nvPicPr>
          <p:cNvPr id="430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50292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32007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en-US"/>
              <a:t>Physical Topology</a:t>
            </a:r>
          </a:p>
        </p:txBody>
      </p:sp>
      <p:sp>
        <p:nvSpPr>
          <p:cNvPr id="44035" name="Rectangle 3"/>
          <p:cNvSpPr>
            <a:spLocks noGrp="1" noChangeArrowheads="1"/>
          </p:cNvSpPr>
          <p:nvPr>
            <p:ph type="body" idx="1"/>
          </p:nvPr>
        </p:nvSpPr>
        <p:spPr/>
        <p:txBody>
          <a:bodyPr/>
          <a:lstStyle/>
          <a:p>
            <a:pPr eaLnBrk="1" hangingPunct="1">
              <a:lnSpc>
                <a:spcPct val="90000"/>
              </a:lnSpc>
            </a:pPr>
            <a:r>
              <a:rPr lang="en-US"/>
              <a:t>Mesh:</a:t>
            </a:r>
            <a:endParaRPr lang="en-GB"/>
          </a:p>
          <a:p>
            <a:pPr lvl="1" eaLnBrk="1" hangingPunct="1">
              <a:lnSpc>
                <a:spcPct val="90000"/>
              </a:lnSpc>
            </a:pPr>
            <a:r>
              <a:rPr lang="en-GB"/>
              <a:t>Disadvantages</a:t>
            </a:r>
          </a:p>
          <a:p>
            <a:pPr lvl="2" eaLnBrk="1" hangingPunct="1">
              <a:lnSpc>
                <a:spcPct val="90000"/>
              </a:lnSpc>
            </a:pPr>
            <a:r>
              <a:rPr lang="en-US"/>
              <a:t>Big amount of cabling</a:t>
            </a:r>
          </a:p>
          <a:p>
            <a:pPr lvl="2" eaLnBrk="1" hangingPunct="1">
              <a:lnSpc>
                <a:spcPct val="90000"/>
              </a:lnSpc>
            </a:pPr>
            <a:r>
              <a:rPr lang="en-US"/>
              <a:t>Big number of I/O ports</a:t>
            </a:r>
          </a:p>
          <a:p>
            <a:pPr lvl="2" eaLnBrk="1" hangingPunct="1">
              <a:lnSpc>
                <a:spcPct val="90000"/>
              </a:lnSpc>
            </a:pPr>
            <a:r>
              <a:rPr lang="en-US"/>
              <a:t>Installation and reconnection are difficult</a:t>
            </a:r>
          </a:p>
          <a:p>
            <a:pPr lvl="2" eaLnBrk="1" hangingPunct="1">
              <a:lnSpc>
                <a:spcPct val="90000"/>
              </a:lnSpc>
            </a:pPr>
            <a:r>
              <a:rPr lang="en-US"/>
              <a:t>Sheer bulk of the wiring can be greater than the available space</a:t>
            </a:r>
          </a:p>
          <a:p>
            <a:pPr lvl="2" eaLnBrk="1" hangingPunct="1">
              <a:lnSpc>
                <a:spcPct val="90000"/>
              </a:lnSpc>
            </a:pPr>
            <a:r>
              <a:rPr lang="en-US"/>
              <a:t>Hardware connect to each I/O could be expensive</a:t>
            </a:r>
            <a:endParaRPr lang="ar-SA"/>
          </a:p>
          <a:p>
            <a:pPr lvl="2" eaLnBrk="1" hangingPunct="1">
              <a:lnSpc>
                <a:spcPct val="90000"/>
              </a:lnSpc>
            </a:pPr>
            <a:endParaRPr lang="ar-SA"/>
          </a:p>
          <a:p>
            <a:pPr eaLnBrk="1" hangingPunct="1">
              <a:lnSpc>
                <a:spcPct val="90000"/>
              </a:lnSpc>
            </a:pPr>
            <a:r>
              <a:rPr lang="en-US" sz="2800"/>
              <a:t>Mesh topology is implemented in a limited fashion; e.g.,  as backbone of hybrid network</a:t>
            </a:r>
          </a:p>
        </p:txBody>
      </p:sp>
      <p:pic>
        <p:nvPicPr>
          <p:cNvPr id="440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6764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67102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en-US"/>
              <a:t>Physical Topology</a:t>
            </a:r>
          </a:p>
        </p:txBody>
      </p:sp>
      <p:sp>
        <p:nvSpPr>
          <p:cNvPr id="45059" name="Rectangle 3"/>
          <p:cNvSpPr>
            <a:spLocks noGrp="1" noChangeArrowheads="1"/>
          </p:cNvSpPr>
          <p:nvPr>
            <p:ph type="body" idx="1"/>
          </p:nvPr>
        </p:nvSpPr>
        <p:spPr/>
        <p:txBody>
          <a:bodyPr/>
          <a:lstStyle/>
          <a:p>
            <a:pPr eaLnBrk="1" hangingPunct="1"/>
            <a:r>
              <a:rPr lang="en-US"/>
              <a:t>Star:</a:t>
            </a:r>
            <a:endParaRPr lang="en-GB"/>
          </a:p>
          <a:p>
            <a:pPr lvl="1" eaLnBrk="1" hangingPunct="1"/>
            <a:r>
              <a:rPr lang="en-US"/>
              <a:t>Dedicated point-to-point to a central controller (Hub)</a:t>
            </a:r>
          </a:p>
          <a:p>
            <a:pPr lvl="1" eaLnBrk="1" hangingPunct="1"/>
            <a:r>
              <a:rPr lang="en-US"/>
              <a:t>No direct traffic between devices</a:t>
            </a:r>
          </a:p>
          <a:p>
            <a:pPr lvl="1" eaLnBrk="1" hangingPunct="1"/>
            <a:r>
              <a:rPr lang="en-US"/>
              <a:t>The control acts as an exchange</a:t>
            </a:r>
          </a:p>
        </p:txBody>
      </p:sp>
      <p:pic>
        <p:nvPicPr>
          <p:cNvPr id="4506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713" y="4216400"/>
            <a:ext cx="4281487"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58776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en-US"/>
              <a:t>Physical Topology</a:t>
            </a:r>
          </a:p>
        </p:txBody>
      </p:sp>
      <p:sp>
        <p:nvSpPr>
          <p:cNvPr id="46083" name="Rectangle 3"/>
          <p:cNvSpPr>
            <a:spLocks noGrp="1" noChangeArrowheads="1"/>
          </p:cNvSpPr>
          <p:nvPr>
            <p:ph type="body" idx="1"/>
          </p:nvPr>
        </p:nvSpPr>
        <p:spPr/>
        <p:txBody>
          <a:bodyPr/>
          <a:lstStyle/>
          <a:p>
            <a:pPr eaLnBrk="1" hangingPunct="1"/>
            <a:r>
              <a:rPr lang="en-US"/>
              <a:t>Star</a:t>
            </a:r>
          </a:p>
          <a:p>
            <a:pPr lvl="1" eaLnBrk="1" hangingPunct="1"/>
            <a:r>
              <a:rPr lang="en-US"/>
              <a:t>Advantages</a:t>
            </a:r>
          </a:p>
          <a:p>
            <a:pPr lvl="2" eaLnBrk="1" hangingPunct="1"/>
            <a:r>
              <a:rPr lang="en-US" sz="2400"/>
              <a:t>Less expensive than mesh</a:t>
            </a:r>
            <a:br>
              <a:rPr lang="en-US" sz="2400"/>
            </a:br>
            <a:r>
              <a:rPr lang="en-US" sz="2400"/>
              <a:t>(</a:t>
            </a:r>
            <a:r>
              <a:rPr lang="en-US" sz="2400">
                <a:solidFill>
                  <a:srgbClr val="CC0000"/>
                </a:solidFill>
              </a:rPr>
              <a:t>1</a:t>
            </a:r>
            <a:r>
              <a:rPr lang="en-US" sz="2400"/>
              <a:t> Link + </a:t>
            </a:r>
            <a:r>
              <a:rPr lang="en-US" sz="2400">
                <a:solidFill>
                  <a:srgbClr val="CC0000"/>
                </a:solidFill>
              </a:rPr>
              <a:t>1</a:t>
            </a:r>
            <a:r>
              <a:rPr lang="en-US" sz="2400"/>
              <a:t> port per device)</a:t>
            </a:r>
          </a:p>
          <a:p>
            <a:pPr lvl="2" eaLnBrk="1" hangingPunct="1"/>
            <a:r>
              <a:rPr lang="en-US" sz="2400"/>
              <a:t>Easy to install and reconfigure</a:t>
            </a:r>
          </a:p>
          <a:p>
            <a:pPr lvl="2" eaLnBrk="1" hangingPunct="1"/>
            <a:r>
              <a:rPr lang="en-US" sz="2400"/>
              <a:t>Less cabling</a:t>
            </a:r>
          </a:p>
          <a:p>
            <a:pPr lvl="2" eaLnBrk="1" hangingPunct="1"/>
            <a:r>
              <a:rPr lang="en-US" sz="2400"/>
              <a:t>Additions, moves, and deletions required one connection</a:t>
            </a:r>
          </a:p>
          <a:p>
            <a:pPr lvl="2" eaLnBrk="1" hangingPunct="1"/>
            <a:r>
              <a:rPr lang="en-US" sz="2400"/>
              <a:t>Robustness : one fail does not affect others</a:t>
            </a:r>
          </a:p>
          <a:p>
            <a:pPr lvl="2" eaLnBrk="1" hangingPunct="1"/>
            <a:r>
              <a:rPr lang="en-US" sz="2400"/>
              <a:t>Easy fault identification and fault isolation</a:t>
            </a:r>
          </a:p>
        </p:txBody>
      </p:sp>
      <p:pic>
        <p:nvPicPr>
          <p:cNvPr id="4608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2057400"/>
            <a:ext cx="1190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10095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en-US"/>
              <a:t>Physical Topology</a:t>
            </a:r>
          </a:p>
        </p:txBody>
      </p:sp>
      <p:sp>
        <p:nvSpPr>
          <p:cNvPr id="47107" name="Rectangle 3"/>
          <p:cNvSpPr>
            <a:spLocks noGrp="1" noChangeArrowheads="1"/>
          </p:cNvSpPr>
          <p:nvPr>
            <p:ph type="body" idx="1"/>
          </p:nvPr>
        </p:nvSpPr>
        <p:spPr/>
        <p:txBody>
          <a:bodyPr/>
          <a:lstStyle/>
          <a:p>
            <a:pPr eaLnBrk="1" hangingPunct="1"/>
            <a:r>
              <a:rPr lang="en-US"/>
              <a:t>Star</a:t>
            </a:r>
          </a:p>
          <a:p>
            <a:pPr lvl="1" eaLnBrk="1" hangingPunct="1"/>
            <a:r>
              <a:rPr lang="en-US"/>
              <a:t>Disadvantages</a:t>
            </a:r>
          </a:p>
          <a:p>
            <a:pPr lvl="2" eaLnBrk="1" hangingPunct="1"/>
            <a:r>
              <a:rPr lang="en-US"/>
              <a:t>Dependency of the whole topology on one single point (hub)</a:t>
            </a:r>
          </a:p>
          <a:p>
            <a:pPr lvl="2" eaLnBrk="1" hangingPunct="1"/>
            <a:r>
              <a:rPr lang="en-US"/>
              <a:t>More cabling than other topologies ( ring or bus)</a:t>
            </a:r>
          </a:p>
          <a:p>
            <a:pPr lvl="2" eaLnBrk="1" hangingPunct="1"/>
            <a:endParaRPr lang="en-US"/>
          </a:p>
          <a:p>
            <a:pPr eaLnBrk="1" hangingPunct="1"/>
            <a:r>
              <a:rPr lang="en-US" sz="2800"/>
              <a:t>Used in LAN</a:t>
            </a:r>
          </a:p>
          <a:p>
            <a:pPr eaLnBrk="1" hangingPunct="1">
              <a:buFont typeface="Wingdings" pitchFamily="2" charset="2"/>
              <a:buNone/>
            </a:pPr>
            <a:endParaRPr lang="en-US" sz="2800"/>
          </a:p>
        </p:txBody>
      </p:sp>
      <p:pic>
        <p:nvPicPr>
          <p:cNvPr id="471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4648200"/>
            <a:ext cx="1190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82447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en-US"/>
              <a:t>Physical Topology</a:t>
            </a:r>
          </a:p>
        </p:txBody>
      </p:sp>
      <p:sp>
        <p:nvSpPr>
          <p:cNvPr id="48131" name="Rectangle 3"/>
          <p:cNvSpPr>
            <a:spLocks noGrp="1" noChangeArrowheads="1"/>
          </p:cNvSpPr>
          <p:nvPr>
            <p:ph type="body" idx="1"/>
          </p:nvPr>
        </p:nvSpPr>
        <p:spPr/>
        <p:txBody>
          <a:bodyPr/>
          <a:lstStyle/>
          <a:p>
            <a:pPr eaLnBrk="1" hangingPunct="1"/>
            <a:r>
              <a:rPr lang="en-US"/>
              <a:t>Bus</a:t>
            </a:r>
          </a:p>
          <a:p>
            <a:pPr lvl="1" eaLnBrk="1" hangingPunct="1"/>
            <a:r>
              <a:rPr lang="en-US"/>
              <a:t>It is multipoint </a:t>
            </a:r>
          </a:p>
          <a:p>
            <a:pPr lvl="1" eaLnBrk="1" hangingPunct="1"/>
            <a:r>
              <a:rPr lang="en-US"/>
              <a:t>One long cable acts as a backbone</a:t>
            </a:r>
          </a:p>
          <a:p>
            <a:pPr lvl="1" eaLnBrk="1" hangingPunct="1"/>
            <a:r>
              <a:rPr lang="en-US"/>
              <a:t>Used in the design of early LANS, and Ethernet LANs</a:t>
            </a:r>
          </a:p>
          <a:p>
            <a:pPr eaLnBrk="1" hangingPunct="1">
              <a:buFont typeface="Wingdings" pitchFamily="2" charset="2"/>
              <a:buNone/>
            </a:pPr>
            <a:endParaRPr lang="en-US" sz="2800"/>
          </a:p>
        </p:txBody>
      </p:sp>
      <p:pic>
        <p:nvPicPr>
          <p:cNvPr id="481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825" y="4445000"/>
            <a:ext cx="475297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11069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defRPr/>
            </a:pPr>
            <a:r>
              <a:rPr lang="en-US"/>
              <a:t>Physical Topology</a:t>
            </a:r>
          </a:p>
        </p:txBody>
      </p:sp>
      <p:sp>
        <p:nvSpPr>
          <p:cNvPr id="49155" name="Rectangle 3"/>
          <p:cNvSpPr>
            <a:spLocks noGrp="1" noChangeArrowheads="1"/>
          </p:cNvSpPr>
          <p:nvPr>
            <p:ph type="body" idx="1"/>
          </p:nvPr>
        </p:nvSpPr>
        <p:spPr/>
        <p:txBody>
          <a:bodyPr/>
          <a:lstStyle/>
          <a:p>
            <a:pPr eaLnBrk="1" hangingPunct="1"/>
            <a:r>
              <a:rPr lang="en-US"/>
              <a:t>Bus</a:t>
            </a:r>
          </a:p>
          <a:p>
            <a:pPr lvl="1" eaLnBrk="1" hangingPunct="1"/>
            <a:r>
              <a:rPr lang="en-US"/>
              <a:t>Nodes connect to cable by drop lines and taps</a:t>
            </a:r>
          </a:p>
          <a:p>
            <a:pPr lvl="1" eaLnBrk="1" hangingPunct="1"/>
            <a:r>
              <a:rPr lang="en-US"/>
              <a:t>Signal travels along the backbone and some of its energy is transformed to heat</a:t>
            </a:r>
          </a:p>
          <a:p>
            <a:pPr lvl="1" eaLnBrk="1" hangingPunct="1"/>
            <a:r>
              <a:rPr lang="en-US"/>
              <a:t>Limit of number of taps and the distance between taps</a:t>
            </a:r>
            <a:endParaRPr lang="en-US" sz="2300"/>
          </a:p>
        </p:txBody>
      </p:sp>
      <p:pic>
        <p:nvPicPr>
          <p:cNvPr id="4915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375" y="4814888"/>
            <a:ext cx="78882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5090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en-US"/>
              <a:t>Physical Topology</a:t>
            </a:r>
          </a:p>
        </p:txBody>
      </p:sp>
      <p:sp>
        <p:nvSpPr>
          <p:cNvPr id="50179" name="Rectangle 3"/>
          <p:cNvSpPr>
            <a:spLocks noGrp="1" noChangeArrowheads="1"/>
          </p:cNvSpPr>
          <p:nvPr>
            <p:ph type="body" idx="1"/>
          </p:nvPr>
        </p:nvSpPr>
        <p:spPr/>
        <p:txBody>
          <a:bodyPr/>
          <a:lstStyle/>
          <a:p>
            <a:pPr eaLnBrk="1" hangingPunct="1">
              <a:lnSpc>
                <a:spcPct val="90000"/>
              </a:lnSpc>
            </a:pPr>
            <a:r>
              <a:rPr lang="en-US"/>
              <a:t>Bus</a:t>
            </a:r>
          </a:p>
          <a:p>
            <a:pPr lvl="1" eaLnBrk="1" hangingPunct="1">
              <a:lnSpc>
                <a:spcPct val="90000"/>
              </a:lnSpc>
            </a:pPr>
            <a:r>
              <a:rPr lang="en-US"/>
              <a:t>Advantages</a:t>
            </a:r>
          </a:p>
          <a:p>
            <a:pPr lvl="2" eaLnBrk="1" hangingPunct="1">
              <a:lnSpc>
                <a:spcPct val="90000"/>
              </a:lnSpc>
            </a:pPr>
            <a:r>
              <a:rPr lang="en-US"/>
              <a:t>Ease of installation</a:t>
            </a:r>
          </a:p>
          <a:p>
            <a:pPr lvl="2" eaLnBrk="1" hangingPunct="1">
              <a:lnSpc>
                <a:spcPct val="90000"/>
              </a:lnSpc>
            </a:pPr>
            <a:r>
              <a:rPr lang="en-US"/>
              <a:t>Less cables than mesh, star topologies</a:t>
            </a:r>
          </a:p>
          <a:p>
            <a:pPr lvl="1" eaLnBrk="1" hangingPunct="1">
              <a:lnSpc>
                <a:spcPct val="90000"/>
              </a:lnSpc>
            </a:pPr>
            <a:r>
              <a:rPr lang="en-US"/>
              <a:t>Disadvantages</a:t>
            </a:r>
          </a:p>
          <a:p>
            <a:pPr lvl="2" eaLnBrk="1" hangingPunct="1">
              <a:lnSpc>
                <a:spcPct val="90000"/>
              </a:lnSpc>
            </a:pPr>
            <a:r>
              <a:rPr lang="en-US"/>
              <a:t>Difficult reconnection and fault isolation ( limit of taps)</a:t>
            </a:r>
          </a:p>
          <a:p>
            <a:pPr lvl="2" eaLnBrk="1" hangingPunct="1">
              <a:lnSpc>
                <a:spcPct val="90000"/>
              </a:lnSpc>
            </a:pPr>
            <a:r>
              <a:rPr lang="en-US"/>
              <a:t>Adding new device requires modification of backbone</a:t>
            </a:r>
          </a:p>
          <a:p>
            <a:pPr lvl="2" eaLnBrk="1" hangingPunct="1">
              <a:lnSpc>
                <a:spcPct val="90000"/>
              </a:lnSpc>
            </a:pPr>
            <a:r>
              <a:rPr lang="en-US"/>
              <a:t>Fault or break stops all transmission</a:t>
            </a:r>
          </a:p>
          <a:p>
            <a:pPr lvl="2" eaLnBrk="1" hangingPunct="1">
              <a:lnSpc>
                <a:spcPct val="90000"/>
              </a:lnSpc>
            </a:pPr>
            <a:r>
              <a:rPr lang="en-US"/>
              <a:t>The damaged area reflects signals back in the direction of the origin, creating noise in both directions</a:t>
            </a:r>
          </a:p>
        </p:txBody>
      </p:sp>
      <p:pic>
        <p:nvPicPr>
          <p:cNvPr id="5018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811338"/>
            <a:ext cx="17526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942015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en-US"/>
              <a:t>Physical Topology</a:t>
            </a:r>
          </a:p>
        </p:txBody>
      </p:sp>
      <p:sp>
        <p:nvSpPr>
          <p:cNvPr id="51203" name="Rectangle 3"/>
          <p:cNvSpPr>
            <a:spLocks noGrp="1" noChangeArrowheads="1"/>
          </p:cNvSpPr>
          <p:nvPr>
            <p:ph type="body" idx="1"/>
          </p:nvPr>
        </p:nvSpPr>
        <p:spPr/>
        <p:txBody>
          <a:bodyPr/>
          <a:lstStyle/>
          <a:p>
            <a:pPr eaLnBrk="1" hangingPunct="1"/>
            <a:r>
              <a:rPr lang="en-US"/>
              <a:t>Ring</a:t>
            </a:r>
          </a:p>
          <a:p>
            <a:pPr lvl="1" eaLnBrk="1" hangingPunct="1"/>
            <a:r>
              <a:rPr lang="en-US" sz="2300"/>
              <a:t>Each device has dedicated point-to-point connection with only the two devices on either side of it</a:t>
            </a:r>
          </a:p>
          <a:p>
            <a:pPr lvl="1" eaLnBrk="1" hangingPunct="1"/>
            <a:r>
              <a:rPr lang="en-US" sz="2300"/>
              <a:t>A signal is passed along the ring in one direction from device to device until it reaches its destination</a:t>
            </a:r>
          </a:p>
          <a:p>
            <a:pPr lvl="1" eaLnBrk="1" hangingPunct="1"/>
            <a:r>
              <a:rPr lang="en-US" sz="2300"/>
              <a:t>Each devices incorporates a Repeater</a:t>
            </a:r>
          </a:p>
        </p:txBody>
      </p:sp>
      <p:pic>
        <p:nvPicPr>
          <p:cNvPr id="5120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2863" y="4329113"/>
            <a:ext cx="6602412"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05324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defRPr/>
            </a:pPr>
            <a:r>
              <a:rPr lang="en-US"/>
              <a:t>Physical Topology</a:t>
            </a:r>
          </a:p>
        </p:txBody>
      </p:sp>
      <p:sp>
        <p:nvSpPr>
          <p:cNvPr id="52227" name="Rectangle 3"/>
          <p:cNvSpPr>
            <a:spLocks noGrp="1" noChangeArrowheads="1"/>
          </p:cNvSpPr>
          <p:nvPr>
            <p:ph type="body" idx="1"/>
          </p:nvPr>
        </p:nvSpPr>
        <p:spPr/>
        <p:txBody>
          <a:bodyPr/>
          <a:lstStyle/>
          <a:p>
            <a:pPr eaLnBrk="1" hangingPunct="1"/>
            <a:r>
              <a:rPr lang="en-US"/>
              <a:t>Ring</a:t>
            </a:r>
          </a:p>
          <a:p>
            <a:pPr lvl="1" eaLnBrk="1" hangingPunct="1"/>
            <a:r>
              <a:rPr lang="en-US"/>
              <a:t>Advantages</a:t>
            </a:r>
          </a:p>
          <a:p>
            <a:pPr lvl="2" eaLnBrk="1" hangingPunct="1"/>
            <a:r>
              <a:rPr lang="en-US" sz="2100"/>
              <a:t>Easy of install and reconfigure</a:t>
            </a:r>
          </a:p>
          <a:p>
            <a:pPr lvl="2" eaLnBrk="1" hangingPunct="1"/>
            <a:r>
              <a:rPr lang="en-US" sz="2100"/>
              <a:t>Connect to immediate neighbors</a:t>
            </a:r>
          </a:p>
          <a:p>
            <a:pPr lvl="2" eaLnBrk="1" hangingPunct="1"/>
            <a:r>
              <a:rPr lang="en-US" sz="2100"/>
              <a:t>Move two connections for any moving (Add/Delete)</a:t>
            </a:r>
          </a:p>
          <a:p>
            <a:pPr lvl="2" eaLnBrk="1" hangingPunct="1"/>
            <a:r>
              <a:rPr lang="en-US" sz="2100"/>
              <a:t>Easy of fault isolation</a:t>
            </a:r>
          </a:p>
          <a:p>
            <a:pPr lvl="1" eaLnBrk="1" hangingPunct="1"/>
            <a:r>
              <a:rPr lang="en-US"/>
              <a:t>Disadvantage</a:t>
            </a:r>
          </a:p>
          <a:p>
            <a:pPr lvl="2" eaLnBrk="1" hangingPunct="1"/>
            <a:r>
              <a:rPr lang="en-US" sz="2100"/>
              <a:t>Unidirectional</a:t>
            </a:r>
          </a:p>
          <a:p>
            <a:pPr lvl="2" eaLnBrk="1" hangingPunct="1"/>
            <a:r>
              <a:rPr lang="en-US" sz="2100"/>
              <a:t>One broken device can disable the entire network. This weakness can be solved by using a dual ring or a switch capable of closing off the break</a:t>
            </a:r>
          </a:p>
        </p:txBody>
      </p:sp>
      <p:pic>
        <p:nvPicPr>
          <p:cNvPr id="5222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75" y="1905000"/>
            <a:ext cx="13430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7527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eaLnBrk="1" hangingPunct="1">
              <a:defRPr/>
            </a:pPr>
            <a:r>
              <a:rPr lang="en-US"/>
              <a:t>Physical Topology</a:t>
            </a:r>
          </a:p>
        </p:txBody>
      </p:sp>
      <p:sp>
        <p:nvSpPr>
          <p:cNvPr id="53251" name="Rectangle 3"/>
          <p:cNvSpPr>
            <a:spLocks noGrp="1" noChangeArrowheads="1"/>
          </p:cNvSpPr>
          <p:nvPr>
            <p:ph type="body" idx="1"/>
          </p:nvPr>
        </p:nvSpPr>
        <p:spPr/>
        <p:txBody>
          <a:bodyPr/>
          <a:lstStyle/>
          <a:p>
            <a:pPr eaLnBrk="1" hangingPunct="1"/>
            <a:r>
              <a:rPr lang="en-US"/>
              <a:t>Hybrid Topology</a:t>
            </a:r>
          </a:p>
          <a:p>
            <a:pPr lvl="1" eaLnBrk="1" hangingPunct="1"/>
            <a:r>
              <a:rPr lang="en-US"/>
              <a:t>Example: having a main star topology with each branch connecting several stations in a bus topology</a:t>
            </a:r>
          </a:p>
        </p:txBody>
      </p:sp>
      <p:pic>
        <p:nvPicPr>
          <p:cNvPr id="53252" name="Picture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6738" y="3673475"/>
            <a:ext cx="5062537"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253" name="Rectangle 77"/>
          <p:cNvSpPr>
            <a:spLocks noChangeArrowheads="1"/>
          </p:cNvSpPr>
          <p:nvPr/>
        </p:nvSpPr>
        <p:spPr bwMode="auto">
          <a:xfrm>
            <a:off x="1473200" y="3698875"/>
            <a:ext cx="1338263" cy="2967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endParaRPr lang="ar-SA"/>
          </a:p>
        </p:txBody>
      </p:sp>
      <p:sp>
        <p:nvSpPr>
          <p:cNvPr id="178254" name="Rectangle 78"/>
          <p:cNvSpPr>
            <a:spLocks noChangeArrowheads="1"/>
          </p:cNvSpPr>
          <p:nvPr/>
        </p:nvSpPr>
        <p:spPr bwMode="auto">
          <a:xfrm>
            <a:off x="2811463" y="4667250"/>
            <a:ext cx="4408487" cy="2057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endParaRPr lang="ar-SA"/>
          </a:p>
        </p:txBody>
      </p:sp>
      <p:sp>
        <p:nvSpPr>
          <p:cNvPr id="178255" name="Rectangle 79"/>
          <p:cNvSpPr>
            <a:spLocks noChangeArrowheads="1"/>
          </p:cNvSpPr>
          <p:nvPr/>
        </p:nvSpPr>
        <p:spPr bwMode="auto">
          <a:xfrm>
            <a:off x="2794000" y="2989263"/>
            <a:ext cx="4408488" cy="2057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endParaRPr lang="ar-SA"/>
          </a:p>
        </p:txBody>
      </p:sp>
    </p:spTree>
    <p:extLst>
      <p:ext uri="{BB962C8B-B14F-4D97-AF65-F5344CB8AC3E}">
        <p14:creationId xmlns:p14="http://schemas.microsoft.com/office/powerpoint/2010/main" val="3182722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xit" presetSubtype="0" fill="hold" grpId="0" nodeType="clickEffect">
                                  <p:stCondLst>
                                    <p:cond delay="0"/>
                                  </p:stCondLst>
                                  <p:childTnLst>
                                    <p:anim calcmode="lin" valueType="num">
                                      <p:cBhvr>
                                        <p:cTn id="6" dur="1000"/>
                                        <p:tgtEl>
                                          <p:spTgt spid="178255"/>
                                        </p:tgtEl>
                                        <p:attrNameLst>
                                          <p:attrName>ppt_w</p:attrName>
                                        </p:attrNameLst>
                                      </p:cBhvr>
                                      <p:tavLst>
                                        <p:tav tm="0">
                                          <p:val>
                                            <p:strVal val="ppt_w"/>
                                          </p:val>
                                        </p:tav>
                                        <p:tav tm="100000">
                                          <p:val>
                                            <p:strVal val="ppt_w*0.70"/>
                                          </p:val>
                                        </p:tav>
                                      </p:tavLst>
                                    </p:anim>
                                    <p:anim calcmode="lin" valueType="num">
                                      <p:cBhvr>
                                        <p:cTn id="7" dur="1000"/>
                                        <p:tgtEl>
                                          <p:spTgt spid="178255"/>
                                        </p:tgtEl>
                                        <p:attrNameLst>
                                          <p:attrName>ppt_h</p:attrName>
                                        </p:attrNameLst>
                                      </p:cBhvr>
                                      <p:tavLst>
                                        <p:tav tm="0">
                                          <p:val>
                                            <p:strVal val="ppt_h"/>
                                          </p:val>
                                        </p:tav>
                                        <p:tav tm="100000">
                                          <p:val>
                                            <p:strVal val="ppt_h"/>
                                          </p:val>
                                        </p:tav>
                                      </p:tavLst>
                                    </p:anim>
                                    <p:animEffect transition="out" filter="fade">
                                      <p:cBhvr>
                                        <p:cTn id="8" dur="1000"/>
                                        <p:tgtEl>
                                          <p:spTgt spid="178255"/>
                                        </p:tgtEl>
                                      </p:cBhvr>
                                    </p:animEffect>
                                    <p:set>
                                      <p:cBhvr>
                                        <p:cTn id="9" dur="1" fill="hold">
                                          <p:stCondLst>
                                            <p:cond delay="999"/>
                                          </p:stCondLst>
                                        </p:cTn>
                                        <p:tgtEl>
                                          <p:spTgt spid="178255"/>
                                        </p:tgtEl>
                                        <p:attrNameLst>
                                          <p:attrName>style.visibility</p:attrName>
                                        </p:attrNameLst>
                                      </p:cBhvr>
                                      <p:to>
                                        <p:strVal val="hidden"/>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xit" presetSubtype="0" fill="hold" grpId="0" nodeType="clickEffect">
                                  <p:stCondLst>
                                    <p:cond delay="0"/>
                                  </p:stCondLst>
                                  <p:childTnLst>
                                    <p:anim calcmode="lin" valueType="num">
                                      <p:cBhvr>
                                        <p:cTn id="13" dur="1000"/>
                                        <p:tgtEl>
                                          <p:spTgt spid="178254"/>
                                        </p:tgtEl>
                                        <p:attrNameLst>
                                          <p:attrName>ppt_w</p:attrName>
                                        </p:attrNameLst>
                                      </p:cBhvr>
                                      <p:tavLst>
                                        <p:tav tm="0">
                                          <p:val>
                                            <p:strVal val="ppt_w"/>
                                          </p:val>
                                        </p:tav>
                                        <p:tav tm="100000">
                                          <p:val>
                                            <p:strVal val="ppt_w*0.70"/>
                                          </p:val>
                                        </p:tav>
                                      </p:tavLst>
                                    </p:anim>
                                    <p:anim calcmode="lin" valueType="num">
                                      <p:cBhvr>
                                        <p:cTn id="14" dur="1000"/>
                                        <p:tgtEl>
                                          <p:spTgt spid="178254"/>
                                        </p:tgtEl>
                                        <p:attrNameLst>
                                          <p:attrName>ppt_h</p:attrName>
                                        </p:attrNameLst>
                                      </p:cBhvr>
                                      <p:tavLst>
                                        <p:tav tm="0">
                                          <p:val>
                                            <p:strVal val="ppt_h"/>
                                          </p:val>
                                        </p:tav>
                                        <p:tav tm="100000">
                                          <p:val>
                                            <p:strVal val="ppt_h"/>
                                          </p:val>
                                        </p:tav>
                                      </p:tavLst>
                                    </p:anim>
                                    <p:animEffect transition="out" filter="fade">
                                      <p:cBhvr>
                                        <p:cTn id="15" dur="1000"/>
                                        <p:tgtEl>
                                          <p:spTgt spid="178254"/>
                                        </p:tgtEl>
                                      </p:cBhvr>
                                    </p:animEffect>
                                    <p:set>
                                      <p:cBhvr>
                                        <p:cTn id="16" dur="1" fill="hold">
                                          <p:stCondLst>
                                            <p:cond delay="999"/>
                                          </p:stCondLst>
                                        </p:cTn>
                                        <p:tgtEl>
                                          <p:spTgt spid="178254"/>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xit" presetSubtype="0" fill="hold" grpId="0" nodeType="clickEffect">
                                  <p:stCondLst>
                                    <p:cond delay="0"/>
                                  </p:stCondLst>
                                  <p:childTnLst>
                                    <p:anim calcmode="lin" valueType="num">
                                      <p:cBhvr>
                                        <p:cTn id="20" dur="1000"/>
                                        <p:tgtEl>
                                          <p:spTgt spid="178253"/>
                                        </p:tgtEl>
                                        <p:attrNameLst>
                                          <p:attrName>ppt_w</p:attrName>
                                        </p:attrNameLst>
                                      </p:cBhvr>
                                      <p:tavLst>
                                        <p:tav tm="0">
                                          <p:val>
                                            <p:strVal val="ppt_w"/>
                                          </p:val>
                                        </p:tav>
                                        <p:tav tm="100000">
                                          <p:val>
                                            <p:strVal val="ppt_w*0.70"/>
                                          </p:val>
                                        </p:tav>
                                      </p:tavLst>
                                    </p:anim>
                                    <p:anim calcmode="lin" valueType="num">
                                      <p:cBhvr>
                                        <p:cTn id="21" dur="1000"/>
                                        <p:tgtEl>
                                          <p:spTgt spid="178253"/>
                                        </p:tgtEl>
                                        <p:attrNameLst>
                                          <p:attrName>ppt_h</p:attrName>
                                        </p:attrNameLst>
                                      </p:cBhvr>
                                      <p:tavLst>
                                        <p:tav tm="0">
                                          <p:val>
                                            <p:strVal val="ppt_h"/>
                                          </p:val>
                                        </p:tav>
                                        <p:tav tm="100000">
                                          <p:val>
                                            <p:strVal val="ppt_h"/>
                                          </p:val>
                                        </p:tav>
                                      </p:tavLst>
                                    </p:anim>
                                    <p:animEffect transition="out" filter="fade">
                                      <p:cBhvr>
                                        <p:cTn id="22" dur="1000"/>
                                        <p:tgtEl>
                                          <p:spTgt spid="178253"/>
                                        </p:tgtEl>
                                      </p:cBhvr>
                                    </p:animEffect>
                                    <p:set>
                                      <p:cBhvr>
                                        <p:cTn id="23" dur="1" fill="hold">
                                          <p:stCondLst>
                                            <p:cond delay="999"/>
                                          </p:stCondLst>
                                        </p:cTn>
                                        <p:tgtEl>
                                          <p:spTgt spid="1782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53" grpId="0" animBg="1"/>
      <p:bldP spid="178254" grpId="0" animBg="1"/>
      <p:bldP spid="17825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107</a:t>
            </a:fld>
            <a:endParaRPr lang="en-US" sz="1400" b="1">
              <a:solidFill>
                <a:schemeClr val="bg1"/>
              </a:solidFill>
              <a:effectLst/>
            </a:endParaRPr>
          </a:p>
        </p:txBody>
      </p:sp>
      <p:sp>
        <p:nvSpPr>
          <p:cNvPr id="35842" name="Title 35841"/>
          <p:cNvSpPr>
            <a:spLocks noGrp="1"/>
          </p:cNvSpPr>
          <p:nvPr>
            <p:ph type="title"/>
          </p:nvPr>
        </p:nvSpPr>
        <p:spPr/>
        <p:txBody>
          <a:bodyPr anchor="ctr" anchorCtr="0"/>
          <a:lstStyle/>
          <a:p>
            <a:r>
              <a:t>Network Topologies</a:t>
            </a:r>
          </a:p>
        </p:txBody>
      </p:sp>
      <p:sp>
        <p:nvSpPr>
          <p:cNvPr id="35843" name="Text Placeholder 35842"/>
          <p:cNvSpPr>
            <a:spLocks noGrp="1"/>
          </p:cNvSpPr>
          <p:nvPr>
            <p:ph type="body" idx="1"/>
          </p:nvPr>
        </p:nvSpPr>
        <p:spPr/>
        <p:txBody>
          <a:bodyPr/>
          <a:lstStyle/>
          <a:p>
            <a:r>
              <a:t>Topology</a:t>
            </a:r>
          </a:p>
          <a:p>
            <a:pPr lvl="1"/>
            <a:r>
              <a:t>Logical layout of wires and equipment</a:t>
            </a:r>
          </a:p>
          <a:p>
            <a:pPr lvl="1"/>
            <a:r>
              <a:t>Choice affects </a:t>
            </a:r>
          </a:p>
          <a:p>
            <a:pPr lvl="2"/>
            <a:r>
              <a:t>Network performance</a:t>
            </a:r>
          </a:p>
          <a:p>
            <a:pPr lvl="2"/>
            <a:r>
              <a:t>Network size</a:t>
            </a:r>
          </a:p>
          <a:p>
            <a:pPr lvl="2"/>
            <a:r>
              <a:t>Network collision detection</a:t>
            </a:r>
          </a:p>
          <a:p>
            <a:pPr lvl="1"/>
            <a:r>
              <a:t>Several different types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108</a:t>
            </a:fld>
            <a:endParaRPr lang="en-US" sz="1400" b="1">
              <a:solidFill>
                <a:schemeClr val="bg1"/>
              </a:solidFill>
              <a:effectLst/>
            </a:endParaRPr>
          </a:p>
        </p:txBody>
      </p:sp>
      <p:sp>
        <p:nvSpPr>
          <p:cNvPr id="37890" name="Title 37889"/>
          <p:cNvSpPr>
            <a:spLocks noGrp="1"/>
          </p:cNvSpPr>
          <p:nvPr>
            <p:ph type="title"/>
          </p:nvPr>
        </p:nvSpPr>
        <p:spPr/>
        <p:txBody>
          <a:bodyPr anchor="ctr" anchorCtr="0"/>
          <a:lstStyle/>
          <a:p>
            <a:r>
              <a:t>Network Topologies</a:t>
            </a:r>
          </a:p>
        </p:txBody>
      </p:sp>
      <p:sp>
        <p:nvSpPr>
          <p:cNvPr id="37891" name="Text Placeholder 37890"/>
          <p:cNvSpPr>
            <a:spLocks noGrp="1"/>
          </p:cNvSpPr>
          <p:nvPr>
            <p:ph type="body" idx="1"/>
          </p:nvPr>
        </p:nvSpPr>
        <p:spPr/>
        <p:txBody>
          <a:bodyPr/>
          <a:lstStyle/>
          <a:p>
            <a:r>
              <a:t>Packets</a:t>
            </a:r>
          </a:p>
          <a:p>
            <a:pPr lvl="1"/>
            <a:r>
              <a:t>Pieces of data transmitted over a network</a:t>
            </a:r>
          </a:p>
          <a:p>
            <a:pPr lvl="2"/>
            <a:r>
              <a:t>Packets are created by sending node</a:t>
            </a:r>
          </a:p>
          <a:p>
            <a:pPr lvl="2"/>
            <a:r>
              <a:t>Data is reassembled by receiving node</a:t>
            </a:r>
          </a:p>
          <a:p>
            <a:pPr lvl="1"/>
            <a:r>
              <a:t>Packet header</a:t>
            </a:r>
          </a:p>
          <a:p>
            <a:pPr lvl="2"/>
            <a:r>
              <a:t>Sending and receiving address</a:t>
            </a:r>
          </a:p>
          <a:p>
            <a:pPr lvl="1"/>
            <a:r>
              <a:t>Packet payload</a:t>
            </a:r>
          </a:p>
          <a:p>
            <a:pPr lvl="2"/>
            <a:r>
              <a:t>Number and size of data</a:t>
            </a:r>
          </a:p>
          <a:p>
            <a:pPr lvl="2"/>
            <a:r>
              <a:t>Actual data</a:t>
            </a:r>
          </a:p>
          <a:p>
            <a:pPr lvl="1"/>
            <a:r>
              <a:t>Packet error control</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109</a:t>
            </a:fld>
            <a:endParaRPr lang="en-US" sz="1400" b="1">
              <a:solidFill>
                <a:schemeClr val="bg1"/>
              </a:solidFill>
              <a:effectLst/>
            </a:endParaRPr>
          </a:p>
        </p:txBody>
      </p:sp>
      <p:sp>
        <p:nvSpPr>
          <p:cNvPr id="39938" name="Title 39937"/>
          <p:cNvSpPr>
            <a:spLocks noGrp="1"/>
          </p:cNvSpPr>
          <p:nvPr>
            <p:ph type="title"/>
          </p:nvPr>
        </p:nvSpPr>
        <p:spPr/>
        <p:txBody>
          <a:bodyPr anchor="ctr" anchorCtr="0"/>
          <a:lstStyle/>
          <a:p>
            <a:r>
              <a:t>Network Topologies</a:t>
            </a:r>
          </a:p>
        </p:txBody>
      </p:sp>
      <p:sp>
        <p:nvSpPr>
          <p:cNvPr id="39939" name="Text Placeholder 39938"/>
          <p:cNvSpPr>
            <a:spLocks noGrp="1"/>
          </p:cNvSpPr>
          <p:nvPr>
            <p:ph type="body" idx="1"/>
          </p:nvPr>
        </p:nvSpPr>
        <p:spPr/>
        <p:txBody>
          <a:bodyPr/>
          <a:lstStyle/>
          <a:p>
            <a:r>
              <a:t>Bus topology</a:t>
            </a:r>
          </a:p>
          <a:p>
            <a:pPr lvl="1"/>
            <a:r>
              <a:t>Also called linear bus</a:t>
            </a:r>
          </a:p>
          <a:p>
            <a:pPr lvl="1"/>
            <a:r>
              <a:t>One wire connects all nodes</a:t>
            </a:r>
          </a:p>
          <a:p>
            <a:pPr lvl="1"/>
            <a:r>
              <a:t>Terminator ends the wires</a:t>
            </a:r>
          </a:p>
          <a:p>
            <a:pPr lvl="1"/>
            <a:r>
              <a:t>Advantages</a:t>
            </a:r>
          </a:p>
          <a:p>
            <a:pPr lvl="2"/>
            <a:r>
              <a:t>Easy to setup</a:t>
            </a:r>
          </a:p>
          <a:p>
            <a:pPr lvl="2"/>
            <a:r>
              <a:t>Small amount of wire</a:t>
            </a:r>
          </a:p>
          <a:p>
            <a:pPr lvl="1"/>
            <a:r>
              <a:t>Disadvantages</a:t>
            </a:r>
          </a:p>
          <a:p>
            <a:pPr lvl="2"/>
            <a:r>
              <a:t>Slow</a:t>
            </a:r>
          </a:p>
          <a:p>
            <a:pPr lvl="2"/>
            <a:r>
              <a:t>Easy to crash</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110</a:t>
            </a:fld>
            <a:endParaRPr lang="en-US" sz="1400" b="1">
              <a:solidFill>
                <a:schemeClr val="bg1"/>
              </a:solidFill>
              <a:effectLst/>
            </a:endParaRPr>
          </a:p>
        </p:txBody>
      </p:sp>
      <p:sp>
        <p:nvSpPr>
          <p:cNvPr id="41986" name="Title 41985"/>
          <p:cNvSpPr>
            <a:spLocks noGrp="1"/>
          </p:cNvSpPr>
          <p:nvPr>
            <p:ph type="title"/>
          </p:nvPr>
        </p:nvSpPr>
        <p:spPr/>
        <p:txBody>
          <a:bodyPr anchor="ctr" anchorCtr="0"/>
          <a:lstStyle/>
          <a:p>
            <a:r>
              <a:t>Network Topologies</a:t>
            </a:r>
          </a:p>
        </p:txBody>
      </p:sp>
      <p:sp>
        <p:nvSpPr>
          <p:cNvPr id="41987" name="Text Placeholder 41986"/>
          <p:cNvSpPr>
            <a:spLocks noGrp="1"/>
          </p:cNvSpPr>
          <p:nvPr>
            <p:ph type="body" idx="1"/>
          </p:nvPr>
        </p:nvSpPr>
        <p:spPr/>
        <p:txBody>
          <a:bodyPr/>
          <a:lstStyle/>
          <a:p>
            <a:r>
              <a:t>Star topology</a:t>
            </a:r>
          </a:p>
          <a:p>
            <a:pPr lvl="1"/>
            <a:r>
              <a:t>All nodes connect to a hub</a:t>
            </a:r>
          </a:p>
          <a:p>
            <a:pPr lvl="2"/>
            <a:r>
              <a:t>Packets sent to hub</a:t>
            </a:r>
          </a:p>
          <a:p>
            <a:pPr lvl="2"/>
            <a:r>
              <a:t>Hub sends packet to destination</a:t>
            </a:r>
          </a:p>
          <a:p>
            <a:pPr lvl="1"/>
            <a:r>
              <a:t>Advantages</a:t>
            </a:r>
          </a:p>
          <a:p>
            <a:pPr lvl="2"/>
            <a:r>
              <a:t>Easy to setup</a:t>
            </a:r>
          </a:p>
          <a:p>
            <a:pPr lvl="2"/>
            <a:r>
              <a:t>One cable can not crash network</a:t>
            </a:r>
          </a:p>
          <a:p>
            <a:pPr lvl="1"/>
            <a:r>
              <a:t>Disadvantages</a:t>
            </a:r>
          </a:p>
          <a:p>
            <a:pPr lvl="2"/>
            <a:r>
              <a:t>One hub crashing downs entire network</a:t>
            </a:r>
          </a:p>
          <a:p>
            <a:pPr lvl="2"/>
            <a:r>
              <a:t>Uses lots of cable</a:t>
            </a:r>
          </a:p>
          <a:p>
            <a:pPr lvl="1"/>
            <a:r>
              <a:t>Most common topology</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111</a:t>
            </a:fld>
            <a:endParaRPr lang="en-US" sz="1400" b="1">
              <a:solidFill>
                <a:schemeClr val="bg1"/>
              </a:solidFill>
              <a:effectLst/>
            </a:endParaRPr>
          </a:p>
        </p:txBody>
      </p:sp>
      <p:sp>
        <p:nvSpPr>
          <p:cNvPr id="80898" name="Title 80897"/>
          <p:cNvSpPr>
            <a:spLocks noGrp="1"/>
          </p:cNvSpPr>
          <p:nvPr>
            <p:ph type="title"/>
          </p:nvPr>
        </p:nvSpPr>
        <p:spPr/>
        <p:txBody>
          <a:bodyPr anchor="ctr" anchorCtr="0"/>
          <a:lstStyle/>
          <a:p>
            <a:r>
              <a:t>Star Topology</a:t>
            </a:r>
          </a:p>
        </p:txBody>
      </p:sp>
      <p:pic>
        <p:nvPicPr>
          <p:cNvPr id="80900" name="Picture 80899" descr="D:\My Documents\!books\norton im\chapter 9\star.tif"/>
          <p:cNvPicPr>
            <a:picLocks noChangeAspect="1"/>
          </p:cNvPicPr>
          <p:nvPr/>
        </p:nvPicPr>
        <p:blipFill>
          <a:blip r:embed="rId2"/>
          <a:stretch>
            <a:fillRect/>
          </a:stretch>
        </p:blipFill>
        <p:spPr>
          <a:xfrm>
            <a:off x="2286000" y="1600200"/>
            <a:ext cx="4876800" cy="4838700"/>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112</a:t>
            </a:fld>
            <a:endParaRPr lang="en-US" sz="1400" b="1">
              <a:solidFill>
                <a:schemeClr val="bg1"/>
              </a:solidFill>
              <a:effectLst/>
            </a:endParaRPr>
          </a:p>
        </p:txBody>
      </p:sp>
      <p:sp>
        <p:nvSpPr>
          <p:cNvPr id="43010" name="Title 43009"/>
          <p:cNvSpPr>
            <a:spLocks noGrp="1"/>
          </p:cNvSpPr>
          <p:nvPr>
            <p:ph type="title"/>
          </p:nvPr>
        </p:nvSpPr>
        <p:spPr/>
        <p:txBody>
          <a:bodyPr anchor="ctr" anchorCtr="0"/>
          <a:lstStyle/>
          <a:p>
            <a:r>
              <a:t>Network Topologies</a:t>
            </a:r>
          </a:p>
        </p:txBody>
      </p:sp>
      <p:sp>
        <p:nvSpPr>
          <p:cNvPr id="43011" name="Text Placeholder 43010"/>
          <p:cNvSpPr>
            <a:spLocks noGrp="1"/>
          </p:cNvSpPr>
          <p:nvPr>
            <p:ph type="body" idx="1"/>
          </p:nvPr>
        </p:nvSpPr>
        <p:spPr/>
        <p:txBody>
          <a:bodyPr/>
          <a:lstStyle/>
          <a:p>
            <a:r>
              <a:t>Ring topology</a:t>
            </a:r>
          </a:p>
          <a:p>
            <a:pPr lvl="1"/>
            <a:r>
              <a:t>Nodes connected in a circle</a:t>
            </a:r>
          </a:p>
          <a:p>
            <a:pPr lvl="1"/>
            <a:r>
              <a:t>Tokens used to transmit data</a:t>
            </a:r>
          </a:p>
          <a:p>
            <a:pPr lvl="2"/>
            <a:r>
              <a:t>Nodes must wait for token to send</a:t>
            </a:r>
          </a:p>
          <a:p>
            <a:pPr lvl="1"/>
            <a:r>
              <a:t>Advantages</a:t>
            </a:r>
          </a:p>
          <a:p>
            <a:pPr lvl="2"/>
            <a:r>
              <a:t>Time to send data is known</a:t>
            </a:r>
          </a:p>
          <a:p>
            <a:pPr lvl="2"/>
            <a:r>
              <a:t>No data collisions</a:t>
            </a:r>
          </a:p>
          <a:p>
            <a:pPr lvl="1"/>
            <a:r>
              <a:t>Disadvantages</a:t>
            </a:r>
          </a:p>
          <a:p>
            <a:pPr lvl="2"/>
            <a:r>
              <a:t>Slow</a:t>
            </a:r>
          </a:p>
          <a:p>
            <a:pPr lvl="2"/>
            <a:r>
              <a:t>Lots of cable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113</a:t>
            </a:fld>
            <a:endParaRPr lang="en-US" sz="1400" b="1">
              <a:solidFill>
                <a:schemeClr val="bg1"/>
              </a:solidFill>
              <a:effectLst/>
            </a:endParaRPr>
          </a:p>
        </p:txBody>
      </p:sp>
      <p:sp>
        <p:nvSpPr>
          <p:cNvPr id="44034" name="Title 44033"/>
          <p:cNvSpPr>
            <a:spLocks noGrp="1"/>
          </p:cNvSpPr>
          <p:nvPr>
            <p:ph type="title"/>
          </p:nvPr>
        </p:nvSpPr>
        <p:spPr/>
        <p:txBody>
          <a:bodyPr anchor="ctr" anchorCtr="0"/>
          <a:lstStyle/>
          <a:p>
            <a:r>
              <a:t>Network Topologies</a:t>
            </a:r>
          </a:p>
        </p:txBody>
      </p:sp>
      <p:sp>
        <p:nvSpPr>
          <p:cNvPr id="44035" name="Text Placeholder 44034"/>
          <p:cNvSpPr>
            <a:spLocks noGrp="1"/>
          </p:cNvSpPr>
          <p:nvPr>
            <p:ph type="body" idx="1"/>
          </p:nvPr>
        </p:nvSpPr>
        <p:spPr/>
        <p:txBody>
          <a:bodyPr/>
          <a:lstStyle/>
          <a:p>
            <a:r>
              <a:t>Mesh topology</a:t>
            </a:r>
          </a:p>
          <a:p>
            <a:pPr lvl="1"/>
            <a:r>
              <a:t>All computers connected together</a:t>
            </a:r>
          </a:p>
          <a:p>
            <a:pPr lvl="1"/>
            <a:r>
              <a:t>Internet is a mesh network</a:t>
            </a:r>
          </a:p>
          <a:p>
            <a:pPr lvl="1"/>
            <a:r>
              <a:t>Advantage</a:t>
            </a:r>
          </a:p>
          <a:p>
            <a:pPr lvl="2"/>
            <a:r>
              <a:t>Data will always be delivered</a:t>
            </a:r>
          </a:p>
          <a:p>
            <a:pPr lvl="1"/>
            <a:r>
              <a:t>Disadvantages</a:t>
            </a:r>
          </a:p>
          <a:p>
            <a:pPr lvl="2"/>
            <a:r>
              <a:t>Lots of cable</a:t>
            </a:r>
          </a:p>
          <a:p>
            <a:pPr lvl="2"/>
            <a:r>
              <a:t>Hard to setup</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114</a:t>
            </a:fld>
            <a:endParaRPr lang="en-US" sz="1400" b="1">
              <a:solidFill>
                <a:schemeClr val="bg1"/>
              </a:solidFill>
              <a:effectLst/>
            </a:endParaRPr>
          </a:p>
        </p:txBody>
      </p:sp>
      <p:sp>
        <p:nvSpPr>
          <p:cNvPr id="82946" name="Title 82945"/>
          <p:cNvSpPr>
            <a:spLocks noGrp="1"/>
          </p:cNvSpPr>
          <p:nvPr>
            <p:ph type="title"/>
          </p:nvPr>
        </p:nvSpPr>
        <p:spPr/>
        <p:txBody>
          <a:bodyPr anchor="ctr" anchorCtr="0"/>
          <a:lstStyle/>
          <a:p>
            <a:r>
              <a:t>Mesh Topology</a:t>
            </a:r>
          </a:p>
        </p:txBody>
      </p:sp>
      <p:pic>
        <p:nvPicPr>
          <p:cNvPr id="82947" name="Picture 82946" descr="D:\My Documents\!books\norton im\chapter 9\mesh.tif"/>
          <p:cNvPicPr>
            <a:picLocks noChangeAspect="1"/>
          </p:cNvPicPr>
          <p:nvPr/>
        </p:nvPicPr>
        <p:blipFill>
          <a:blip r:embed="rId2"/>
          <a:stretch>
            <a:fillRect/>
          </a:stretch>
        </p:blipFill>
        <p:spPr>
          <a:xfrm>
            <a:off x="1371600" y="1752600"/>
            <a:ext cx="6934200" cy="4702175"/>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115</a:t>
            </a:fld>
            <a:endParaRPr lang="en-US" sz="1400" b="1">
              <a:solidFill>
                <a:schemeClr val="bg1"/>
              </a:solidFill>
              <a:effectLst/>
            </a:endParaRPr>
          </a:p>
        </p:txBody>
      </p:sp>
      <p:sp>
        <p:nvSpPr>
          <p:cNvPr id="45058" name="Title 45057"/>
          <p:cNvSpPr>
            <a:spLocks noGrp="1"/>
          </p:cNvSpPr>
          <p:nvPr>
            <p:ph type="title"/>
          </p:nvPr>
        </p:nvSpPr>
        <p:spPr/>
        <p:txBody>
          <a:bodyPr anchor="ctr" anchorCtr="0"/>
          <a:lstStyle/>
          <a:p>
            <a:r>
              <a:t>Network Media</a:t>
            </a:r>
          </a:p>
        </p:txBody>
      </p:sp>
      <p:sp>
        <p:nvSpPr>
          <p:cNvPr id="45059" name="Text Placeholder 45058"/>
          <p:cNvSpPr>
            <a:spLocks noGrp="1"/>
          </p:cNvSpPr>
          <p:nvPr>
            <p:ph type="body" idx="1"/>
          </p:nvPr>
        </p:nvSpPr>
        <p:spPr/>
        <p:txBody>
          <a:bodyPr/>
          <a:lstStyle/>
          <a:p>
            <a:r>
              <a:t>Links that connect nodes</a:t>
            </a:r>
          </a:p>
          <a:p>
            <a:r>
              <a:t>Choice impacts</a:t>
            </a:r>
          </a:p>
          <a:p>
            <a:pPr lvl="1"/>
            <a:r>
              <a:t>Speed</a:t>
            </a:r>
          </a:p>
          <a:p>
            <a:pPr lvl="1"/>
            <a:r>
              <a:t>Security</a:t>
            </a:r>
          </a:p>
          <a:p>
            <a:pPr lvl="1"/>
            <a:r>
              <a:t>Size</a:t>
            </a:r>
          </a:p>
          <a:p>
            <a:pPr>
              <a:buNone/>
            </a:pP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116</a:t>
            </a:fld>
            <a:endParaRPr lang="en-US" sz="1400" b="1">
              <a:solidFill>
                <a:schemeClr val="bg1"/>
              </a:solidFill>
              <a:effectLst/>
            </a:endParaRPr>
          </a:p>
        </p:txBody>
      </p:sp>
      <p:sp>
        <p:nvSpPr>
          <p:cNvPr id="46082" name="Title 46081"/>
          <p:cNvSpPr>
            <a:spLocks noGrp="1"/>
          </p:cNvSpPr>
          <p:nvPr>
            <p:ph type="title"/>
          </p:nvPr>
        </p:nvSpPr>
        <p:spPr/>
        <p:txBody>
          <a:bodyPr anchor="ctr" anchorCtr="0"/>
          <a:lstStyle/>
          <a:p>
            <a:r>
              <a:t>Wire Based Media</a:t>
            </a:r>
          </a:p>
        </p:txBody>
      </p:sp>
      <p:sp>
        <p:nvSpPr>
          <p:cNvPr id="46083" name="Text Placeholder 46082"/>
          <p:cNvSpPr>
            <a:spLocks noGrp="1"/>
          </p:cNvSpPr>
          <p:nvPr>
            <p:ph type="body" sz="half" idx="1"/>
          </p:nvPr>
        </p:nvSpPr>
        <p:spPr>
          <a:xfrm>
            <a:off x="1143000" y="1295400"/>
            <a:ext cx="3962400" cy="5410200"/>
          </a:xfrm>
        </p:spPr>
        <p:txBody>
          <a:bodyPr/>
          <a:lstStyle/>
          <a:p>
            <a:pPr>
              <a:buClrTx/>
              <a:buSzTx/>
              <a:buFontTx/>
            </a:pPr>
            <a:r>
              <a:rPr sz="2800"/>
              <a:t>Twisted-pair cabling</a:t>
            </a:r>
          </a:p>
          <a:p>
            <a:pPr lvl="1"/>
            <a:r>
              <a:rPr sz="2400"/>
              <a:t>Most common LAN cable</a:t>
            </a:r>
          </a:p>
          <a:p>
            <a:pPr lvl="1"/>
            <a:r>
              <a:rPr sz="2400"/>
              <a:t>Called Cat5 or 100BaseT</a:t>
            </a:r>
          </a:p>
          <a:p>
            <a:pPr lvl="1"/>
            <a:r>
              <a:rPr sz="2400"/>
              <a:t>Four pairs of copper cable twisted</a:t>
            </a:r>
          </a:p>
          <a:p>
            <a:pPr lvl="1"/>
            <a:r>
              <a:rPr sz="2400"/>
              <a:t>May be shielded from interference</a:t>
            </a:r>
          </a:p>
          <a:p>
            <a:pPr lvl="1"/>
            <a:r>
              <a:rPr sz="2400"/>
              <a:t>Speeds range from </a:t>
            </a:r>
            <a:br>
              <a:rPr sz="2400"/>
            </a:br>
            <a:r>
              <a:rPr sz="2400"/>
              <a:t>1 Mbps to 1,000 Mbps</a:t>
            </a:r>
          </a:p>
        </p:txBody>
      </p:sp>
      <p:pic>
        <p:nvPicPr>
          <p:cNvPr id="46084" name="Picture 46083" descr="D:\My Documents\!books\norton im\chapter 9\twistedpair.tif"/>
          <p:cNvPicPr>
            <a:picLocks noChangeAspect="1"/>
          </p:cNvPicPr>
          <p:nvPr/>
        </p:nvPicPr>
        <p:blipFill>
          <a:blip r:embed="rId3"/>
          <a:stretch>
            <a:fillRect/>
          </a:stretch>
        </p:blipFill>
        <p:spPr>
          <a:xfrm>
            <a:off x="5257800" y="2057400"/>
            <a:ext cx="3505200" cy="3355975"/>
          </a:xfrm>
          <a:prstGeom prst="rect">
            <a:avLst/>
          </a:prstGeom>
          <a:noFill/>
          <a:ln w="9525">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117</a:t>
            </a:fld>
            <a:endParaRPr lang="en-US" sz="1400" b="1">
              <a:solidFill>
                <a:schemeClr val="bg1"/>
              </a:solidFill>
              <a:effectLst/>
            </a:endParaRPr>
          </a:p>
        </p:txBody>
      </p:sp>
      <p:sp>
        <p:nvSpPr>
          <p:cNvPr id="47106" name="Title 47105"/>
          <p:cNvSpPr>
            <a:spLocks noGrp="1"/>
          </p:cNvSpPr>
          <p:nvPr>
            <p:ph type="title"/>
          </p:nvPr>
        </p:nvSpPr>
        <p:spPr/>
        <p:txBody>
          <a:bodyPr anchor="ctr" anchorCtr="0"/>
          <a:lstStyle/>
          <a:p>
            <a:r>
              <a:t>Wire Based Media</a:t>
            </a:r>
          </a:p>
        </p:txBody>
      </p:sp>
      <p:sp>
        <p:nvSpPr>
          <p:cNvPr id="47107" name="Text Placeholder 47106"/>
          <p:cNvSpPr>
            <a:spLocks noGrp="1"/>
          </p:cNvSpPr>
          <p:nvPr>
            <p:ph type="body" idx="1"/>
          </p:nvPr>
        </p:nvSpPr>
        <p:spPr/>
        <p:txBody>
          <a:bodyPr/>
          <a:lstStyle/>
          <a:p>
            <a:r>
              <a:t>Coaxial cable</a:t>
            </a:r>
          </a:p>
          <a:p>
            <a:pPr lvl="1"/>
            <a:r>
              <a:t>Similar to cable TV wire</a:t>
            </a:r>
          </a:p>
          <a:p>
            <a:pPr lvl="1"/>
            <a:r>
              <a:t>One wire runs through cable</a:t>
            </a:r>
          </a:p>
          <a:p>
            <a:pPr lvl="1"/>
            <a:r>
              <a:t>Shielded from interference</a:t>
            </a:r>
          </a:p>
          <a:p>
            <a:pPr lvl="1"/>
            <a:r>
              <a:t>Speeds up to 10 Mbps</a:t>
            </a:r>
          </a:p>
          <a:p>
            <a:pPr lvl="1"/>
            <a:r>
              <a:t>Nearly obsolete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118</a:t>
            </a:fld>
            <a:endParaRPr lang="en-US" sz="1400" b="1">
              <a:solidFill>
                <a:schemeClr val="bg1"/>
              </a:solidFill>
              <a:effectLst/>
            </a:endParaRPr>
          </a:p>
        </p:txBody>
      </p:sp>
      <p:sp>
        <p:nvSpPr>
          <p:cNvPr id="48130" name="Title 48129"/>
          <p:cNvSpPr>
            <a:spLocks noGrp="1"/>
          </p:cNvSpPr>
          <p:nvPr>
            <p:ph type="title"/>
          </p:nvPr>
        </p:nvSpPr>
        <p:spPr/>
        <p:txBody>
          <a:bodyPr anchor="ctr" anchorCtr="0"/>
          <a:lstStyle/>
          <a:p>
            <a:r>
              <a:t>Wire Based Media</a:t>
            </a:r>
          </a:p>
        </p:txBody>
      </p:sp>
      <p:sp>
        <p:nvSpPr>
          <p:cNvPr id="48131" name="Text Placeholder 48130"/>
          <p:cNvSpPr>
            <a:spLocks noGrp="1"/>
          </p:cNvSpPr>
          <p:nvPr>
            <p:ph type="body" sz="half" idx="1"/>
          </p:nvPr>
        </p:nvSpPr>
        <p:spPr>
          <a:xfrm>
            <a:off x="1143000" y="1295400"/>
            <a:ext cx="3848100" cy="5410200"/>
          </a:xfrm>
        </p:spPr>
        <p:txBody>
          <a:bodyPr/>
          <a:lstStyle/>
          <a:p>
            <a:pPr>
              <a:buClrTx/>
              <a:buSzTx/>
              <a:buFontTx/>
            </a:pPr>
            <a:r>
              <a:rPr sz="2800"/>
              <a:t>Fiber-optic cable</a:t>
            </a:r>
          </a:p>
          <a:p>
            <a:pPr lvl="1"/>
            <a:r>
              <a:rPr sz="2400"/>
              <a:t>Data is transmitted with light pulses</a:t>
            </a:r>
          </a:p>
          <a:p>
            <a:pPr lvl="1"/>
            <a:r>
              <a:rPr sz="2400"/>
              <a:t>Glass strand instead of cable</a:t>
            </a:r>
          </a:p>
          <a:p>
            <a:pPr lvl="1"/>
            <a:r>
              <a:rPr sz="2400"/>
              <a:t>Immune to interference</a:t>
            </a:r>
          </a:p>
          <a:p>
            <a:pPr lvl="1"/>
            <a:r>
              <a:rPr sz="2400"/>
              <a:t>Very secure</a:t>
            </a:r>
          </a:p>
          <a:p>
            <a:pPr lvl="1"/>
            <a:r>
              <a:rPr sz="2400"/>
              <a:t>Hard to work with</a:t>
            </a:r>
          </a:p>
          <a:p>
            <a:pPr lvl="1"/>
            <a:r>
              <a:rPr sz="2400"/>
              <a:t>Speeds up to</a:t>
            </a:r>
            <a:br>
              <a:rPr sz="2400"/>
            </a:br>
            <a:r>
              <a:rPr sz="2400"/>
              <a:t>100 </a:t>
            </a:r>
            <a:r>
              <a:rPr sz="2400" err="1"/>
              <a:t>Gbps</a:t>
            </a:r>
            <a:endParaRPr sz="2400"/>
          </a:p>
        </p:txBody>
      </p:sp>
      <p:pic>
        <p:nvPicPr>
          <p:cNvPr id="48133" name="Picture 48132" descr="D:\My Documents\!books\norton im\chapter 9\fibger.tif"/>
          <p:cNvPicPr>
            <a:picLocks noChangeAspect="1"/>
          </p:cNvPicPr>
          <p:nvPr/>
        </p:nvPicPr>
        <p:blipFill>
          <a:blip r:embed="rId3"/>
          <a:stretch>
            <a:fillRect/>
          </a:stretch>
        </p:blipFill>
        <p:spPr>
          <a:xfrm>
            <a:off x="5029200" y="1981200"/>
            <a:ext cx="3733800" cy="3576638"/>
          </a:xfrm>
          <a:prstGeom prst="rect">
            <a:avLst/>
          </a:prstGeom>
          <a:noFill/>
          <a:ln w="9525">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119</a:t>
            </a:fld>
            <a:endParaRPr lang="en-US" sz="1400" b="1">
              <a:solidFill>
                <a:schemeClr val="bg1"/>
              </a:solidFill>
              <a:effectLst/>
            </a:endParaRPr>
          </a:p>
        </p:txBody>
      </p:sp>
      <p:sp>
        <p:nvSpPr>
          <p:cNvPr id="51202" name="Title 51201"/>
          <p:cNvSpPr>
            <a:spLocks noGrp="1"/>
          </p:cNvSpPr>
          <p:nvPr>
            <p:ph type="title"/>
          </p:nvPr>
        </p:nvSpPr>
        <p:spPr/>
        <p:txBody>
          <a:bodyPr anchor="ctr" anchorCtr="0"/>
          <a:lstStyle/>
          <a:p>
            <a:r>
              <a:t>Wireless Media</a:t>
            </a:r>
          </a:p>
        </p:txBody>
      </p:sp>
      <p:sp>
        <p:nvSpPr>
          <p:cNvPr id="51203" name="Text Placeholder 51202"/>
          <p:cNvSpPr>
            <a:spLocks noGrp="1"/>
          </p:cNvSpPr>
          <p:nvPr>
            <p:ph type="body" idx="1"/>
          </p:nvPr>
        </p:nvSpPr>
        <p:spPr/>
        <p:txBody>
          <a:bodyPr/>
          <a:lstStyle/>
          <a:p>
            <a:r>
              <a:t>Data transmitted through the air</a:t>
            </a:r>
          </a:p>
          <a:p>
            <a:r>
              <a:t>LANs use radio waves</a:t>
            </a:r>
          </a:p>
          <a:p>
            <a:r>
              <a:t>WANs use microwave signals</a:t>
            </a:r>
          </a:p>
          <a:p>
            <a:r>
              <a:t>Easy to setup</a:t>
            </a:r>
          </a:p>
          <a:p>
            <a:r>
              <a:t>Difficult to secure</a:t>
            </a:r>
          </a:p>
        </p:txBody>
      </p:sp>
      <p:pic>
        <p:nvPicPr>
          <p:cNvPr id="51204" name="Picture 51203" descr="D:\My Documents\!books\norton im\chapter 9\wireless.tif"/>
          <p:cNvPicPr>
            <a:picLocks noChangeAspect="1"/>
          </p:cNvPicPr>
          <p:nvPr/>
        </p:nvPicPr>
        <p:blipFill>
          <a:blip r:embed="rId3"/>
          <a:stretch>
            <a:fillRect/>
          </a:stretch>
        </p:blipFill>
        <p:spPr>
          <a:xfrm>
            <a:off x="5181600" y="3276600"/>
            <a:ext cx="3289300" cy="3175000"/>
          </a:xfrm>
          <a:prstGeom prst="rect">
            <a:avLst/>
          </a:prstGeom>
          <a:noFill/>
          <a:ln w="9525">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120</a:t>
            </a:fld>
            <a:endParaRPr lang="en-US" sz="1400" b="1">
              <a:solidFill>
                <a:schemeClr val="bg1"/>
              </a:solidFill>
              <a:effectLst/>
            </a:endParaRPr>
          </a:p>
        </p:txBody>
      </p:sp>
      <p:sp>
        <p:nvSpPr>
          <p:cNvPr id="53250" name="Title 53249"/>
          <p:cNvSpPr>
            <a:spLocks noGrp="1"/>
          </p:cNvSpPr>
          <p:nvPr>
            <p:ph type="title"/>
          </p:nvPr>
        </p:nvSpPr>
        <p:spPr/>
        <p:txBody>
          <a:bodyPr anchor="ctr" anchorCtr="0"/>
          <a:lstStyle/>
          <a:p>
            <a:r>
              <a:t>Network Hardware</a:t>
            </a:r>
          </a:p>
        </p:txBody>
      </p:sp>
      <p:sp>
        <p:nvSpPr>
          <p:cNvPr id="53251" name="Text Placeholder 53250"/>
          <p:cNvSpPr>
            <a:spLocks noGrp="1"/>
          </p:cNvSpPr>
          <p:nvPr>
            <p:ph type="body" idx="1"/>
          </p:nvPr>
        </p:nvSpPr>
        <p:spPr/>
        <p:txBody>
          <a:bodyPr/>
          <a:lstStyle/>
          <a:p>
            <a:r>
              <a:t>Network interface cards</a:t>
            </a:r>
          </a:p>
          <a:p>
            <a:pPr lvl="1"/>
            <a:r>
              <a:t>Network adapter</a:t>
            </a:r>
          </a:p>
          <a:p>
            <a:pPr lvl="1"/>
            <a:r>
              <a:t>Connects node to the media</a:t>
            </a:r>
          </a:p>
          <a:p>
            <a:pPr lvl="1"/>
            <a:r>
              <a:t>Unique Machine Access Code (MAC)</a:t>
            </a:r>
          </a:p>
        </p:txBody>
      </p:sp>
      <p:pic>
        <p:nvPicPr>
          <p:cNvPr id="53252" name="Picture 53251" descr="D:\My Documents\!books\norton im\chapter 9\NIC.tif"/>
          <p:cNvPicPr>
            <a:picLocks noChangeAspect="1"/>
          </p:cNvPicPr>
          <p:nvPr/>
        </p:nvPicPr>
        <p:blipFill>
          <a:blip r:embed="rId3"/>
          <a:stretch>
            <a:fillRect/>
          </a:stretch>
        </p:blipFill>
        <p:spPr>
          <a:xfrm>
            <a:off x="2667000" y="3733800"/>
            <a:ext cx="3657600" cy="2322513"/>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121</a:t>
            </a:fld>
            <a:endParaRPr lang="en-US" sz="1400" b="1">
              <a:solidFill>
                <a:schemeClr val="bg1"/>
              </a:solidFill>
              <a:effectLst/>
            </a:endParaRPr>
          </a:p>
        </p:txBody>
      </p:sp>
      <p:sp>
        <p:nvSpPr>
          <p:cNvPr id="55298" name="Title 55297"/>
          <p:cNvSpPr>
            <a:spLocks noGrp="1"/>
          </p:cNvSpPr>
          <p:nvPr>
            <p:ph type="title"/>
          </p:nvPr>
        </p:nvSpPr>
        <p:spPr/>
        <p:txBody>
          <a:bodyPr anchor="ctr" anchorCtr="0"/>
          <a:lstStyle/>
          <a:p>
            <a:r>
              <a:t>Network Hardware</a:t>
            </a:r>
          </a:p>
        </p:txBody>
      </p:sp>
      <p:sp>
        <p:nvSpPr>
          <p:cNvPr id="55299" name="Text Placeholder 55298"/>
          <p:cNvSpPr>
            <a:spLocks noGrp="1"/>
          </p:cNvSpPr>
          <p:nvPr>
            <p:ph type="body" idx="1"/>
          </p:nvPr>
        </p:nvSpPr>
        <p:spPr/>
        <p:txBody>
          <a:bodyPr/>
          <a:lstStyle/>
          <a:p>
            <a:r>
              <a:t>Network linking devices</a:t>
            </a:r>
          </a:p>
          <a:p>
            <a:pPr lvl="1"/>
            <a:r>
              <a:t>Connect nodes in the network</a:t>
            </a:r>
          </a:p>
          <a:p>
            <a:pPr lvl="1"/>
            <a:r>
              <a:t>Cable runs from node to device</a:t>
            </a:r>
          </a:p>
          <a:p>
            <a:pPr lvl="1"/>
            <a:r>
              <a:t>Crossover cable connects two computers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122</a:t>
            </a:fld>
            <a:endParaRPr lang="en-US" sz="1400" b="1">
              <a:solidFill>
                <a:schemeClr val="bg1"/>
              </a:solidFill>
              <a:effectLst/>
            </a:endParaRPr>
          </a:p>
        </p:txBody>
      </p:sp>
      <p:sp>
        <p:nvSpPr>
          <p:cNvPr id="56322" name="Title 56321"/>
          <p:cNvSpPr>
            <a:spLocks noGrp="1"/>
          </p:cNvSpPr>
          <p:nvPr>
            <p:ph type="title"/>
          </p:nvPr>
        </p:nvSpPr>
        <p:spPr/>
        <p:txBody>
          <a:bodyPr anchor="ctr" anchorCtr="0"/>
          <a:lstStyle/>
          <a:p>
            <a:r>
              <a:t>Network Hardware</a:t>
            </a:r>
          </a:p>
        </p:txBody>
      </p:sp>
      <p:sp>
        <p:nvSpPr>
          <p:cNvPr id="56323" name="Text Placeholder 56322"/>
          <p:cNvSpPr>
            <a:spLocks noGrp="1"/>
          </p:cNvSpPr>
          <p:nvPr>
            <p:ph type="body" idx="1"/>
          </p:nvPr>
        </p:nvSpPr>
        <p:spPr/>
        <p:txBody>
          <a:bodyPr/>
          <a:lstStyle/>
          <a:p>
            <a:r>
              <a:t>Hubs</a:t>
            </a:r>
          </a:p>
          <a:p>
            <a:pPr lvl="1"/>
            <a:r>
              <a:t>Center of a star network</a:t>
            </a:r>
          </a:p>
          <a:p>
            <a:pPr lvl="1"/>
            <a:r>
              <a:t>All nodes receive transmitted packets</a:t>
            </a:r>
          </a:p>
          <a:p>
            <a:pPr lvl="1"/>
            <a:r>
              <a:t>Slow and insecure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123</a:t>
            </a:fld>
            <a:endParaRPr lang="en-US" sz="1400" b="1">
              <a:solidFill>
                <a:schemeClr val="bg1"/>
              </a:solidFill>
              <a:effectLst/>
            </a:endParaRPr>
          </a:p>
        </p:txBody>
      </p:sp>
      <p:sp>
        <p:nvSpPr>
          <p:cNvPr id="57346" name="Title 57345"/>
          <p:cNvSpPr>
            <a:spLocks noGrp="1"/>
          </p:cNvSpPr>
          <p:nvPr>
            <p:ph type="title"/>
          </p:nvPr>
        </p:nvSpPr>
        <p:spPr/>
        <p:txBody>
          <a:bodyPr anchor="ctr" anchorCtr="0"/>
          <a:lstStyle/>
          <a:p>
            <a:r>
              <a:t>Network Hardware</a:t>
            </a:r>
          </a:p>
        </p:txBody>
      </p:sp>
      <p:sp>
        <p:nvSpPr>
          <p:cNvPr id="57347" name="Text Placeholder 57346"/>
          <p:cNvSpPr>
            <a:spLocks noGrp="1"/>
          </p:cNvSpPr>
          <p:nvPr>
            <p:ph type="body" idx="1"/>
          </p:nvPr>
        </p:nvSpPr>
        <p:spPr/>
        <p:txBody>
          <a:bodyPr/>
          <a:lstStyle/>
          <a:p>
            <a:r>
              <a:t>Switches</a:t>
            </a:r>
          </a:p>
          <a:p>
            <a:pPr lvl="1"/>
            <a:r>
              <a:t>Replacement for hubs</a:t>
            </a:r>
          </a:p>
          <a:p>
            <a:pPr lvl="1"/>
            <a:r>
              <a:t>Only intended node receives transmission</a:t>
            </a:r>
          </a:p>
          <a:p>
            <a:pPr lvl="1"/>
            <a:r>
              <a:t>Fast and secure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124</a:t>
            </a:fld>
            <a:endParaRPr lang="en-US" sz="1400" b="1">
              <a:solidFill>
                <a:schemeClr val="bg1"/>
              </a:solidFill>
              <a:effectLst/>
            </a:endParaRPr>
          </a:p>
        </p:txBody>
      </p:sp>
      <p:sp>
        <p:nvSpPr>
          <p:cNvPr id="59394" name="Title 59393"/>
          <p:cNvSpPr>
            <a:spLocks noGrp="1"/>
          </p:cNvSpPr>
          <p:nvPr>
            <p:ph type="title"/>
          </p:nvPr>
        </p:nvSpPr>
        <p:spPr/>
        <p:txBody>
          <a:bodyPr anchor="ctr" anchorCtr="0"/>
          <a:lstStyle/>
          <a:p>
            <a:r>
              <a:t>Network Hardware</a:t>
            </a:r>
          </a:p>
        </p:txBody>
      </p:sp>
      <p:sp>
        <p:nvSpPr>
          <p:cNvPr id="59395" name="Text Placeholder 59394"/>
          <p:cNvSpPr>
            <a:spLocks noGrp="1"/>
          </p:cNvSpPr>
          <p:nvPr>
            <p:ph type="body" idx="1"/>
          </p:nvPr>
        </p:nvSpPr>
        <p:spPr/>
        <p:txBody>
          <a:bodyPr/>
          <a:lstStyle/>
          <a:p>
            <a:r>
              <a:t>Bridge</a:t>
            </a:r>
          </a:p>
          <a:p>
            <a:pPr lvl="1"/>
            <a:r>
              <a:t>Connects two or more LANs together</a:t>
            </a:r>
          </a:p>
          <a:p>
            <a:pPr lvl="1"/>
            <a:r>
              <a:t>Packets sent to remote LAN cross</a:t>
            </a:r>
          </a:p>
          <a:p>
            <a:pPr lvl="2"/>
            <a:r>
              <a:t>Other packets do not cross</a:t>
            </a:r>
          </a:p>
          <a:p>
            <a:pPr lvl="1"/>
            <a:r>
              <a:t>Segments the network on MAC addresses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125</a:t>
            </a:fld>
            <a:endParaRPr lang="en-US" sz="1400" b="1">
              <a:solidFill>
                <a:schemeClr val="bg1"/>
              </a:solidFill>
              <a:effectLst/>
            </a:endParaRPr>
          </a:p>
        </p:txBody>
      </p:sp>
      <p:sp>
        <p:nvSpPr>
          <p:cNvPr id="60418" name="Title 60417"/>
          <p:cNvSpPr>
            <a:spLocks noGrp="1"/>
          </p:cNvSpPr>
          <p:nvPr>
            <p:ph type="title"/>
          </p:nvPr>
        </p:nvSpPr>
        <p:spPr/>
        <p:txBody>
          <a:bodyPr anchor="ctr" anchorCtr="0"/>
          <a:lstStyle/>
          <a:p>
            <a:r>
              <a:t>Network Hardware</a:t>
            </a:r>
          </a:p>
        </p:txBody>
      </p:sp>
      <p:sp>
        <p:nvSpPr>
          <p:cNvPr id="60419" name="Text Placeholder 60418"/>
          <p:cNvSpPr>
            <a:spLocks noGrp="1"/>
          </p:cNvSpPr>
          <p:nvPr>
            <p:ph type="body" idx="1"/>
          </p:nvPr>
        </p:nvSpPr>
        <p:spPr/>
        <p:txBody>
          <a:bodyPr/>
          <a:lstStyle/>
          <a:p>
            <a:r>
              <a:t>Router</a:t>
            </a:r>
          </a:p>
          <a:p>
            <a:pPr lvl="1"/>
            <a:r>
              <a:t>Connects two or more LANs together</a:t>
            </a:r>
          </a:p>
          <a:p>
            <a:pPr lvl="1"/>
            <a:r>
              <a:t>Packets sent to remote LAN cross</a:t>
            </a:r>
          </a:p>
          <a:p>
            <a:pPr lvl="1"/>
            <a:r>
              <a:t>Network is segmented by IP address</a:t>
            </a:r>
          </a:p>
          <a:p>
            <a:pPr lvl="1"/>
            <a:r>
              <a:t>Connect internal networks to the Internet</a:t>
            </a:r>
          </a:p>
          <a:p>
            <a:pPr lvl="1"/>
            <a:r>
              <a:t>Need configured before installation</a:t>
            </a:r>
          </a:p>
        </p:txBody>
      </p:sp>
      <p:pic>
        <p:nvPicPr>
          <p:cNvPr id="60420" name="Picture 60419" descr="D:\My Documents\!books\norton im\chapter 9\router.tif"/>
          <p:cNvPicPr>
            <a:picLocks noChangeAspect="1"/>
          </p:cNvPicPr>
          <p:nvPr/>
        </p:nvPicPr>
        <p:blipFill>
          <a:blip r:embed="rId3"/>
          <a:stretch>
            <a:fillRect/>
          </a:stretch>
        </p:blipFill>
        <p:spPr>
          <a:xfrm>
            <a:off x="2743200" y="4495800"/>
            <a:ext cx="3657600" cy="2022475"/>
          </a:xfrm>
          <a:prstGeom prst="rect">
            <a:avLst/>
          </a:prstGeom>
          <a:noFill/>
          <a:ln w="9525">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126</a:t>
            </a:fld>
            <a:endParaRPr lang="en-US" sz="1400" b="1">
              <a:solidFill>
                <a:schemeClr val="bg1"/>
              </a:solidFill>
              <a:effectLst/>
            </a:endParaRPr>
          </a:p>
        </p:txBody>
      </p:sp>
      <p:sp>
        <p:nvSpPr>
          <p:cNvPr id="62466" name="Title 62465"/>
          <p:cNvSpPr>
            <a:spLocks noGrp="1"/>
          </p:cNvSpPr>
          <p:nvPr>
            <p:ph type="title"/>
          </p:nvPr>
        </p:nvSpPr>
        <p:spPr/>
        <p:txBody>
          <a:bodyPr anchor="ctr" anchorCtr="0"/>
          <a:lstStyle/>
          <a:p>
            <a:r>
              <a:t>Network Hardware</a:t>
            </a:r>
          </a:p>
        </p:txBody>
      </p:sp>
      <p:sp>
        <p:nvSpPr>
          <p:cNvPr id="62467" name="Text Placeholder 62466"/>
          <p:cNvSpPr>
            <a:spLocks noGrp="1"/>
          </p:cNvSpPr>
          <p:nvPr>
            <p:ph type="body" idx="1"/>
          </p:nvPr>
        </p:nvSpPr>
        <p:spPr/>
        <p:txBody>
          <a:bodyPr/>
          <a:lstStyle/>
          <a:p>
            <a:r>
              <a:t>Gateway</a:t>
            </a:r>
          </a:p>
          <a:p>
            <a:pPr lvl="1"/>
            <a:r>
              <a:t>Connects two dissimilar networks</a:t>
            </a:r>
          </a:p>
          <a:p>
            <a:pPr lvl="1"/>
            <a:r>
              <a:t>Connects coax to twisted pair</a:t>
            </a:r>
          </a:p>
          <a:p>
            <a:pPr lvl="1"/>
            <a:r>
              <a:t>Most gateways contained in other devices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127</a:t>
            </a:fld>
            <a:endParaRPr lang="en-US" sz="1400" b="1">
              <a:solidFill>
                <a:schemeClr val="bg1"/>
              </a:solidFill>
              <a:effectLst/>
            </a:endParaRPr>
          </a:p>
        </p:txBody>
      </p:sp>
      <p:sp>
        <p:nvSpPr>
          <p:cNvPr id="63490" name="Title 63489"/>
          <p:cNvSpPr>
            <a:spLocks noGrp="1"/>
          </p:cNvSpPr>
          <p:nvPr>
            <p:ph type="title"/>
          </p:nvPr>
        </p:nvSpPr>
        <p:spPr/>
        <p:txBody>
          <a:bodyPr anchor="ctr" anchorCtr="0"/>
          <a:lstStyle/>
          <a:p>
            <a:r>
              <a:t>Network Cabling</a:t>
            </a:r>
          </a:p>
        </p:txBody>
      </p:sp>
      <p:sp>
        <p:nvSpPr>
          <p:cNvPr id="63491" name="Text Placeholder 63490"/>
          <p:cNvSpPr>
            <a:spLocks noGrp="1"/>
          </p:cNvSpPr>
          <p:nvPr>
            <p:ph type="body" idx="1"/>
          </p:nvPr>
        </p:nvSpPr>
        <p:spPr/>
        <p:txBody>
          <a:bodyPr/>
          <a:lstStyle/>
          <a:p>
            <a:r>
              <a:t>Cabling specifications</a:t>
            </a:r>
          </a:p>
          <a:p>
            <a:pPr lvl="1"/>
            <a:r>
              <a:t>Bandwidth measures cable speed</a:t>
            </a:r>
          </a:p>
          <a:p>
            <a:pPr lvl="2"/>
            <a:r>
              <a:t>Typically measured in Mbps</a:t>
            </a:r>
          </a:p>
          <a:p>
            <a:pPr lvl="1"/>
            <a:r>
              <a:t>Maximum cable length</a:t>
            </a:r>
          </a:p>
          <a:p>
            <a:pPr lvl="1"/>
            <a:r>
              <a:t>Connector describes the type of plug</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128</a:t>
            </a:fld>
            <a:endParaRPr lang="en-US" sz="1400" b="1">
              <a:solidFill>
                <a:schemeClr val="bg1"/>
              </a:solidFill>
              <a:effectLst/>
            </a:endParaRPr>
          </a:p>
        </p:txBody>
      </p:sp>
      <p:sp>
        <p:nvSpPr>
          <p:cNvPr id="64514" name="Title 64513"/>
          <p:cNvSpPr>
            <a:spLocks noGrp="1"/>
          </p:cNvSpPr>
          <p:nvPr>
            <p:ph type="title"/>
          </p:nvPr>
        </p:nvSpPr>
        <p:spPr/>
        <p:txBody>
          <a:bodyPr anchor="ctr" anchorCtr="0"/>
          <a:lstStyle/>
          <a:p>
            <a:r>
              <a:t>Network Cabling</a:t>
            </a:r>
          </a:p>
        </p:txBody>
      </p:sp>
      <p:sp>
        <p:nvSpPr>
          <p:cNvPr id="64515" name="Text Placeholder 64514"/>
          <p:cNvSpPr>
            <a:spLocks noGrp="1"/>
          </p:cNvSpPr>
          <p:nvPr>
            <p:ph type="body" idx="1"/>
          </p:nvPr>
        </p:nvSpPr>
        <p:spPr/>
        <p:txBody>
          <a:bodyPr/>
          <a:lstStyle/>
          <a:p>
            <a:r>
              <a:t>Ethernet</a:t>
            </a:r>
          </a:p>
          <a:p>
            <a:pPr lvl="1"/>
            <a:r>
              <a:t>Very popular cabling technology</a:t>
            </a:r>
          </a:p>
          <a:p>
            <a:pPr lvl="1"/>
            <a:r>
              <a:t>10 Base T, 10Base2, 10Base5</a:t>
            </a:r>
          </a:p>
          <a:p>
            <a:pPr lvl="1"/>
            <a:r>
              <a:t>Maximum bandwidth 10 Mbps</a:t>
            </a:r>
          </a:p>
          <a:p>
            <a:pPr lvl="1"/>
            <a:r>
              <a:t>Maximum distances100 to 500 meters</a:t>
            </a:r>
          </a:p>
        </p:txBody>
      </p:sp>
      <p:pic>
        <p:nvPicPr>
          <p:cNvPr id="64516" name="Picture 64515" descr="D:\My Documents\!books\norton im\chapter 9\ethernet.tif"/>
          <p:cNvPicPr>
            <a:picLocks noChangeAspect="1"/>
          </p:cNvPicPr>
          <p:nvPr/>
        </p:nvPicPr>
        <p:blipFill>
          <a:blip r:embed="rId2"/>
          <a:stretch>
            <a:fillRect/>
          </a:stretch>
        </p:blipFill>
        <p:spPr>
          <a:xfrm>
            <a:off x="2743200" y="4267200"/>
            <a:ext cx="3581400" cy="1870075"/>
          </a:xfrm>
          <a:prstGeom prst="rect">
            <a:avLst/>
          </a:prstGeom>
          <a:noFill/>
          <a:ln w="9525">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129</a:t>
            </a:fld>
            <a:endParaRPr lang="en-US" sz="1400" b="1">
              <a:solidFill>
                <a:schemeClr val="bg1"/>
              </a:solidFill>
              <a:effectLst/>
            </a:endParaRPr>
          </a:p>
        </p:txBody>
      </p:sp>
      <p:sp>
        <p:nvSpPr>
          <p:cNvPr id="65538" name="Title 65537"/>
          <p:cNvSpPr>
            <a:spLocks noGrp="1"/>
          </p:cNvSpPr>
          <p:nvPr>
            <p:ph type="title"/>
          </p:nvPr>
        </p:nvSpPr>
        <p:spPr/>
        <p:txBody>
          <a:bodyPr anchor="ctr" anchorCtr="0"/>
          <a:lstStyle/>
          <a:p>
            <a:r>
              <a:t>Network Cabling</a:t>
            </a:r>
          </a:p>
        </p:txBody>
      </p:sp>
      <p:sp>
        <p:nvSpPr>
          <p:cNvPr id="65539" name="Text Placeholder 65538"/>
          <p:cNvSpPr>
            <a:spLocks noGrp="1"/>
          </p:cNvSpPr>
          <p:nvPr>
            <p:ph type="body" idx="1"/>
          </p:nvPr>
        </p:nvSpPr>
        <p:spPr/>
        <p:txBody>
          <a:bodyPr/>
          <a:lstStyle/>
          <a:p>
            <a:r>
              <a:t>Fast Ethernet</a:t>
            </a:r>
          </a:p>
          <a:p>
            <a:pPr lvl="1"/>
            <a:r>
              <a:t>Newer version of Ethernet</a:t>
            </a:r>
          </a:p>
          <a:p>
            <a:pPr lvl="1"/>
            <a:r>
              <a:t>Bandwidth is 100 Mbps</a:t>
            </a:r>
          </a:p>
          <a:p>
            <a:pPr lvl="1"/>
            <a:r>
              <a:t>Uses Cat5 or greater cable</a:t>
            </a:r>
          </a:p>
          <a:p>
            <a:pPr lvl="2"/>
            <a:r>
              <a:t>Sometimes called 100Base T</a:t>
            </a:r>
          </a:p>
          <a:p>
            <a:pPr lvl="1"/>
            <a:r>
              <a:t>Requires a switch</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130</a:t>
            </a:fld>
            <a:endParaRPr lang="en-US" sz="1400" b="1">
              <a:solidFill>
                <a:schemeClr val="bg1"/>
              </a:solidFill>
              <a:effectLst/>
            </a:endParaRPr>
          </a:p>
        </p:txBody>
      </p:sp>
      <p:sp>
        <p:nvSpPr>
          <p:cNvPr id="67586" name="Title 67585"/>
          <p:cNvSpPr>
            <a:spLocks noGrp="1"/>
          </p:cNvSpPr>
          <p:nvPr>
            <p:ph type="title"/>
          </p:nvPr>
        </p:nvSpPr>
        <p:spPr/>
        <p:txBody>
          <a:bodyPr anchor="ctr" anchorCtr="0"/>
          <a:lstStyle/>
          <a:p>
            <a:r>
              <a:t>Network Cabling</a:t>
            </a:r>
          </a:p>
        </p:txBody>
      </p:sp>
      <p:sp>
        <p:nvSpPr>
          <p:cNvPr id="67587" name="Text Placeholder 67586"/>
          <p:cNvSpPr>
            <a:spLocks noGrp="1"/>
          </p:cNvSpPr>
          <p:nvPr>
            <p:ph type="body" idx="1"/>
          </p:nvPr>
        </p:nvSpPr>
        <p:spPr/>
        <p:txBody>
          <a:bodyPr/>
          <a:lstStyle/>
          <a:p>
            <a:r>
              <a:t>Gigabit Ethernet</a:t>
            </a:r>
          </a:p>
          <a:p>
            <a:pPr lvl="1"/>
            <a:r>
              <a:t>High bandwidth version of Ethernet</a:t>
            </a:r>
          </a:p>
          <a:p>
            <a:pPr lvl="1"/>
            <a:r>
              <a:t>1 to 10 Gbps</a:t>
            </a:r>
          </a:p>
          <a:p>
            <a:pPr lvl="1"/>
            <a:r>
              <a:t>Cat 5 or fiber optic cable</a:t>
            </a:r>
          </a:p>
          <a:p>
            <a:pPr lvl="1"/>
            <a:r>
              <a:t>Video applications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131</a:t>
            </a:fld>
            <a:endParaRPr lang="en-US" sz="1400" b="1">
              <a:solidFill>
                <a:schemeClr val="bg1"/>
              </a:solidFill>
              <a:effectLst/>
            </a:endParaRPr>
          </a:p>
        </p:txBody>
      </p:sp>
      <p:sp>
        <p:nvSpPr>
          <p:cNvPr id="68610" name="Title 68609"/>
          <p:cNvSpPr>
            <a:spLocks noGrp="1"/>
          </p:cNvSpPr>
          <p:nvPr>
            <p:ph type="title"/>
          </p:nvPr>
        </p:nvSpPr>
        <p:spPr/>
        <p:txBody>
          <a:bodyPr anchor="ctr" anchorCtr="0"/>
          <a:lstStyle/>
          <a:p>
            <a:r>
              <a:t>Network Cabling</a:t>
            </a:r>
          </a:p>
        </p:txBody>
      </p:sp>
      <p:sp>
        <p:nvSpPr>
          <p:cNvPr id="68611" name="Text Placeholder 68610"/>
          <p:cNvSpPr>
            <a:spLocks noGrp="1"/>
          </p:cNvSpPr>
          <p:nvPr>
            <p:ph type="body" idx="1"/>
          </p:nvPr>
        </p:nvSpPr>
        <p:spPr/>
        <p:txBody>
          <a:bodyPr/>
          <a:lstStyle/>
          <a:p>
            <a:r>
              <a:t>Token ring</a:t>
            </a:r>
          </a:p>
          <a:p>
            <a:pPr lvl="1"/>
            <a:r>
              <a:t>Uses shielded twisted pair cabling</a:t>
            </a:r>
          </a:p>
          <a:p>
            <a:pPr lvl="1"/>
            <a:r>
              <a:t>Bandwidth between 10 and 25 Mbps</a:t>
            </a:r>
          </a:p>
          <a:p>
            <a:pPr lvl="1"/>
            <a:r>
              <a:t>Uses a multiple access unit (MAU)</a:t>
            </a:r>
          </a:p>
          <a:p>
            <a:pPr lvl="1"/>
            <a:r>
              <a:t>Popular in manufacturing and finance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132</a:t>
            </a:fld>
            <a:endParaRPr lang="en-US" sz="1400" b="1">
              <a:solidFill>
                <a:schemeClr val="bg1"/>
              </a:solidFill>
              <a:effectLst/>
            </a:endParaRPr>
          </a:p>
        </p:txBody>
      </p:sp>
      <p:sp>
        <p:nvSpPr>
          <p:cNvPr id="69634" name="Title 69633"/>
          <p:cNvSpPr>
            <a:spLocks noGrp="1"/>
          </p:cNvSpPr>
          <p:nvPr>
            <p:ph type="title"/>
          </p:nvPr>
        </p:nvSpPr>
        <p:spPr/>
        <p:txBody>
          <a:bodyPr anchor="ctr" anchorCtr="0"/>
          <a:lstStyle/>
          <a:p>
            <a:r>
              <a:t>Network Protocols</a:t>
            </a:r>
          </a:p>
        </p:txBody>
      </p:sp>
      <p:sp>
        <p:nvSpPr>
          <p:cNvPr id="69635" name="Text Placeholder 69634"/>
          <p:cNvSpPr>
            <a:spLocks noGrp="1"/>
          </p:cNvSpPr>
          <p:nvPr>
            <p:ph type="body" idx="1"/>
          </p:nvPr>
        </p:nvSpPr>
        <p:spPr/>
        <p:txBody>
          <a:bodyPr/>
          <a:lstStyle/>
          <a:p>
            <a:r>
              <a:t>Language of the network</a:t>
            </a:r>
          </a:p>
          <a:p>
            <a:pPr lvl="1"/>
            <a:r>
              <a:t>Rules of communication</a:t>
            </a:r>
          </a:p>
          <a:p>
            <a:pPr lvl="1"/>
            <a:r>
              <a:t>Error resolution</a:t>
            </a:r>
          </a:p>
          <a:p>
            <a:pPr lvl="1"/>
            <a:r>
              <a:t>Defines collision and collision recovery</a:t>
            </a:r>
          </a:p>
          <a:p>
            <a:pPr lvl="1"/>
            <a:r>
              <a:t>Size of packet</a:t>
            </a:r>
          </a:p>
          <a:p>
            <a:pPr lvl="1"/>
            <a:r>
              <a:t>Naming rules for computers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133</a:t>
            </a:fld>
            <a:endParaRPr lang="en-US" sz="1400" b="1">
              <a:solidFill>
                <a:schemeClr val="bg1"/>
              </a:solidFill>
              <a:effectLst/>
            </a:endParaRPr>
          </a:p>
        </p:txBody>
      </p:sp>
      <p:sp>
        <p:nvSpPr>
          <p:cNvPr id="70658" name="Title 70657"/>
          <p:cNvSpPr>
            <a:spLocks noGrp="1"/>
          </p:cNvSpPr>
          <p:nvPr>
            <p:ph type="title"/>
          </p:nvPr>
        </p:nvSpPr>
        <p:spPr/>
        <p:txBody>
          <a:bodyPr anchor="ctr" anchorCtr="0"/>
          <a:lstStyle/>
          <a:p>
            <a:r>
              <a:t>Network Protocols</a:t>
            </a:r>
          </a:p>
        </p:txBody>
      </p:sp>
      <p:sp>
        <p:nvSpPr>
          <p:cNvPr id="70659" name="Text Placeholder 70658"/>
          <p:cNvSpPr>
            <a:spLocks noGrp="1"/>
          </p:cNvSpPr>
          <p:nvPr>
            <p:ph type="body" idx="1"/>
          </p:nvPr>
        </p:nvSpPr>
        <p:spPr/>
        <p:txBody>
          <a:bodyPr/>
          <a:lstStyle/>
          <a:p>
            <a:r>
              <a:t>TCP/IP</a:t>
            </a:r>
          </a:p>
          <a:p>
            <a:pPr lvl="1"/>
            <a:r>
              <a:t>Transmission Control Protocol/Internet Protocol</a:t>
            </a:r>
          </a:p>
          <a:p>
            <a:pPr lvl="1"/>
            <a:r>
              <a:t>Most popular protocol</a:t>
            </a:r>
          </a:p>
          <a:p>
            <a:pPr lvl="1"/>
            <a:r>
              <a:t>Machines assigned a name of 4 numbers</a:t>
            </a:r>
          </a:p>
          <a:p>
            <a:pPr lvl="2"/>
            <a:r>
              <a:t>IP address</a:t>
            </a:r>
          </a:p>
          <a:p>
            <a:pPr lvl="2"/>
            <a:r>
              <a:t>209.8.166.179 is the White House’s web site</a:t>
            </a:r>
          </a:p>
          <a:p>
            <a:pPr lvl="1"/>
            <a:r>
              <a:t>Dynamic Host Configuration Protocol</a:t>
            </a:r>
          </a:p>
          <a:p>
            <a:pPr lvl="2"/>
            <a:r>
              <a:t>Simplifies assignment of IP addresses</a:t>
            </a:r>
          </a:p>
          <a:p>
            <a:pPr lvl="1"/>
            <a:r>
              <a:t>Required for Internet access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134</a:t>
            </a:fld>
            <a:endParaRPr lang="en-US" sz="1400" b="1">
              <a:solidFill>
                <a:schemeClr val="bg1"/>
              </a:solidFill>
              <a:effectLst/>
            </a:endParaRPr>
          </a:p>
        </p:txBody>
      </p:sp>
      <p:sp>
        <p:nvSpPr>
          <p:cNvPr id="72706" name="Title 72705"/>
          <p:cNvSpPr>
            <a:spLocks noGrp="1"/>
          </p:cNvSpPr>
          <p:nvPr>
            <p:ph type="title"/>
          </p:nvPr>
        </p:nvSpPr>
        <p:spPr/>
        <p:txBody>
          <a:bodyPr anchor="ctr" anchorCtr="0"/>
          <a:lstStyle/>
          <a:p>
            <a:r>
              <a:t>Network Protocols</a:t>
            </a:r>
          </a:p>
        </p:txBody>
      </p:sp>
      <p:sp>
        <p:nvSpPr>
          <p:cNvPr id="72707" name="Text Placeholder 72706"/>
          <p:cNvSpPr>
            <a:spLocks noGrp="1"/>
          </p:cNvSpPr>
          <p:nvPr>
            <p:ph type="body" idx="1"/>
          </p:nvPr>
        </p:nvSpPr>
        <p:spPr/>
        <p:txBody>
          <a:bodyPr/>
          <a:lstStyle/>
          <a:p>
            <a:r>
              <a:t>IPX/SPX</a:t>
            </a:r>
          </a:p>
          <a:p>
            <a:pPr lvl="1"/>
            <a:r>
              <a:t>Internet Packet Exchange/Sequenced Packet Exchange</a:t>
            </a:r>
          </a:p>
          <a:p>
            <a:pPr lvl="1"/>
            <a:r>
              <a:t>Older protocol</a:t>
            </a:r>
          </a:p>
          <a:p>
            <a:pPr lvl="1"/>
            <a:r>
              <a:t>Associated with Novell Netware</a:t>
            </a:r>
          </a:p>
          <a:p>
            <a:pPr lvl="1"/>
            <a:r>
              <a:t>Replaced by TCP/IP</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135</a:t>
            </a:fld>
            <a:endParaRPr lang="en-US" sz="1400" b="1">
              <a:solidFill>
                <a:schemeClr val="bg1"/>
              </a:solidFill>
              <a:effectLst/>
            </a:endParaRPr>
          </a:p>
        </p:txBody>
      </p:sp>
      <p:sp>
        <p:nvSpPr>
          <p:cNvPr id="73730" name="Title 73729"/>
          <p:cNvSpPr>
            <a:spLocks noGrp="1"/>
          </p:cNvSpPr>
          <p:nvPr>
            <p:ph type="title"/>
          </p:nvPr>
        </p:nvSpPr>
        <p:spPr/>
        <p:txBody>
          <a:bodyPr anchor="ctr" anchorCtr="0"/>
          <a:lstStyle/>
          <a:p>
            <a:r>
              <a:t>Network Protocols</a:t>
            </a:r>
          </a:p>
        </p:txBody>
      </p:sp>
      <p:sp>
        <p:nvSpPr>
          <p:cNvPr id="73731" name="Text Placeholder 73730"/>
          <p:cNvSpPr>
            <a:spLocks noGrp="1"/>
          </p:cNvSpPr>
          <p:nvPr>
            <p:ph type="body" idx="1"/>
          </p:nvPr>
        </p:nvSpPr>
        <p:spPr/>
        <p:txBody>
          <a:bodyPr/>
          <a:lstStyle/>
          <a:p>
            <a:r>
              <a:t>NetBEUI</a:t>
            </a:r>
          </a:p>
          <a:p>
            <a:pPr lvl="1"/>
            <a:r>
              <a:t>Network BIOS Extended User Interface</a:t>
            </a:r>
          </a:p>
          <a:p>
            <a:pPr lvl="1"/>
            <a:r>
              <a:t>Used by Windows to name computers</a:t>
            </a:r>
          </a:p>
          <a:p>
            <a:pPr lvl="1"/>
            <a:r>
              <a:t>Transmission details handled by TCP/IP</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r>
              <a:t>9A-</a:t>
            </a:r>
            <a:fld id="{9A0DB2DC-4C9A-4742-B13C-FB6460FD3503}" type="slidenum">
              <a:rPr lang="en-US" sz="1400" b="1">
                <a:solidFill>
                  <a:schemeClr val="bg1"/>
                </a:solidFill>
                <a:effectLst/>
              </a:rPr>
              <a:t>136</a:t>
            </a:fld>
            <a:endParaRPr lang="en-US" sz="1400" b="1">
              <a:solidFill>
                <a:schemeClr val="bg1"/>
              </a:solidFill>
              <a:effectLst/>
            </a:endParaRPr>
          </a:p>
        </p:txBody>
      </p:sp>
      <p:sp>
        <p:nvSpPr>
          <p:cNvPr id="75778" name="Title 75777"/>
          <p:cNvSpPr>
            <a:spLocks noGrp="1"/>
          </p:cNvSpPr>
          <p:nvPr>
            <p:ph type="title"/>
          </p:nvPr>
        </p:nvSpPr>
        <p:spPr/>
        <p:txBody>
          <a:bodyPr anchor="ctr" anchorCtr="0"/>
          <a:lstStyle/>
          <a:p>
            <a:r>
              <a:t>Network Protocols</a:t>
            </a:r>
          </a:p>
        </p:txBody>
      </p:sp>
      <p:sp>
        <p:nvSpPr>
          <p:cNvPr id="75779" name="Text Placeholder 75778"/>
          <p:cNvSpPr>
            <a:spLocks noGrp="1"/>
          </p:cNvSpPr>
          <p:nvPr>
            <p:ph type="body" idx="1"/>
          </p:nvPr>
        </p:nvSpPr>
        <p:spPr/>
        <p:txBody>
          <a:bodyPr/>
          <a:lstStyle/>
          <a:p>
            <a:r>
              <a:t>Token ring</a:t>
            </a:r>
          </a:p>
          <a:p>
            <a:pPr lvl="1"/>
            <a:r>
              <a:t>Popular in manufacturing and finance</a:t>
            </a:r>
          </a:p>
          <a:p>
            <a:pPr lvl="1"/>
            <a:r>
              <a:t>Nodes communicate when they have the token</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137</a:t>
            </a:fld>
            <a:endParaRPr lang="en-US" sz="2000" b="1">
              <a:latin typeface="Arial" panose="02080604020202020204" pitchFamily="34" charset="0"/>
            </a:endParaRPr>
          </a:p>
        </p:txBody>
      </p:sp>
      <p:sp>
        <p:nvSpPr>
          <p:cNvPr id="565250" name="Rectangles 565249"/>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dirty="0">
              <a:effectLst>
                <a:outerShdw blurRad="38100" dist="38100" dir="2700000">
                  <a:srgbClr val="FFFFFF"/>
                </a:outerShdw>
              </a:effectLst>
            </a:endParaRPr>
          </a:p>
        </p:txBody>
      </p:sp>
      <p:sp>
        <p:nvSpPr>
          <p:cNvPr id="565251" name="Text Box 565250"/>
          <p:cNvSpPr txBox="1"/>
          <p:nvPr/>
        </p:nvSpPr>
        <p:spPr>
          <a:xfrm>
            <a:off x="228600" y="76200"/>
            <a:ext cx="3891915" cy="583565"/>
          </a:xfrm>
          <a:prstGeom prst="rect">
            <a:avLst/>
          </a:prstGeom>
          <a:noFill/>
          <a:ln w="9525">
            <a:noFill/>
          </a:ln>
        </p:spPr>
        <p:txBody>
          <a:bodyPr wrap="none" anchor="t" anchorCtr="0">
            <a:spAutoFit/>
          </a:bodyPr>
          <a:lstStyle/>
          <a:p>
            <a:r>
              <a:rPr lang="en-US" sz="3200">
                <a:effectLst>
                  <a:outerShdw blurRad="38100" dist="38100" dir="2700000">
                    <a:srgbClr val="C0C0C0"/>
                  </a:outerShdw>
                </a:effectLst>
                <a:latin typeface="Times" charset="0"/>
              </a:rPr>
              <a:t>Network Models</a:t>
            </a:r>
          </a:p>
        </p:txBody>
      </p:sp>
      <p:sp>
        <p:nvSpPr>
          <p:cNvPr id="565252" name="Text Box 565251"/>
          <p:cNvSpPr txBox="1"/>
          <p:nvPr/>
        </p:nvSpPr>
        <p:spPr>
          <a:xfrm>
            <a:off x="8229600" y="6400800"/>
            <a:ext cx="184150" cy="366713"/>
          </a:xfrm>
          <a:prstGeom prst="rect">
            <a:avLst/>
          </a:prstGeom>
          <a:noFill/>
          <a:ln w="9525">
            <a:noFill/>
          </a:ln>
        </p:spPr>
        <p:txBody>
          <a:bodyPr wrap="none" anchor="t" anchorCtr="0">
            <a:spAutoFit/>
          </a:bodyPr>
          <a:lstStyle/>
          <a:p>
            <a:endParaRPr dirty="0"/>
          </a:p>
        </p:txBody>
      </p:sp>
      <p:sp>
        <p:nvSpPr>
          <p:cNvPr id="565277" name="Rectangles 565276"/>
          <p:cNvSpPr/>
          <p:nvPr/>
        </p:nvSpPr>
        <p:spPr>
          <a:xfrm>
            <a:off x="76200" y="1127125"/>
            <a:ext cx="8610600" cy="2227263"/>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rPr>
              <a:t>We use the concept of </a:t>
            </a:r>
            <a:r>
              <a:rPr sz="2800" i="1">
                <a:solidFill>
                  <a:schemeClr val="hlink"/>
                </a:solidFill>
                <a:effectLst>
                  <a:outerShdw blurRad="38100" dist="38100" dir="2700000">
                    <a:srgbClr val="C0C0C0"/>
                  </a:outerShdw>
                </a:effectLst>
              </a:rPr>
              <a:t>layers</a:t>
            </a:r>
            <a:r>
              <a:rPr sz="2800" i="1">
                <a:effectLst>
                  <a:outerShdw blurRad="38100" dist="38100" dir="2700000">
                    <a:srgbClr val="C0C0C0"/>
                  </a:outerShdw>
                </a:effectLst>
              </a:rPr>
              <a:t> in our daily life. As an example, let us consider two friends who communicate through postal mail. The process of sending a letter to a friend would be complex if there were no services available from the post office. </a:t>
            </a:r>
          </a:p>
        </p:txBody>
      </p:sp>
      <p:sp>
        <p:nvSpPr>
          <p:cNvPr id="565278" name="Rectangles 565277"/>
          <p:cNvSpPr/>
          <p:nvPr/>
        </p:nvSpPr>
        <p:spPr>
          <a:xfrm>
            <a:off x="228600" y="4972050"/>
            <a:ext cx="5715000" cy="822325"/>
          </a:xfrm>
          <a:prstGeom prst="rect">
            <a:avLst/>
          </a:prstGeom>
          <a:noFill/>
          <a:ln w="9525">
            <a:noFill/>
          </a:ln>
        </p:spPr>
        <p:txBody>
          <a:bodyPr>
            <a:spAutoFit/>
          </a:bodyPr>
          <a:lstStyle/>
          <a:p>
            <a:pPr>
              <a:buClr>
                <a:schemeClr val="tx1"/>
              </a:buClr>
              <a:buSzPct val="117000"/>
              <a:buFont typeface="Wingdings" panose="05000000000000000000" pitchFamily="2" charset="2"/>
            </a:pPr>
            <a:r>
              <a:rPr lang="fr-FR" altLang="x-none" sz="2400">
                <a:solidFill>
                  <a:srgbClr val="0033CC"/>
                </a:solidFill>
              </a:rPr>
              <a:t>Sender, </a:t>
            </a:r>
            <a:r>
              <a:rPr lang="fr-FR" altLang="x-none" sz="2400" err="1">
                <a:solidFill>
                  <a:srgbClr val="0033CC"/>
                </a:solidFill>
              </a:rPr>
              <a:t>Receiver</a:t>
            </a:r>
            <a:r>
              <a:rPr lang="fr-FR" altLang="x-none" sz="2400">
                <a:solidFill>
                  <a:srgbClr val="0033CC"/>
                </a:solidFill>
              </a:rPr>
              <a:t>, </a:t>
            </a:r>
            <a:r>
              <a:rPr lang="fr-FR" altLang="x-none" sz="2400" err="1">
                <a:solidFill>
                  <a:srgbClr val="0033CC"/>
                </a:solidFill>
              </a:rPr>
              <a:t>and </a:t>
            </a:r>
            <a:r>
              <a:rPr lang="fr-FR" altLang="x-none" sz="2400">
                <a:solidFill>
                  <a:srgbClr val="0033CC"/>
                </a:solidFill>
              </a:rPr>
              <a:t>Carrier</a:t>
            </a:r>
            <a:br>
              <a:rPr lang="fr-FR" altLang="x-none" sz="2400">
                <a:solidFill>
                  <a:srgbClr val="0033CC"/>
                </a:solidFill>
              </a:rPr>
            </a:br>
            <a:r>
              <a:rPr lang="fr-FR" altLang="x-none" sz="2400" err="1">
                <a:solidFill>
                  <a:srgbClr val="0033CC"/>
                </a:solidFill>
              </a:rPr>
              <a:t>Hierarchy</a:t>
            </a:r>
            <a:endParaRPr sz="2400" err="1">
              <a:solidFill>
                <a:srgbClr val="0033CC"/>
              </a:solidFill>
            </a:endParaRPr>
          </a:p>
        </p:txBody>
      </p:sp>
      <p:sp>
        <p:nvSpPr>
          <p:cNvPr id="565279" name="Text Box 565278"/>
          <p:cNvSpPr txBox="1"/>
          <p:nvPr/>
        </p:nvSpPr>
        <p:spPr>
          <a:xfrm>
            <a:off x="595313" y="4495800"/>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rPr>
              <a:t>Topics discussed in this section:</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138</a:t>
            </a:fld>
            <a:endParaRPr lang="en-US" sz="2000" b="1">
              <a:latin typeface="Arial" panose="02080604020202020204" pitchFamily="34" charset="0"/>
            </a:endParaRPr>
          </a:p>
        </p:txBody>
      </p:sp>
      <p:sp>
        <p:nvSpPr>
          <p:cNvPr id="634882" name="Straight Connector 634881"/>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34883" name="Straight Connector 634882"/>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34884" name="Text Box 634883"/>
          <p:cNvSpPr txBox="1"/>
          <p:nvPr/>
        </p:nvSpPr>
        <p:spPr>
          <a:xfrm>
            <a:off x="304800" y="381000"/>
            <a:ext cx="8559165" cy="521970"/>
          </a:xfrm>
          <a:prstGeom prst="rect">
            <a:avLst/>
          </a:prstGeom>
          <a:noFill/>
          <a:ln w="9525">
            <a:noFill/>
          </a:ln>
        </p:spPr>
        <p:txBody>
          <a:bodyPr wrap="none" anchor="t" anchorCtr="0">
            <a:spAutoFit/>
          </a:bodyPr>
          <a:lstStyle/>
          <a:p>
            <a:r>
              <a:rPr sz="2000">
                <a:solidFill>
                  <a:schemeClr val="folHlink"/>
                </a:solidFill>
              </a:rPr>
              <a:t>Figure 2.1  </a:t>
            </a:r>
            <a:r>
              <a:rPr sz="2800"/>
              <a:t>Tasks involved in sending a letter</a:t>
            </a:r>
            <a:endParaRPr sz="2800" i="1"/>
          </a:p>
        </p:txBody>
      </p:sp>
      <p:sp>
        <p:nvSpPr>
          <p:cNvPr id="634885" name="Straight Connector 634884"/>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34886" name="Picture 634885"/>
          <p:cNvPicPr>
            <a:picLocks noChangeAspect="1"/>
          </p:cNvPicPr>
          <p:nvPr/>
        </p:nvPicPr>
        <p:blipFill>
          <a:blip r:embed="rId3"/>
          <a:stretch>
            <a:fillRect/>
          </a:stretch>
        </p:blipFill>
        <p:spPr>
          <a:xfrm>
            <a:off x="1663700" y="1219200"/>
            <a:ext cx="5575300" cy="4799013"/>
          </a:xfrm>
          <a:prstGeom prst="rect">
            <a:avLst/>
          </a:prstGeom>
          <a:noFill/>
          <a:ln w="9525">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139</a:t>
            </a:fld>
            <a:endParaRPr lang="en-US" sz="2000" b="1">
              <a:latin typeface="Arial" panose="02080604020202020204" pitchFamily="34" charset="0"/>
            </a:endParaRPr>
          </a:p>
        </p:txBody>
      </p:sp>
      <p:sp>
        <p:nvSpPr>
          <p:cNvPr id="677890" name="Rectangles 677889"/>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dirty="0">
              <a:effectLst>
                <a:outerShdw blurRad="38100" dist="38100" dir="2700000">
                  <a:srgbClr val="FFFFFF"/>
                </a:outerShdw>
              </a:effectLst>
            </a:endParaRPr>
          </a:p>
        </p:txBody>
      </p:sp>
      <p:sp>
        <p:nvSpPr>
          <p:cNvPr id="677891" name="Text Box 677890"/>
          <p:cNvSpPr txBox="1"/>
          <p:nvPr/>
        </p:nvSpPr>
        <p:spPr>
          <a:xfrm>
            <a:off x="228600" y="76200"/>
            <a:ext cx="4327525" cy="579438"/>
          </a:xfrm>
          <a:prstGeom prst="rect">
            <a:avLst/>
          </a:prstGeom>
          <a:noFill/>
          <a:ln w="9525">
            <a:noFill/>
          </a:ln>
        </p:spPr>
        <p:txBody>
          <a:bodyPr wrap="none" anchor="t" anchorCtr="0">
            <a:spAutoFit/>
          </a:bodyPr>
          <a:lstStyle/>
          <a:p>
            <a:r>
              <a:rPr sz="3200">
                <a:effectLst>
                  <a:outerShdw blurRad="38100" dist="38100" dir="2700000">
                    <a:srgbClr val="C0C0C0"/>
                  </a:outerShdw>
                </a:effectLst>
                <a:latin typeface="Times" charset="0"/>
              </a:rPr>
              <a:t>2-2   THE OSI MODEL</a:t>
            </a:r>
          </a:p>
        </p:txBody>
      </p:sp>
      <p:sp>
        <p:nvSpPr>
          <p:cNvPr id="677892" name="Text Box 677891"/>
          <p:cNvSpPr txBox="1"/>
          <p:nvPr/>
        </p:nvSpPr>
        <p:spPr>
          <a:xfrm>
            <a:off x="8229600" y="6400800"/>
            <a:ext cx="184150" cy="366713"/>
          </a:xfrm>
          <a:prstGeom prst="rect">
            <a:avLst/>
          </a:prstGeom>
          <a:noFill/>
          <a:ln w="9525">
            <a:noFill/>
          </a:ln>
        </p:spPr>
        <p:txBody>
          <a:bodyPr wrap="none" anchor="t" anchorCtr="0">
            <a:spAutoFit/>
          </a:bodyPr>
          <a:lstStyle/>
          <a:p>
            <a:endParaRPr dirty="0"/>
          </a:p>
        </p:txBody>
      </p:sp>
      <p:sp>
        <p:nvSpPr>
          <p:cNvPr id="677893" name="Rectangles 677892"/>
          <p:cNvSpPr/>
          <p:nvPr/>
        </p:nvSpPr>
        <p:spPr>
          <a:xfrm>
            <a:off x="76200" y="850900"/>
            <a:ext cx="8610600" cy="2654300"/>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rPr>
              <a:t>Established in 1947, the International Standards Organization (</a:t>
            </a:r>
            <a:r>
              <a:rPr sz="2800" i="1">
                <a:solidFill>
                  <a:schemeClr val="hlink"/>
                </a:solidFill>
                <a:effectLst>
                  <a:outerShdw blurRad="38100" dist="38100" dir="2700000">
                    <a:srgbClr val="C0C0C0"/>
                  </a:outerShdw>
                </a:effectLst>
              </a:rPr>
              <a:t>ISO</a:t>
            </a:r>
            <a:r>
              <a:rPr sz="2800" i="1">
                <a:effectLst>
                  <a:outerShdw blurRad="38100" dist="38100" dir="2700000">
                    <a:srgbClr val="C0C0C0"/>
                  </a:outerShdw>
                </a:effectLst>
              </a:rPr>
              <a:t>) is a multinational body dedicated to worldwide agreement on international standards. An ISO standard that covers all aspects of network communications is the Open Systems Interconnection (</a:t>
            </a:r>
            <a:r>
              <a:rPr sz="2800" i="1">
                <a:solidFill>
                  <a:schemeClr val="hlink"/>
                </a:solidFill>
                <a:effectLst>
                  <a:outerShdw blurRad="38100" dist="38100" dir="2700000">
                    <a:srgbClr val="C0C0C0"/>
                  </a:outerShdw>
                </a:effectLst>
              </a:rPr>
              <a:t>OSI</a:t>
            </a:r>
            <a:r>
              <a:rPr sz="2800" i="1">
                <a:effectLst>
                  <a:outerShdw blurRad="38100" dist="38100" dir="2700000">
                    <a:srgbClr val="C0C0C0"/>
                  </a:outerShdw>
                </a:effectLst>
              </a:rPr>
              <a:t>) model. It was first introduced in the late 1970s. </a:t>
            </a:r>
          </a:p>
        </p:txBody>
      </p:sp>
      <p:sp>
        <p:nvSpPr>
          <p:cNvPr id="677894" name="Rectangles 677893"/>
          <p:cNvSpPr/>
          <p:nvPr/>
        </p:nvSpPr>
        <p:spPr>
          <a:xfrm>
            <a:off x="228600" y="4972050"/>
            <a:ext cx="5715000" cy="1187450"/>
          </a:xfrm>
          <a:prstGeom prst="rect">
            <a:avLst/>
          </a:prstGeom>
          <a:noFill/>
          <a:ln w="9525">
            <a:noFill/>
          </a:ln>
        </p:spPr>
        <p:txBody>
          <a:bodyPr>
            <a:spAutoFit/>
          </a:bodyPr>
          <a:lstStyle/>
          <a:p>
            <a:pPr>
              <a:buClr>
                <a:schemeClr val="tx1"/>
              </a:buClr>
              <a:buSzPct val="117000"/>
              <a:buFont typeface="Wingdings" panose="05000000000000000000" pitchFamily="2" charset="2"/>
            </a:pPr>
            <a:r>
              <a:rPr lang="fr-FR" altLang="x-none" sz="2400" dirty="0" err="1">
                <a:solidFill>
                  <a:srgbClr val="0033CC"/>
                </a:solidFill>
              </a:rPr>
              <a:t>Layered</a:t>
            </a:r>
            <a:r>
              <a:rPr lang="fr-FR" altLang="x-none" sz="2400" dirty="0">
                <a:solidFill>
                  <a:srgbClr val="0033CC"/>
                </a:solidFill>
              </a:rPr>
              <a:t> Architecture</a:t>
            </a:r>
            <a:br>
              <a:rPr lang="fr-FR" altLang="x-none" sz="2400" dirty="0">
                <a:solidFill>
                  <a:srgbClr val="0033CC"/>
                </a:solidFill>
              </a:rPr>
            </a:br>
            <a:r>
              <a:rPr lang="fr-FR" altLang="x-none" sz="2400" dirty="0" err="1">
                <a:solidFill>
                  <a:srgbClr val="0033CC"/>
                </a:solidFill>
              </a:rPr>
              <a:t>Peer-to-Peer</a:t>
            </a:r>
            <a:r>
              <a:rPr lang="fr-FR" altLang="x-none" sz="2400" dirty="0">
                <a:solidFill>
                  <a:srgbClr val="0033CC"/>
                </a:solidFill>
              </a:rPr>
              <a:t> </a:t>
            </a:r>
            <a:r>
              <a:rPr lang="fr-FR" altLang="x-none" sz="2400" dirty="0" err="1">
                <a:solidFill>
                  <a:srgbClr val="0033CC"/>
                </a:solidFill>
              </a:rPr>
              <a:t>Processes</a:t>
            </a:r>
            <a:endParaRPr lang="fr-FR" altLang="x-none" sz="2400" dirty="0">
              <a:solidFill>
                <a:srgbClr val="0033CC"/>
              </a:solidFill>
            </a:endParaRPr>
          </a:p>
          <a:p>
            <a:pPr>
              <a:buClr>
                <a:schemeClr val="tx1"/>
              </a:buClr>
              <a:buSzPct val="117000"/>
              <a:buFont typeface="Wingdings" panose="05000000000000000000" pitchFamily="2" charset="2"/>
            </a:pPr>
            <a:r>
              <a:rPr sz="2400">
                <a:solidFill>
                  <a:srgbClr val="0033CC"/>
                </a:solidFill>
              </a:rPr>
              <a:t>Encapsulation</a:t>
            </a:r>
          </a:p>
        </p:txBody>
      </p:sp>
      <p:sp>
        <p:nvSpPr>
          <p:cNvPr id="677895" name="Text Box 677894"/>
          <p:cNvSpPr txBox="1"/>
          <p:nvPr/>
        </p:nvSpPr>
        <p:spPr>
          <a:xfrm>
            <a:off x="562293" y="4509135"/>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rPr>
              <a:t>Topics discussed in this section:</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140</a:t>
            </a:fld>
            <a:endParaRPr lang="en-US" sz="2000" b="1">
              <a:latin typeface="Arial" panose="02080604020202020204" pitchFamily="34" charset="0"/>
            </a:endParaRPr>
          </a:p>
        </p:txBody>
      </p:sp>
      <p:sp>
        <p:nvSpPr>
          <p:cNvPr id="656386" name="Rectangles 656385"/>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56387" name="Rectangles 656386"/>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6388" name="Rectangles 656387"/>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56389" name="Rectangles 656388"/>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6390" name="Rectangles 656389"/>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56391" name="Rectangles 656390"/>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56392" name="Rectangles 656391"/>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6393" name="Straight Connector 656392"/>
          <p:cNvSpPr/>
          <p:nvPr/>
        </p:nvSpPr>
        <p:spPr>
          <a:xfrm>
            <a:off x="457200" y="2819400"/>
            <a:ext cx="8153400" cy="0"/>
          </a:xfrm>
          <a:prstGeom prst="line">
            <a:avLst/>
          </a:prstGeom>
          <a:ln w="76200" cap="flat" cmpd="sng">
            <a:solidFill>
              <a:srgbClr val="009900"/>
            </a:solidFill>
            <a:prstDash val="solid"/>
            <a:headEnd type="none" w="med" len="med"/>
            <a:tailEnd type="none" w="med" len="med"/>
          </a:ln>
        </p:spPr>
      </p:sp>
      <p:sp>
        <p:nvSpPr>
          <p:cNvPr id="656394" name="Straight Connector 656393"/>
          <p:cNvSpPr/>
          <p:nvPr/>
        </p:nvSpPr>
        <p:spPr>
          <a:xfrm>
            <a:off x="458788" y="3810000"/>
            <a:ext cx="8153400" cy="0"/>
          </a:xfrm>
          <a:prstGeom prst="line">
            <a:avLst/>
          </a:prstGeom>
          <a:ln w="76200" cap="flat" cmpd="sng">
            <a:solidFill>
              <a:srgbClr val="009900"/>
            </a:solidFill>
            <a:prstDash val="solid"/>
            <a:headEnd type="none" w="med" len="med"/>
            <a:tailEnd type="none" w="med" len="med"/>
          </a:ln>
        </p:spPr>
      </p:sp>
      <p:sp>
        <p:nvSpPr>
          <p:cNvPr id="656395" name="Rectangles 656394"/>
          <p:cNvSpPr/>
          <p:nvPr/>
        </p:nvSpPr>
        <p:spPr>
          <a:xfrm>
            <a:off x="495300" y="2911475"/>
            <a:ext cx="8077200" cy="822325"/>
          </a:xfrm>
          <a:prstGeom prst="rect">
            <a:avLst/>
          </a:prstGeom>
          <a:solidFill>
            <a:srgbClr val="99FF33"/>
          </a:solidFill>
          <a:ln w="76200">
            <a:noFill/>
          </a:ln>
        </p:spPr>
        <p:txBody>
          <a:bodyPr>
            <a:spAutoFit/>
          </a:bodyPr>
          <a:lstStyle/>
          <a:p>
            <a:pPr algn="ctr"/>
            <a:r>
              <a:rPr sz="2400"/>
              <a:t>ISO is the organization.</a:t>
            </a:r>
            <a:br>
              <a:rPr sz="2400"/>
            </a:br>
            <a:r>
              <a:rPr sz="2400"/>
              <a:t>OSI is the model.</a:t>
            </a:r>
          </a:p>
        </p:txBody>
      </p:sp>
      <p:grpSp>
        <p:nvGrpSpPr>
          <p:cNvPr id="656401" name="Group 656400"/>
          <p:cNvGrpSpPr/>
          <p:nvPr/>
        </p:nvGrpSpPr>
        <p:grpSpPr>
          <a:xfrm>
            <a:off x="457200" y="2133600"/>
            <a:ext cx="1143000" cy="566738"/>
            <a:chOff x="1200" y="1248"/>
            <a:chExt cx="720" cy="357"/>
          </a:xfrm>
        </p:grpSpPr>
        <p:pic>
          <p:nvPicPr>
            <p:cNvPr id="656402" name="Picture 656401"/>
            <p:cNvPicPr>
              <a:picLocks noChangeAspect="1"/>
            </p:cNvPicPr>
            <p:nvPr/>
          </p:nvPicPr>
          <p:blipFill>
            <a:blip r:embed="rId3"/>
            <a:stretch>
              <a:fillRect/>
            </a:stretch>
          </p:blipFill>
          <p:spPr>
            <a:xfrm>
              <a:off x="1200" y="1248"/>
              <a:ext cx="720" cy="357"/>
            </a:xfrm>
            <a:prstGeom prst="rect">
              <a:avLst/>
            </a:prstGeom>
            <a:noFill/>
            <a:ln w="9525">
              <a:noFill/>
            </a:ln>
          </p:spPr>
        </p:pic>
        <p:sp>
          <p:nvSpPr>
            <p:cNvPr id="656403" name="Text Box 656402"/>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141</a:t>
            </a:fld>
            <a:endParaRPr lang="en-US" sz="2000" b="1">
              <a:latin typeface="Arial" panose="02080604020202020204" pitchFamily="34" charset="0"/>
            </a:endParaRPr>
          </a:p>
        </p:txBody>
      </p:sp>
      <p:sp>
        <p:nvSpPr>
          <p:cNvPr id="635906" name="Straight Connector 635905"/>
          <p:cNvSpPr/>
          <p:nvPr/>
        </p:nvSpPr>
        <p:spPr>
          <a:xfrm>
            <a:off x="152400" y="228600"/>
            <a:ext cx="8763000" cy="0"/>
          </a:xfrm>
          <a:prstGeom prst="line">
            <a:avLst/>
          </a:prstGeom>
          <a:ln w="76200" cap="flat" cmpd="sng">
            <a:solidFill>
              <a:schemeClr val="hlink"/>
            </a:solidFill>
            <a:prstDash val="solid"/>
            <a:headEnd type="none" w="med" len="med"/>
            <a:tailEnd type="none" w="med" len="med"/>
          </a:ln>
        </p:spPr>
      </p:sp>
      <p:sp>
        <p:nvSpPr>
          <p:cNvPr id="635907" name="Straight Connector 635906"/>
          <p:cNvSpPr/>
          <p:nvPr/>
        </p:nvSpPr>
        <p:spPr>
          <a:xfrm>
            <a:off x="152400" y="1066800"/>
            <a:ext cx="8763000" cy="0"/>
          </a:xfrm>
          <a:prstGeom prst="line">
            <a:avLst/>
          </a:prstGeom>
          <a:ln w="19050" cap="flat" cmpd="sng">
            <a:solidFill>
              <a:schemeClr val="hlink"/>
            </a:solidFill>
            <a:prstDash val="solid"/>
            <a:headEnd type="none" w="med" len="med"/>
            <a:tailEnd type="none" w="med" len="med"/>
          </a:ln>
        </p:spPr>
      </p:sp>
      <p:sp>
        <p:nvSpPr>
          <p:cNvPr id="635908" name="Text Box 635907"/>
          <p:cNvSpPr txBox="1"/>
          <p:nvPr/>
        </p:nvSpPr>
        <p:spPr>
          <a:xfrm>
            <a:off x="304800" y="457200"/>
            <a:ext cx="4810125" cy="457200"/>
          </a:xfrm>
          <a:prstGeom prst="rect">
            <a:avLst/>
          </a:prstGeom>
          <a:noFill/>
          <a:ln w="9525">
            <a:noFill/>
          </a:ln>
        </p:spPr>
        <p:txBody>
          <a:bodyPr wrap="none" anchor="t" anchorCtr="0">
            <a:spAutoFit/>
          </a:bodyPr>
          <a:lstStyle/>
          <a:p>
            <a:r>
              <a:rPr sz="2400">
                <a:solidFill>
                  <a:schemeClr val="folHlink"/>
                </a:solidFill>
              </a:rPr>
              <a:t>Figure 2.2  </a:t>
            </a:r>
            <a:r>
              <a:rPr sz="2000" i="1"/>
              <a:t>Seven layers of the OSI model</a:t>
            </a:r>
          </a:p>
        </p:txBody>
      </p:sp>
      <p:sp>
        <p:nvSpPr>
          <p:cNvPr id="635909" name="Straight Connector 635908"/>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35910" name="Picture 635909"/>
          <p:cNvPicPr>
            <a:picLocks noChangeAspect="1"/>
          </p:cNvPicPr>
          <p:nvPr/>
        </p:nvPicPr>
        <p:blipFill>
          <a:blip r:embed="rId3"/>
          <a:stretch>
            <a:fillRect/>
          </a:stretch>
        </p:blipFill>
        <p:spPr>
          <a:xfrm>
            <a:off x="2149475" y="1427163"/>
            <a:ext cx="4251325" cy="4364037"/>
          </a:xfrm>
          <a:prstGeom prst="rect">
            <a:avLst/>
          </a:prstGeom>
          <a:noFill/>
          <a:ln w="9525">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142</a:t>
            </a:fld>
            <a:endParaRPr lang="en-US" sz="2000" b="1">
              <a:latin typeface="Arial" panose="02080604020202020204" pitchFamily="34" charset="0"/>
            </a:endParaRPr>
          </a:p>
        </p:txBody>
      </p:sp>
      <p:sp>
        <p:nvSpPr>
          <p:cNvPr id="636930" name="Straight Connector 636929"/>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36931" name="Straight Connector 636930"/>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36932" name="Text Box 636931"/>
          <p:cNvSpPr txBox="1"/>
          <p:nvPr/>
        </p:nvSpPr>
        <p:spPr>
          <a:xfrm>
            <a:off x="304800" y="381000"/>
            <a:ext cx="6715125" cy="457200"/>
          </a:xfrm>
          <a:prstGeom prst="rect">
            <a:avLst/>
          </a:prstGeom>
          <a:noFill/>
          <a:ln w="9525">
            <a:noFill/>
          </a:ln>
        </p:spPr>
        <p:txBody>
          <a:bodyPr wrap="none" anchor="t" anchorCtr="0">
            <a:spAutoFit/>
          </a:bodyPr>
          <a:lstStyle/>
          <a:p>
            <a:r>
              <a:rPr sz="2400">
                <a:solidFill>
                  <a:schemeClr val="folHlink"/>
                </a:solidFill>
              </a:rPr>
              <a:t>Figure 2.3  </a:t>
            </a:r>
            <a:r>
              <a:rPr sz="2000" i="1"/>
              <a:t>The interaction between layers in the OSI model</a:t>
            </a:r>
          </a:p>
        </p:txBody>
      </p:sp>
      <p:sp>
        <p:nvSpPr>
          <p:cNvPr id="636933" name="Straight Connector 636932"/>
          <p:cNvSpPr/>
          <p:nvPr/>
        </p:nvSpPr>
        <p:spPr>
          <a:xfrm>
            <a:off x="152400" y="6324600"/>
            <a:ext cx="8763000" cy="0"/>
          </a:xfrm>
          <a:prstGeom prst="line">
            <a:avLst/>
          </a:prstGeom>
          <a:ln w="76200" cap="flat" cmpd="sng">
            <a:solidFill>
              <a:schemeClr val="hlink"/>
            </a:solidFill>
            <a:prstDash val="solid"/>
            <a:headEnd type="none" w="med" len="med"/>
            <a:tailEnd type="none" w="med" len="med"/>
          </a:ln>
        </p:spPr>
      </p:sp>
      <p:pic>
        <p:nvPicPr>
          <p:cNvPr id="636934" name="Picture 636933"/>
          <p:cNvPicPr>
            <a:picLocks noChangeAspect="1"/>
          </p:cNvPicPr>
          <p:nvPr/>
        </p:nvPicPr>
        <p:blipFill>
          <a:blip r:embed="rId3"/>
          <a:stretch>
            <a:fillRect/>
          </a:stretch>
        </p:blipFill>
        <p:spPr>
          <a:xfrm>
            <a:off x="882650" y="1066800"/>
            <a:ext cx="6965950" cy="5160963"/>
          </a:xfrm>
          <a:prstGeom prst="rect">
            <a:avLst/>
          </a:prstGeom>
          <a:noFill/>
          <a:ln w="9525">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143</a:t>
            </a:fld>
            <a:endParaRPr lang="en-US" sz="2000" b="1">
              <a:latin typeface="Arial" panose="02080604020202020204" pitchFamily="34" charset="0"/>
            </a:endParaRPr>
          </a:p>
        </p:txBody>
      </p:sp>
      <p:sp>
        <p:nvSpPr>
          <p:cNvPr id="637954" name="Straight Connector 637953"/>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37955" name="Straight Connector 637954"/>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37956" name="Text Box 637955"/>
          <p:cNvSpPr txBox="1"/>
          <p:nvPr/>
        </p:nvSpPr>
        <p:spPr>
          <a:xfrm>
            <a:off x="304800" y="381000"/>
            <a:ext cx="5248275" cy="457200"/>
          </a:xfrm>
          <a:prstGeom prst="rect">
            <a:avLst/>
          </a:prstGeom>
          <a:noFill/>
          <a:ln w="9525">
            <a:noFill/>
          </a:ln>
        </p:spPr>
        <p:txBody>
          <a:bodyPr wrap="none" anchor="t" anchorCtr="0">
            <a:spAutoFit/>
          </a:bodyPr>
          <a:lstStyle/>
          <a:p>
            <a:r>
              <a:rPr sz="2400">
                <a:solidFill>
                  <a:schemeClr val="folHlink"/>
                </a:solidFill>
              </a:rPr>
              <a:t>Figure 2.4  </a:t>
            </a:r>
            <a:r>
              <a:rPr sz="2000" i="1"/>
              <a:t>An exchange using the OSI model</a:t>
            </a:r>
          </a:p>
        </p:txBody>
      </p:sp>
      <p:sp>
        <p:nvSpPr>
          <p:cNvPr id="637957" name="Straight Connector 637956"/>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37958" name="Picture 637957"/>
          <p:cNvPicPr>
            <a:picLocks noChangeAspect="1"/>
          </p:cNvPicPr>
          <p:nvPr/>
        </p:nvPicPr>
        <p:blipFill>
          <a:blip r:embed="rId3"/>
          <a:stretch>
            <a:fillRect/>
          </a:stretch>
        </p:blipFill>
        <p:spPr>
          <a:xfrm>
            <a:off x="554038" y="1200150"/>
            <a:ext cx="7523162" cy="4819650"/>
          </a:xfrm>
          <a:prstGeom prst="rect">
            <a:avLst/>
          </a:prstGeom>
          <a:noFill/>
          <a:ln w="9525">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144</a:t>
            </a:fld>
            <a:endParaRPr lang="en-US" sz="2000" b="1">
              <a:latin typeface="Arial" panose="02080604020202020204" pitchFamily="34" charset="0"/>
            </a:endParaRPr>
          </a:p>
        </p:txBody>
      </p:sp>
      <p:sp>
        <p:nvSpPr>
          <p:cNvPr id="678914" name="Rectangles 678913"/>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dirty="0">
              <a:effectLst>
                <a:outerShdw blurRad="38100" dist="38100" dir="2700000">
                  <a:srgbClr val="FFFFFF"/>
                </a:outerShdw>
              </a:effectLst>
            </a:endParaRPr>
          </a:p>
        </p:txBody>
      </p:sp>
      <p:sp>
        <p:nvSpPr>
          <p:cNvPr id="678915" name="Text Box 678914"/>
          <p:cNvSpPr txBox="1"/>
          <p:nvPr/>
        </p:nvSpPr>
        <p:spPr>
          <a:xfrm>
            <a:off x="228600" y="76200"/>
            <a:ext cx="6630988" cy="579438"/>
          </a:xfrm>
          <a:prstGeom prst="rect">
            <a:avLst/>
          </a:prstGeom>
          <a:noFill/>
          <a:ln w="9525">
            <a:noFill/>
          </a:ln>
        </p:spPr>
        <p:txBody>
          <a:bodyPr wrap="none" anchor="t" anchorCtr="0">
            <a:spAutoFit/>
          </a:bodyPr>
          <a:lstStyle/>
          <a:p>
            <a:r>
              <a:rPr sz="3200">
                <a:effectLst>
                  <a:outerShdw blurRad="38100" dist="38100" dir="2700000">
                    <a:srgbClr val="C0C0C0"/>
                  </a:outerShdw>
                </a:effectLst>
                <a:latin typeface="Times" charset="0"/>
              </a:rPr>
              <a:t>2-3   LAYERS IN THE OSI MODEL</a:t>
            </a:r>
          </a:p>
        </p:txBody>
      </p:sp>
      <p:sp>
        <p:nvSpPr>
          <p:cNvPr id="678916" name="Text Box 678915"/>
          <p:cNvSpPr txBox="1"/>
          <p:nvPr/>
        </p:nvSpPr>
        <p:spPr>
          <a:xfrm>
            <a:off x="8229600" y="6400800"/>
            <a:ext cx="184150" cy="366713"/>
          </a:xfrm>
          <a:prstGeom prst="rect">
            <a:avLst/>
          </a:prstGeom>
          <a:noFill/>
          <a:ln w="9525">
            <a:noFill/>
          </a:ln>
        </p:spPr>
        <p:txBody>
          <a:bodyPr wrap="none" anchor="t" anchorCtr="0">
            <a:spAutoFit/>
          </a:bodyPr>
          <a:lstStyle/>
          <a:p>
            <a:endParaRPr dirty="0"/>
          </a:p>
        </p:txBody>
      </p:sp>
      <p:sp>
        <p:nvSpPr>
          <p:cNvPr id="678917" name="Rectangles 678916"/>
          <p:cNvSpPr/>
          <p:nvPr/>
        </p:nvSpPr>
        <p:spPr>
          <a:xfrm>
            <a:off x="76200" y="987425"/>
            <a:ext cx="8610600" cy="946150"/>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rPr>
              <a:t>In this section we briefly describe the functions of each layer in the OSI model.</a:t>
            </a:r>
          </a:p>
        </p:txBody>
      </p:sp>
      <p:sp>
        <p:nvSpPr>
          <p:cNvPr id="678918" name="Rectangles 678917"/>
          <p:cNvSpPr/>
          <p:nvPr/>
        </p:nvSpPr>
        <p:spPr>
          <a:xfrm>
            <a:off x="228600" y="3295650"/>
            <a:ext cx="5715000" cy="2647950"/>
          </a:xfrm>
          <a:prstGeom prst="rect">
            <a:avLst/>
          </a:prstGeom>
          <a:noFill/>
          <a:ln w="9525">
            <a:noFill/>
          </a:ln>
        </p:spPr>
        <p:txBody>
          <a:bodyPr>
            <a:spAutoFit/>
          </a:bodyPr>
          <a:lstStyle/>
          <a:p>
            <a:pPr>
              <a:buClr>
                <a:schemeClr val="tx1"/>
              </a:buClr>
              <a:buSzPct val="117000"/>
              <a:buFont typeface="Wingdings" panose="05000000000000000000" pitchFamily="2" charset="2"/>
            </a:pPr>
            <a:r>
              <a:rPr lang="fr-FR" altLang="x-none" sz="2400" dirty="0" err="1">
                <a:solidFill>
                  <a:srgbClr val="0033CC"/>
                </a:solidFill>
              </a:rPr>
              <a:t>Physical</a:t>
            </a:r>
            <a:r>
              <a:rPr lang="fr-FR" altLang="x-none" sz="2400" dirty="0">
                <a:solidFill>
                  <a:srgbClr val="0033CC"/>
                </a:solidFill>
              </a:rPr>
              <a:t> Layer</a:t>
            </a:r>
            <a:br>
              <a:rPr lang="fr-FR" altLang="x-none" sz="2400" dirty="0">
                <a:solidFill>
                  <a:srgbClr val="0033CC"/>
                </a:solidFill>
              </a:rPr>
            </a:br>
            <a:r>
              <a:rPr lang="fr-FR" altLang="x-none" sz="2400" dirty="0">
                <a:solidFill>
                  <a:srgbClr val="0033CC"/>
                </a:solidFill>
              </a:rPr>
              <a:t>Data </a:t>
            </a:r>
            <a:r>
              <a:rPr lang="fr-FR" altLang="x-none" sz="2400" dirty="0" err="1">
                <a:solidFill>
                  <a:srgbClr val="0033CC"/>
                </a:solidFill>
              </a:rPr>
              <a:t>Link</a:t>
            </a:r>
            <a:r>
              <a:rPr lang="fr-FR" altLang="x-none" sz="2400" dirty="0">
                <a:solidFill>
                  <a:srgbClr val="0033CC"/>
                </a:solidFill>
              </a:rPr>
              <a:t> Layer</a:t>
            </a:r>
          </a:p>
          <a:p>
            <a:pPr>
              <a:buClr>
                <a:schemeClr val="tx1"/>
              </a:buClr>
              <a:buSzPct val="117000"/>
              <a:buFont typeface="Wingdings" panose="05000000000000000000" pitchFamily="2" charset="2"/>
            </a:pPr>
            <a:r>
              <a:rPr sz="2400">
                <a:solidFill>
                  <a:srgbClr val="0033CC"/>
                </a:solidFill>
              </a:rPr>
              <a:t>Network Layer</a:t>
            </a:r>
          </a:p>
          <a:p>
            <a:pPr>
              <a:buClr>
                <a:schemeClr val="tx1"/>
              </a:buClr>
              <a:buSzPct val="117000"/>
              <a:buFont typeface="Wingdings" panose="05000000000000000000" pitchFamily="2" charset="2"/>
            </a:pPr>
            <a:r>
              <a:rPr sz="2400">
                <a:solidFill>
                  <a:srgbClr val="0033CC"/>
                </a:solidFill>
              </a:rPr>
              <a:t>Transport Layer</a:t>
            </a:r>
          </a:p>
          <a:p>
            <a:pPr>
              <a:buClr>
                <a:schemeClr val="tx1"/>
              </a:buClr>
              <a:buSzPct val="117000"/>
              <a:buFont typeface="Wingdings" panose="05000000000000000000" pitchFamily="2" charset="2"/>
            </a:pPr>
            <a:r>
              <a:rPr sz="2400">
                <a:solidFill>
                  <a:srgbClr val="0033CC"/>
                </a:solidFill>
              </a:rPr>
              <a:t>Session Layer</a:t>
            </a:r>
          </a:p>
          <a:p>
            <a:pPr>
              <a:buClr>
                <a:schemeClr val="tx1"/>
              </a:buClr>
              <a:buSzPct val="117000"/>
              <a:buFont typeface="Wingdings" panose="05000000000000000000" pitchFamily="2" charset="2"/>
            </a:pPr>
            <a:r>
              <a:rPr sz="2400">
                <a:solidFill>
                  <a:srgbClr val="0033CC"/>
                </a:solidFill>
              </a:rPr>
              <a:t>Presentation Layer</a:t>
            </a:r>
          </a:p>
          <a:p>
            <a:pPr>
              <a:buClr>
                <a:schemeClr val="tx1"/>
              </a:buClr>
              <a:buSzPct val="117000"/>
              <a:buFont typeface="Wingdings" panose="05000000000000000000" pitchFamily="2" charset="2"/>
            </a:pPr>
            <a:r>
              <a:rPr sz="2400">
                <a:solidFill>
                  <a:srgbClr val="0033CC"/>
                </a:solidFill>
              </a:rPr>
              <a:t>Application Layer</a:t>
            </a:r>
          </a:p>
        </p:txBody>
      </p:sp>
      <p:sp>
        <p:nvSpPr>
          <p:cNvPr id="678919" name="Text Box 678918"/>
          <p:cNvSpPr txBox="1"/>
          <p:nvPr/>
        </p:nvSpPr>
        <p:spPr>
          <a:xfrm>
            <a:off x="595313" y="2819400"/>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rPr>
              <a:t>Topics discussed in this section:</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145</a:t>
            </a:fld>
            <a:endParaRPr lang="en-US" sz="2000" b="1">
              <a:latin typeface="Arial" panose="02080604020202020204" pitchFamily="34" charset="0"/>
            </a:endParaRPr>
          </a:p>
        </p:txBody>
      </p:sp>
      <p:sp>
        <p:nvSpPr>
          <p:cNvPr id="638978" name="Straight Connector 638977"/>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38979" name="Straight Connector 638978"/>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38980" name="Text Box 638979"/>
          <p:cNvSpPr txBox="1"/>
          <p:nvPr/>
        </p:nvSpPr>
        <p:spPr>
          <a:xfrm>
            <a:off x="304800" y="381000"/>
            <a:ext cx="3132138" cy="457200"/>
          </a:xfrm>
          <a:prstGeom prst="rect">
            <a:avLst/>
          </a:prstGeom>
          <a:noFill/>
          <a:ln w="9525">
            <a:noFill/>
          </a:ln>
        </p:spPr>
        <p:txBody>
          <a:bodyPr wrap="none" anchor="t" anchorCtr="0">
            <a:spAutoFit/>
          </a:bodyPr>
          <a:lstStyle/>
          <a:p>
            <a:r>
              <a:rPr sz="2400">
                <a:solidFill>
                  <a:schemeClr val="folHlink"/>
                </a:solidFill>
              </a:rPr>
              <a:t>Figure 2.5  </a:t>
            </a:r>
            <a:r>
              <a:rPr sz="2000" i="1"/>
              <a:t>Physical layer</a:t>
            </a:r>
          </a:p>
        </p:txBody>
      </p:sp>
      <p:sp>
        <p:nvSpPr>
          <p:cNvPr id="638981" name="Straight Connector 638980"/>
          <p:cNvSpPr/>
          <p:nvPr/>
        </p:nvSpPr>
        <p:spPr>
          <a:xfrm>
            <a:off x="152400" y="6172200"/>
            <a:ext cx="8763000" cy="0"/>
          </a:xfrm>
          <a:prstGeom prst="line">
            <a:avLst/>
          </a:prstGeom>
          <a:ln w="76200" cap="flat" cmpd="sng">
            <a:solidFill>
              <a:schemeClr val="hlink"/>
            </a:solidFill>
            <a:prstDash val="solid"/>
            <a:headEnd type="none" w="med" len="med"/>
            <a:tailEnd type="none" w="med" len="med"/>
          </a:ln>
        </p:spPr>
      </p:sp>
      <p:pic>
        <p:nvPicPr>
          <p:cNvPr id="638982" name="Picture 638981"/>
          <p:cNvPicPr>
            <a:picLocks noChangeAspect="1"/>
          </p:cNvPicPr>
          <p:nvPr/>
        </p:nvPicPr>
        <p:blipFill>
          <a:blip r:embed="rId3"/>
          <a:stretch>
            <a:fillRect/>
          </a:stretch>
        </p:blipFill>
        <p:spPr>
          <a:xfrm>
            <a:off x="209550" y="2349500"/>
            <a:ext cx="8629650" cy="2755900"/>
          </a:xfrm>
          <a:prstGeom prst="rect">
            <a:avLst/>
          </a:prstGeom>
          <a:noFill/>
          <a:ln w="9525">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146</a:t>
            </a:fld>
            <a:endParaRPr lang="en-US" sz="2000" b="1">
              <a:latin typeface="Arial" panose="02080604020202020204" pitchFamily="34" charset="0"/>
            </a:endParaRPr>
          </a:p>
        </p:txBody>
      </p:sp>
      <p:sp>
        <p:nvSpPr>
          <p:cNvPr id="657410" name="Rectangles 657409"/>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57411" name="Rectangles 657410"/>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7412" name="Rectangles 657411"/>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57413" name="Rectangles 657412"/>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7414" name="Rectangles 657413"/>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57415" name="Rectangles 657414"/>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57416" name="Rectangles 657415"/>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7417" name="Straight Connector 657416"/>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57418" name="Straight Connector 657417"/>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57419" name="Rectangles 657418"/>
          <p:cNvSpPr/>
          <p:nvPr/>
        </p:nvSpPr>
        <p:spPr>
          <a:xfrm>
            <a:off x="495300" y="3063875"/>
            <a:ext cx="8077200" cy="822325"/>
          </a:xfrm>
          <a:prstGeom prst="rect">
            <a:avLst/>
          </a:prstGeom>
          <a:solidFill>
            <a:srgbClr val="99FF33"/>
          </a:solidFill>
          <a:ln w="76200">
            <a:noFill/>
          </a:ln>
        </p:spPr>
        <p:txBody>
          <a:bodyPr>
            <a:spAutoFit/>
          </a:bodyPr>
          <a:lstStyle/>
          <a:p>
            <a:pPr algn="ctr"/>
            <a:r>
              <a:rPr sz="2400"/>
              <a:t>The physical layer is responsible for movements of</a:t>
            </a:r>
          </a:p>
          <a:p>
            <a:pPr algn="ctr"/>
            <a:r>
              <a:rPr sz="2400"/>
              <a:t>individual bits from one hop (node) to the next.</a:t>
            </a:r>
          </a:p>
        </p:txBody>
      </p:sp>
      <p:grpSp>
        <p:nvGrpSpPr>
          <p:cNvPr id="657423" name="Group 657422"/>
          <p:cNvGrpSpPr/>
          <p:nvPr/>
        </p:nvGrpSpPr>
        <p:grpSpPr>
          <a:xfrm>
            <a:off x="457200" y="2286000"/>
            <a:ext cx="1143000" cy="566738"/>
            <a:chOff x="1200" y="1248"/>
            <a:chExt cx="720" cy="357"/>
          </a:xfrm>
        </p:grpSpPr>
        <p:pic>
          <p:nvPicPr>
            <p:cNvPr id="657424" name="Picture 657423"/>
            <p:cNvPicPr>
              <a:picLocks noChangeAspect="1"/>
            </p:cNvPicPr>
            <p:nvPr/>
          </p:nvPicPr>
          <p:blipFill>
            <a:blip r:embed="rId3"/>
            <a:stretch>
              <a:fillRect/>
            </a:stretch>
          </p:blipFill>
          <p:spPr>
            <a:xfrm>
              <a:off x="1200" y="1248"/>
              <a:ext cx="720" cy="357"/>
            </a:xfrm>
            <a:prstGeom prst="rect">
              <a:avLst/>
            </a:prstGeom>
            <a:noFill/>
            <a:ln w="9525">
              <a:noFill/>
            </a:ln>
          </p:spPr>
        </p:pic>
        <p:sp>
          <p:nvSpPr>
            <p:cNvPr id="657425" name="Text Box 657424"/>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147</a:t>
            </a:fld>
            <a:endParaRPr lang="en-US" sz="2000" b="1">
              <a:latin typeface="Arial" panose="02080604020202020204" pitchFamily="34" charset="0"/>
            </a:endParaRPr>
          </a:p>
        </p:txBody>
      </p:sp>
      <p:sp>
        <p:nvSpPr>
          <p:cNvPr id="640002" name="Straight Connector 640001"/>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0003" name="Straight Connector 640002"/>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0004" name="Text Box 640003"/>
          <p:cNvSpPr txBox="1"/>
          <p:nvPr/>
        </p:nvSpPr>
        <p:spPr>
          <a:xfrm>
            <a:off x="304800" y="381000"/>
            <a:ext cx="3222625" cy="457200"/>
          </a:xfrm>
          <a:prstGeom prst="rect">
            <a:avLst/>
          </a:prstGeom>
          <a:noFill/>
          <a:ln w="9525">
            <a:noFill/>
          </a:ln>
        </p:spPr>
        <p:txBody>
          <a:bodyPr wrap="none" anchor="t" anchorCtr="0">
            <a:spAutoFit/>
          </a:bodyPr>
          <a:lstStyle/>
          <a:p>
            <a:r>
              <a:rPr sz="2400">
                <a:solidFill>
                  <a:schemeClr val="folHlink"/>
                </a:solidFill>
              </a:rPr>
              <a:t>Figure 2.6  </a:t>
            </a:r>
            <a:r>
              <a:rPr sz="2000" i="1"/>
              <a:t>Data link layer</a:t>
            </a:r>
          </a:p>
        </p:txBody>
      </p:sp>
      <p:sp>
        <p:nvSpPr>
          <p:cNvPr id="640005" name="Straight Connector 640004"/>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0006" name="Picture 640005"/>
          <p:cNvPicPr>
            <a:picLocks noChangeAspect="1"/>
          </p:cNvPicPr>
          <p:nvPr/>
        </p:nvPicPr>
        <p:blipFill>
          <a:blip r:embed="rId3"/>
          <a:stretch>
            <a:fillRect/>
          </a:stretch>
        </p:blipFill>
        <p:spPr>
          <a:xfrm>
            <a:off x="268288" y="2057400"/>
            <a:ext cx="8418512" cy="2795588"/>
          </a:xfrm>
          <a:prstGeom prst="rect">
            <a:avLst/>
          </a:prstGeom>
          <a:noFill/>
          <a:ln w="9525">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148</a:t>
            </a:fld>
            <a:endParaRPr lang="en-US" sz="2000" b="1">
              <a:latin typeface="Arial" panose="02080604020202020204" pitchFamily="34" charset="0"/>
            </a:endParaRPr>
          </a:p>
        </p:txBody>
      </p:sp>
      <p:sp>
        <p:nvSpPr>
          <p:cNvPr id="658434" name="Rectangles 658433"/>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58435" name="Rectangles 658434"/>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8436" name="Rectangles 658435"/>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58437" name="Rectangles 658436"/>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8438" name="Rectangles 658437"/>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58439" name="Rectangles 658438"/>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58440" name="Rectangles 658439"/>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8441" name="Straight Connector 658440"/>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58442" name="Straight Connector 658441"/>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58443" name="Rectangles 658442"/>
          <p:cNvSpPr/>
          <p:nvPr/>
        </p:nvSpPr>
        <p:spPr>
          <a:xfrm>
            <a:off x="495300" y="3063875"/>
            <a:ext cx="8077200" cy="822325"/>
          </a:xfrm>
          <a:prstGeom prst="rect">
            <a:avLst/>
          </a:prstGeom>
          <a:solidFill>
            <a:srgbClr val="99FF33"/>
          </a:solidFill>
          <a:ln w="76200">
            <a:noFill/>
          </a:ln>
        </p:spPr>
        <p:txBody>
          <a:bodyPr>
            <a:spAutoFit/>
          </a:bodyPr>
          <a:lstStyle/>
          <a:p>
            <a:pPr algn="ctr"/>
            <a:r>
              <a:rPr sz="2400"/>
              <a:t>The data link layer is responsible for moving </a:t>
            </a:r>
            <a:br>
              <a:rPr sz="2400"/>
            </a:br>
            <a:r>
              <a:rPr sz="2400"/>
              <a:t>frames from one hop (node) to the next.</a:t>
            </a:r>
          </a:p>
        </p:txBody>
      </p:sp>
      <p:grpSp>
        <p:nvGrpSpPr>
          <p:cNvPr id="658447" name="Group 658446"/>
          <p:cNvGrpSpPr/>
          <p:nvPr/>
        </p:nvGrpSpPr>
        <p:grpSpPr>
          <a:xfrm>
            <a:off x="457200" y="2286000"/>
            <a:ext cx="1143000" cy="566738"/>
            <a:chOff x="1200" y="1248"/>
            <a:chExt cx="720" cy="357"/>
          </a:xfrm>
        </p:grpSpPr>
        <p:pic>
          <p:nvPicPr>
            <p:cNvPr id="658448" name="Picture 658447"/>
            <p:cNvPicPr>
              <a:picLocks noChangeAspect="1"/>
            </p:cNvPicPr>
            <p:nvPr/>
          </p:nvPicPr>
          <p:blipFill>
            <a:blip r:embed="rId3"/>
            <a:stretch>
              <a:fillRect/>
            </a:stretch>
          </p:blipFill>
          <p:spPr>
            <a:xfrm>
              <a:off x="1200" y="1248"/>
              <a:ext cx="720" cy="357"/>
            </a:xfrm>
            <a:prstGeom prst="rect">
              <a:avLst/>
            </a:prstGeom>
            <a:noFill/>
            <a:ln w="9525">
              <a:noFill/>
            </a:ln>
          </p:spPr>
        </p:pic>
        <p:sp>
          <p:nvSpPr>
            <p:cNvPr id="658449" name="Text Box 658448"/>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149</a:t>
            </a:fld>
            <a:endParaRPr lang="en-US" sz="2000" b="1">
              <a:latin typeface="Arial" panose="02080604020202020204" pitchFamily="34" charset="0"/>
            </a:endParaRPr>
          </a:p>
        </p:txBody>
      </p:sp>
      <p:sp>
        <p:nvSpPr>
          <p:cNvPr id="641026" name="Straight Connector 641025"/>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1027" name="Straight Connector 641026"/>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1028" name="Text Box 641027"/>
          <p:cNvSpPr txBox="1"/>
          <p:nvPr/>
        </p:nvSpPr>
        <p:spPr>
          <a:xfrm>
            <a:off x="304800" y="381000"/>
            <a:ext cx="3752850" cy="457200"/>
          </a:xfrm>
          <a:prstGeom prst="rect">
            <a:avLst/>
          </a:prstGeom>
          <a:noFill/>
          <a:ln w="9525">
            <a:noFill/>
          </a:ln>
        </p:spPr>
        <p:txBody>
          <a:bodyPr wrap="none" anchor="t" anchorCtr="0">
            <a:spAutoFit/>
          </a:bodyPr>
          <a:lstStyle/>
          <a:p>
            <a:r>
              <a:rPr sz="2400">
                <a:solidFill>
                  <a:schemeClr val="folHlink"/>
                </a:solidFill>
              </a:rPr>
              <a:t>Figure 2.7  </a:t>
            </a:r>
            <a:r>
              <a:rPr sz="2000" i="1"/>
              <a:t>Hop-to-hop delivery</a:t>
            </a:r>
          </a:p>
        </p:txBody>
      </p:sp>
      <p:sp>
        <p:nvSpPr>
          <p:cNvPr id="641029" name="Straight Connector 641028"/>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1030" name="Picture 641029"/>
          <p:cNvPicPr>
            <a:picLocks noChangeAspect="1"/>
          </p:cNvPicPr>
          <p:nvPr/>
        </p:nvPicPr>
        <p:blipFill>
          <a:blip r:embed="rId3"/>
          <a:stretch>
            <a:fillRect/>
          </a:stretch>
        </p:blipFill>
        <p:spPr>
          <a:xfrm>
            <a:off x="1066800" y="1143000"/>
            <a:ext cx="6216650" cy="4579938"/>
          </a:xfrm>
          <a:prstGeom prst="rect">
            <a:avLst/>
          </a:prstGeom>
          <a:noFill/>
          <a:ln w="9525">
            <a:noFill/>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150</a:t>
            </a:fld>
            <a:endParaRPr lang="en-US" sz="2000" b="1">
              <a:latin typeface="Arial" panose="02080604020202020204" pitchFamily="34" charset="0"/>
            </a:endParaRPr>
          </a:p>
        </p:txBody>
      </p:sp>
      <p:sp>
        <p:nvSpPr>
          <p:cNvPr id="642050" name="Straight Connector 642049"/>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2051" name="Straight Connector 642050"/>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2052" name="Text Box 642051"/>
          <p:cNvSpPr txBox="1"/>
          <p:nvPr/>
        </p:nvSpPr>
        <p:spPr>
          <a:xfrm>
            <a:off x="304800" y="381000"/>
            <a:ext cx="3132138" cy="457200"/>
          </a:xfrm>
          <a:prstGeom prst="rect">
            <a:avLst/>
          </a:prstGeom>
          <a:noFill/>
          <a:ln w="9525">
            <a:noFill/>
          </a:ln>
        </p:spPr>
        <p:txBody>
          <a:bodyPr wrap="none" anchor="t" anchorCtr="0">
            <a:spAutoFit/>
          </a:bodyPr>
          <a:lstStyle/>
          <a:p>
            <a:r>
              <a:rPr sz="2400">
                <a:solidFill>
                  <a:schemeClr val="folHlink"/>
                </a:solidFill>
              </a:rPr>
              <a:t>Figure 2.8  </a:t>
            </a:r>
            <a:r>
              <a:rPr sz="2000" i="1"/>
              <a:t>Network layer</a:t>
            </a:r>
          </a:p>
        </p:txBody>
      </p:sp>
      <p:sp>
        <p:nvSpPr>
          <p:cNvPr id="642053" name="Straight Connector 642052"/>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2054" name="Picture 642053"/>
          <p:cNvPicPr>
            <a:picLocks noChangeAspect="1"/>
          </p:cNvPicPr>
          <p:nvPr/>
        </p:nvPicPr>
        <p:blipFill>
          <a:blip r:embed="rId3"/>
          <a:stretch>
            <a:fillRect/>
          </a:stretch>
        </p:blipFill>
        <p:spPr>
          <a:xfrm>
            <a:off x="239713" y="1963738"/>
            <a:ext cx="8675687" cy="2913062"/>
          </a:xfrm>
          <a:prstGeom prst="rect">
            <a:avLst/>
          </a:prstGeom>
          <a:noFill/>
          <a:ln w="9525">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151</a:t>
            </a:fld>
            <a:endParaRPr lang="en-US" sz="2000" b="1">
              <a:latin typeface="Arial" panose="02080604020202020204" pitchFamily="34" charset="0"/>
            </a:endParaRPr>
          </a:p>
        </p:txBody>
      </p:sp>
      <p:sp>
        <p:nvSpPr>
          <p:cNvPr id="659458" name="Rectangles 659457"/>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59459" name="Rectangles 659458"/>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9460" name="Rectangles 659459"/>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59461" name="Rectangles 659460"/>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9462" name="Rectangles 659461"/>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59463" name="Rectangles 659462"/>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59464" name="Rectangles 659463"/>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59465" name="Straight Connector 659464"/>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59466" name="Straight Connector 659465"/>
          <p:cNvSpPr/>
          <p:nvPr/>
        </p:nvSpPr>
        <p:spPr>
          <a:xfrm>
            <a:off x="458788" y="4343400"/>
            <a:ext cx="8153400" cy="0"/>
          </a:xfrm>
          <a:prstGeom prst="line">
            <a:avLst/>
          </a:prstGeom>
          <a:ln w="76200" cap="flat" cmpd="sng">
            <a:solidFill>
              <a:srgbClr val="009900"/>
            </a:solidFill>
            <a:prstDash val="solid"/>
            <a:headEnd type="none" w="med" len="med"/>
            <a:tailEnd type="none" w="med" len="med"/>
          </a:ln>
        </p:spPr>
      </p:sp>
      <p:sp>
        <p:nvSpPr>
          <p:cNvPr id="659467" name="Rectangles 659466"/>
          <p:cNvSpPr/>
          <p:nvPr/>
        </p:nvSpPr>
        <p:spPr>
          <a:xfrm>
            <a:off x="495300" y="3063875"/>
            <a:ext cx="8077200" cy="1187450"/>
          </a:xfrm>
          <a:prstGeom prst="rect">
            <a:avLst/>
          </a:prstGeom>
          <a:solidFill>
            <a:srgbClr val="99FF33"/>
          </a:solidFill>
          <a:ln w="76200">
            <a:noFill/>
          </a:ln>
        </p:spPr>
        <p:txBody>
          <a:bodyPr>
            <a:spAutoFit/>
          </a:bodyPr>
          <a:lstStyle/>
          <a:p>
            <a:pPr algn="ctr"/>
            <a:r>
              <a:rPr sz="2400"/>
              <a:t>The network layer is responsible for the </a:t>
            </a:r>
            <a:br>
              <a:rPr sz="2400"/>
            </a:br>
            <a:r>
              <a:rPr sz="2400"/>
              <a:t>delivery of individual packets from </a:t>
            </a:r>
          </a:p>
          <a:p>
            <a:pPr algn="ctr"/>
            <a:r>
              <a:rPr sz="2400"/>
              <a:t>the source host to the destination host.</a:t>
            </a:r>
          </a:p>
        </p:txBody>
      </p:sp>
      <p:grpSp>
        <p:nvGrpSpPr>
          <p:cNvPr id="659471" name="Group 659470"/>
          <p:cNvGrpSpPr/>
          <p:nvPr/>
        </p:nvGrpSpPr>
        <p:grpSpPr>
          <a:xfrm>
            <a:off x="533400" y="2286000"/>
            <a:ext cx="1143000" cy="566738"/>
            <a:chOff x="1200" y="1248"/>
            <a:chExt cx="720" cy="357"/>
          </a:xfrm>
        </p:grpSpPr>
        <p:pic>
          <p:nvPicPr>
            <p:cNvPr id="659472" name="Picture 659471"/>
            <p:cNvPicPr>
              <a:picLocks noChangeAspect="1"/>
            </p:cNvPicPr>
            <p:nvPr/>
          </p:nvPicPr>
          <p:blipFill>
            <a:blip r:embed="rId3"/>
            <a:stretch>
              <a:fillRect/>
            </a:stretch>
          </p:blipFill>
          <p:spPr>
            <a:xfrm>
              <a:off x="1200" y="1248"/>
              <a:ext cx="720" cy="357"/>
            </a:xfrm>
            <a:prstGeom prst="rect">
              <a:avLst/>
            </a:prstGeom>
            <a:noFill/>
            <a:ln w="9525">
              <a:noFill/>
            </a:ln>
          </p:spPr>
        </p:pic>
        <p:sp>
          <p:nvSpPr>
            <p:cNvPr id="659473" name="Text Box 659472"/>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152</a:t>
            </a:fld>
            <a:endParaRPr lang="en-US" sz="2000" b="1">
              <a:latin typeface="Arial" panose="02080604020202020204" pitchFamily="34" charset="0"/>
            </a:endParaRPr>
          </a:p>
        </p:txBody>
      </p:sp>
      <p:sp>
        <p:nvSpPr>
          <p:cNvPr id="643074" name="Straight Connector 643073"/>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3075" name="Straight Connector 643074"/>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3076" name="Text Box 643075"/>
          <p:cNvSpPr txBox="1"/>
          <p:nvPr/>
        </p:nvSpPr>
        <p:spPr>
          <a:xfrm>
            <a:off x="304800" y="381000"/>
            <a:ext cx="4795838" cy="457200"/>
          </a:xfrm>
          <a:prstGeom prst="rect">
            <a:avLst/>
          </a:prstGeom>
          <a:noFill/>
          <a:ln w="9525">
            <a:noFill/>
          </a:ln>
        </p:spPr>
        <p:txBody>
          <a:bodyPr wrap="none" anchor="t" anchorCtr="0">
            <a:spAutoFit/>
          </a:bodyPr>
          <a:lstStyle/>
          <a:p>
            <a:r>
              <a:rPr sz="2400">
                <a:solidFill>
                  <a:schemeClr val="folHlink"/>
                </a:solidFill>
              </a:rPr>
              <a:t>Figure 2.9  </a:t>
            </a:r>
            <a:r>
              <a:rPr sz="2000" i="1"/>
              <a:t>Source-to-destination delivery</a:t>
            </a:r>
          </a:p>
        </p:txBody>
      </p:sp>
      <p:sp>
        <p:nvSpPr>
          <p:cNvPr id="643077" name="Straight Connector 643076"/>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3078" name="Picture 643077"/>
          <p:cNvPicPr>
            <a:picLocks noChangeAspect="1"/>
          </p:cNvPicPr>
          <p:nvPr/>
        </p:nvPicPr>
        <p:blipFill>
          <a:blip r:embed="rId3"/>
          <a:stretch>
            <a:fillRect/>
          </a:stretch>
        </p:blipFill>
        <p:spPr>
          <a:xfrm>
            <a:off x="1698625" y="1195388"/>
            <a:ext cx="5083175" cy="4824412"/>
          </a:xfrm>
          <a:prstGeom prst="rect">
            <a:avLst/>
          </a:prstGeom>
          <a:noFill/>
          <a:ln w="9525">
            <a:noFill/>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153</a:t>
            </a:fld>
            <a:endParaRPr lang="en-US" sz="2000" b="1">
              <a:latin typeface="Arial" panose="02080604020202020204" pitchFamily="34" charset="0"/>
            </a:endParaRPr>
          </a:p>
        </p:txBody>
      </p:sp>
      <p:sp>
        <p:nvSpPr>
          <p:cNvPr id="644098" name="Straight Connector 644097"/>
          <p:cNvSpPr/>
          <p:nvPr/>
        </p:nvSpPr>
        <p:spPr>
          <a:xfrm>
            <a:off x="152400" y="76200"/>
            <a:ext cx="8763000" cy="0"/>
          </a:xfrm>
          <a:prstGeom prst="line">
            <a:avLst/>
          </a:prstGeom>
          <a:ln w="76200" cap="flat" cmpd="sng">
            <a:solidFill>
              <a:schemeClr val="hlink"/>
            </a:solidFill>
            <a:prstDash val="solid"/>
            <a:headEnd type="none" w="med" len="med"/>
            <a:tailEnd type="none" w="med" len="med"/>
          </a:ln>
        </p:spPr>
      </p:sp>
      <p:sp>
        <p:nvSpPr>
          <p:cNvPr id="644099" name="Straight Connector 644098"/>
          <p:cNvSpPr/>
          <p:nvPr/>
        </p:nvSpPr>
        <p:spPr>
          <a:xfrm>
            <a:off x="152400" y="914400"/>
            <a:ext cx="8763000" cy="0"/>
          </a:xfrm>
          <a:prstGeom prst="line">
            <a:avLst/>
          </a:prstGeom>
          <a:ln w="19050" cap="flat" cmpd="sng">
            <a:solidFill>
              <a:schemeClr val="hlink"/>
            </a:solidFill>
            <a:prstDash val="solid"/>
            <a:headEnd type="none" w="med" len="med"/>
            <a:tailEnd type="none" w="med" len="med"/>
          </a:ln>
        </p:spPr>
      </p:sp>
      <p:sp>
        <p:nvSpPr>
          <p:cNvPr id="644100" name="Text Box 644099"/>
          <p:cNvSpPr txBox="1"/>
          <p:nvPr/>
        </p:nvSpPr>
        <p:spPr>
          <a:xfrm>
            <a:off x="304800" y="304800"/>
            <a:ext cx="3440113" cy="457200"/>
          </a:xfrm>
          <a:prstGeom prst="rect">
            <a:avLst/>
          </a:prstGeom>
          <a:noFill/>
          <a:ln w="9525">
            <a:noFill/>
          </a:ln>
        </p:spPr>
        <p:txBody>
          <a:bodyPr wrap="none" anchor="t" anchorCtr="0">
            <a:spAutoFit/>
          </a:bodyPr>
          <a:lstStyle/>
          <a:p>
            <a:r>
              <a:rPr sz="2400">
                <a:solidFill>
                  <a:schemeClr val="folHlink"/>
                </a:solidFill>
              </a:rPr>
              <a:t>Figure 2.10  </a:t>
            </a:r>
            <a:r>
              <a:rPr sz="2000" i="1"/>
              <a:t>Transport layer</a:t>
            </a:r>
          </a:p>
        </p:txBody>
      </p:sp>
      <p:sp>
        <p:nvSpPr>
          <p:cNvPr id="644101" name="Straight Connector 644100"/>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4102" name="Picture 644101"/>
          <p:cNvPicPr>
            <a:picLocks noChangeAspect="1"/>
          </p:cNvPicPr>
          <p:nvPr/>
        </p:nvPicPr>
        <p:blipFill>
          <a:blip r:embed="rId3"/>
          <a:stretch>
            <a:fillRect/>
          </a:stretch>
        </p:blipFill>
        <p:spPr>
          <a:xfrm>
            <a:off x="152400" y="1774825"/>
            <a:ext cx="8693150" cy="3025775"/>
          </a:xfrm>
          <a:prstGeom prst="rect">
            <a:avLst/>
          </a:prstGeom>
          <a:noFill/>
          <a:ln w="9525">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154</a:t>
            </a:fld>
            <a:endParaRPr lang="en-US" sz="2000" b="1">
              <a:latin typeface="Arial" panose="02080604020202020204" pitchFamily="34" charset="0"/>
            </a:endParaRPr>
          </a:p>
        </p:txBody>
      </p:sp>
      <p:sp>
        <p:nvSpPr>
          <p:cNvPr id="660482" name="Rectangles 660481"/>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60483" name="Rectangles 660482"/>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0484" name="Rectangles 660483"/>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60485" name="Rectangles 660484"/>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0486" name="Rectangles 660485"/>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60487" name="Rectangles 660486"/>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60488" name="Rectangles 660487"/>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0489" name="Straight Connector 660488"/>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60490" name="Straight Connector 660489"/>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60491" name="Rectangles 660490"/>
          <p:cNvSpPr/>
          <p:nvPr/>
        </p:nvSpPr>
        <p:spPr>
          <a:xfrm>
            <a:off x="495300" y="3063875"/>
            <a:ext cx="8077200" cy="822325"/>
          </a:xfrm>
          <a:prstGeom prst="rect">
            <a:avLst/>
          </a:prstGeom>
          <a:solidFill>
            <a:srgbClr val="99FF33"/>
          </a:solidFill>
          <a:ln w="76200">
            <a:noFill/>
          </a:ln>
        </p:spPr>
        <p:txBody>
          <a:bodyPr>
            <a:spAutoFit/>
          </a:bodyPr>
          <a:lstStyle/>
          <a:p>
            <a:pPr algn="ctr"/>
            <a:r>
              <a:rPr sz="2400"/>
              <a:t>The transport layer is responsible for the delivery </a:t>
            </a:r>
            <a:br>
              <a:rPr sz="2400"/>
            </a:br>
            <a:r>
              <a:rPr sz="2400"/>
              <a:t>of a message from one process to another.</a:t>
            </a:r>
          </a:p>
        </p:txBody>
      </p:sp>
      <p:grpSp>
        <p:nvGrpSpPr>
          <p:cNvPr id="660495" name="Group 660494"/>
          <p:cNvGrpSpPr/>
          <p:nvPr/>
        </p:nvGrpSpPr>
        <p:grpSpPr>
          <a:xfrm>
            <a:off x="533400" y="2286000"/>
            <a:ext cx="1143000" cy="566738"/>
            <a:chOff x="1200" y="1248"/>
            <a:chExt cx="720" cy="357"/>
          </a:xfrm>
        </p:grpSpPr>
        <p:pic>
          <p:nvPicPr>
            <p:cNvPr id="660496" name="Picture 660495"/>
            <p:cNvPicPr>
              <a:picLocks noChangeAspect="1"/>
            </p:cNvPicPr>
            <p:nvPr/>
          </p:nvPicPr>
          <p:blipFill>
            <a:blip r:embed="rId3"/>
            <a:stretch>
              <a:fillRect/>
            </a:stretch>
          </p:blipFill>
          <p:spPr>
            <a:xfrm>
              <a:off x="1200" y="1248"/>
              <a:ext cx="720" cy="357"/>
            </a:xfrm>
            <a:prstGeom prst="rect">
              <a:avLst/>
            </a:prstGeom>
            <a:noFill/>
            <a:ln w="9525">
              <a:noFill/>
            </a:ln>
          </p:spPr>
        </p:pic>
        <p:sp>
          <p:nvSpPr>
            <p:cNvPr id="660497" name="Text Box 660496"/>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155</a:t>
            </a:fld>
            <a:endParaRPr lang="en-US" sz="2000" b="1">
              <a:latin typeface="Arial" panose="02080604020202020204" pitchFamily="34" charset="0"/>
            </a:endParaRPr>
          </a:p>
        </p:txBody>
      </p:sp>
      <p:sp>
        <p:nvSpPr>
          <p:cNvPr id="645122" name="Straight Connector 645121"/>
          <p:cNvSpPr/>
          <p:nvPr/>
        </p:nvSpPr>
        <p:spPr>
          <a:xfrm>
            <a:off x="152400" y="76200"/>
            <a:ext cx="8763000" cy="0"/>
          </a:xfrm>
          <a:prstGeom prst="line">
            <a:avLst/>
          </a:prstGeom>
          <a:ln w="76200" cap="flat" cmpd="sng">
            <a:solidFill>
              <a:schemeClr val="hlink"/>
            </a:solidFill>
            <a:prstDash val="solid"/>
            <a:headEnd type="none" w="med" len="med"/>
            <a:tailEnd type="none" w="med" len="med"/>
          </a:ln>
        </p:spPr>
      </p:sp>
      <p:sp>
        <p:nvSpPr>
          <p:cNvPr id="645123" name="Straight Connector 645122"/>
          <p:cNvSpPr/>
          <p:nvPr/>
        </p:nvSpPr>
        <p:spPr>
          <a:xfrm>
            <a:off x="152400" y="914400"/>
            <a:ext cx="8763000" cy="0"/>
          </a:xfrm>
          <a:prstGeom prst="line">
            <a:avLst/>
          </a:prstGeom>
          <a:ln w="19050" cap="flat" cmpd="sng">
            <a:solidFill>
              <a:schemeClr val="hlink"/>
            </a:solidFill>
            <a:prstDash val="solid"/>
            <a:headEnd type="none" w="med" len="med"/>
            <a:tailEnd type="none" w="med" len="med"/>
          </a:ln>
        </p:spPr>
      </p:sp>
      <p:sp>
        <p:nvSpPr>
          <p:cNvPr id="645124" name="Text Box 645123"/>
          <p:cNvSpPr txBox="1"/>
          <p:nvPr/>
        </p:nvSpPr>
        <p:spPr>
          <a:xfrm>
            <a:off x="304800" y="304800"/>
            <a:ext cx="6937375" cy="457200"/>
          </a:xfrm>
          <a:prstGeom prst="rect">
            <a:avLst/>
          </a:prstGeom>
          <a:noFill/>
          <a:ln w="9525">
            <a:noFill/>
          </a:ln>
        </p:spPr>
        <p:txBody>
          <a:bodyPr wrap="none" anchor="t" anchorCtr="0">
            <a:spAutoFit/>
          </a:bodyPr>
          <a:lstStyle/>
          <a:p>
            <a:r>
              <a:rPr sz="2400">
                <a:solidFill>
                  <a:schemeClr val="folHlink"/>
                </a:solidFill>
              </a:rPr>
              <a:t>Figure 2.11  </a:t>
            </a:r>
            <a:r>
              <a:rPr sz="2000" i="1"/>
              <a:t>Reliable process-to-process delivery of a message</a:t>
            </a:r>
          </a:p>
        </p:txBody>
      </p:sp>
      <p:sp>
        <p:nvSpPr>
          <p:cNvPr id="645125" name="Straight Connector 645124"/>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5126" name="Picture 645125"/>
          <p:cNvPicPr>
            <a:picLocks noChangeAspect="1"/>
          </p:cNvPicPr>
          <p:nvPr/>
        </p:nvPicPr>
        <p:blipFill>
          <a:blip r:embed="rId3"/>
          <a:stretch>
            <a:fillRect/>
          </a:stretch>
        </p:blipFill>
        <p:spPr>
          <a:xfrm>
            <a:off x="530225" y="2025650"/>
            <a:ext cx="7623175" cy="3136900"/>
          </a:xfrm>
          <a:prstGeom prst="rect">
            <a:avLst/>
          </a:prstGeom>
          <a:noFill/>
          <a:ln w="9525">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156</a:t>
            </a:fld>
            <a:endParaRPr lang="en-US" sz="2000" b="1">
              <a:latin typeface="Arial" panose="02080604020202020204" pitchFamily="34" charset="0"/>
            </a:endParaRPr>
          </a:p>
        </p:txBody>
      </p:sp>
      <p:sp>
        <p:nvSpPr>
          <p:cNvPr id="646146" name="Straight Connector 646145"/>
          <p:cNvSpPr/>
          <p:nvPr/>
        </p:nvSpPr>
        <p:spPr>
          <a:xfrm>
            <a:off x="152400" y="533400"/>
            <a:ext cx="8763000" cy="0"/>
          </a:xfrm>
          <a:prstGeom prst="line">
            <a:avLst/>
          </a:prstGeom>
          <a:ln w="76200" cap="flat" cmpd="sng">
            <a:solidFill>
              <a:schemeClr val="hlink"/>
            </a:solidFill>
            <a:prstDash val="solid"/>
            <a:headEnd type="none" w="med" len="med"/>
            <a:tailEnd type="none" w="med" len="med"/>
          </a:ln>
        </p:spPr>
      </p:sp>
      <p:sp>
        <p:nvSpPr>
          <p:cNvPr id="646147" name="Straight Connector 646146"/>
          <p:cNvSpPr/>
          <p:nvPr/>
        </p:nvSpPr>
        <p:spPr>
          <a:xfrm>
            <a:off x="152400" y="1371600"/>
            <a:ext cx="8763000" cy="0"/>
          </a:xfrm>
          <a:prstGeom prst="line">
            <a:avLst/>
          </a:prstGeom>
          <a:ln w="19050" cap="flat" cmpd="sng">
            <a:solidFill>
              <a:schemeClr val="hlink"/>
            </a:solidFill>
            <a:prstDash val="solid"/>
            <a:headEnd type="none" w="med" len="med"/>
            <a:tailEnd type="none" w="med" len="med"/>
          </a:ln>
        </p:spPr>
      </p:sp>
      <p:sp>
        <p:nvSpPr>
          <p:cNvPr id="646148" name="Text Box 646147"/>
          <p:cNvSpPr txBox="1"/>
          <p:nvPr/>
        </p:nvSpPr>
        <p:spPr>
          <a:xfrm>
            <a:off x="0" y="533400"/>
            <a:ext cx="3186113" cy="457200"/>
          </a:xfrm>
          <a:prstGeom prst="rect">
            <a:avLst/>
          </a:prstGeom>
          <a:noFill/>
          <a:ln w="9525">
            <a:noFill/>
          </a:ln>
        </p:spPr>
        <p:txBody>
          <a:bodyPr wrap="none" anchor="t" anchorCtr="0">
            <a:spAutoFit/>
          </a:bodyPr>
          <a:lstStyle/>
          <a:p>
            <a:r>
              <a:rPr sz="2400">
                <a:solidFill>
                  <a:schemeClr val="folHlink"/>
                </a:solidFill>
              </a:rPr>
              <a:t>Figure 2.12  </a:t>
            </a:r>
            <a:r>
              <a:rPr sz="2000" i="1"/>
              <a:t>Session layer</a:t>
            </a:r>
          </a:p>
        </p:txBody>
      </p:sp>
      <p:sp>
        <p:nvSpPr>
          <p:cNvPr id="646149" name="Straight Connector 646148"/>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6150" name="Picture 646149"/>
          <p:cNvPicPr>
            <a:picLocks noChangeAspect="1"/>
          </p:cNvPicPr>
          <p:nvPr/>
        </p:nvPicPr>
        <p:blipFill>
          <a:blip r:embed="rId3"/>
          <a:stretch>
            <a:fillRect/>
          </a:stretch>
        </p:blipFill>
        <p:spPr>
          <a:xfrm>
            <a:off x="206375" y="1665288"/>
            <a:ext cx="8556625" cy="3973512"/>
          </a:xfrm>
          <a:prstGeom prst="rect">
            <a:avLst/>
          </a:prstGeom>
          <a:noFill/>
          <a:ln w="9525">
            <a:noFill/>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157</a:t>
            </a:fld>
            <a:endParaRPr lang="en-US" sz="2000" b="1">
              <a:latin typeface="Arial" panose="02080604020202020204" pitchFamily="34" charset="0"/>
            </a:endParaRPr>
          </a:p>
        </p:txBody>
      </p:sp>
      <p:sp>
        <p:nvSpPr>
          <p:cNvPr id="671753" name="Straight Connector 671752"/>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71754" name="Straight Connector 671753"/>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71755" name="Rectangles 671754"/>
          <p:cNvSpPr/>
          <p:nvPr/>
        </p:nvSpPr>
        <p:spPr>
          <a:xfrm>
            <a:off x="495300" y="3063875"/>
            <a:ext cx="8077200" cy="822325"/>
          </a:xfrm>
          <a:prstGeom prst="rect">
            <a:avLst/>
          </a:prstGeom>
          <a:solidFill>
            <a:srgbClr val="99FF33"/>
          </a:solidFill>
          <a:ln w="76200">
            <a:noFill/>
          </a:ln>
        </p:spPr>
        <p:txBody>
          <a:bodyPr>
            <a:spAutoFit/>
          </a:bodyPr>
          <a:lstStyle/>
          <a:p>
            <a:pPr algn="ctr"/>
            <a:r>
              <a:rPr sz="2400"/>
              <a:t>The session layer is responsible for dialog </a:t>
            </a:r>
            <a:br>
              <a:rPr sz="2400"/>
            </a:br>
            <a:r>
              <a:rPr sz="2400"/>
              <a:t>control and synchronization.</a:t>
            </a:r>
          </a:p>
        </p:txBody>
      </p:sp>
      <p:grpSp>
        <p:nvGrpSpPr>
          <p:cNvPr id="671768" name="Group 671767"/>
          <p:cNvGrpSpPr/>
          <p:nvPr/>
        </p:nvGrpSpPr>
        <p:grpSpPr>
          <a:xfrm>
            <a:off x="533400" y="2286000"/>
            <a:ext cx="1143000" cy="566738"/>
            <a:chOff x="1200" y="1248"/>
            <a:chExt cx="720" cy="357"/>
          </a:xfrm>
        </p:grpSpPr>
        <p:pic>
          <p:nvPicPr>
            <p:cNvPr id="671767" name="Picture 671766"/>
            <p:cNvPicPr>
              <a:picLocks noChangeAspect="1"/>
            </p:cNvPicPr>
            <p:nvPr/>
          </p:nvPicPr>
          <p:blipFill>
            <a:blip r:embed="rId3"/>
            <a:stretch>
              <a:fillRect/>
            </a:stretch>
          </p:blipFill>
          <p:spPr>
            <a:xfrm>
              <a:off x="1200" y="1248"/>
              <a:ext cx="720" cy="357"/>
            </a:xfrm>
            <a:prstGeom prst="rect">
              <a:avLst/>
            </a:prstGeom>
            <a:noFill/>
            <a:ln w="9525">
              <a:noFill/>
            </a:ln>
          </p:spPr>
        </p:pic>
        <p:sp>
          <p:nvSpPr>
            <p:cNvPr id="671757" name="Text Box 671756"/>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158</a:t>
            </a:fld>
            <a:endParaRPr lang="en-US" sz="2000" b="1">
              <a:latin typeface="Arial" panose="02080604020202020204" pitchFamily="34" charset="0"/>
            </a:endParaRPr>
          </a:p>
        </p:txBody>
      </p:sp>
      <p:sp>
        <p:nvSpPr>
          <p:cNvPr id="647170" name="Straight Connector 647169"/>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7171" name="Straight Connector 647170"/>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7172" name="Text Box 647171"/>
          <p:cNvSpPr txBox="1"/>
          <p:nvPr/>
        </p:nvSpPr>
        <p:spPr>
          <a:xfrm>
            <a:off x="304800" y="381000"/>
            <a:ext cx="3721100" cy="457200"/>
          </a:xfrm>
          <a:prstGeom prst="rect">
            <a:avLst/>
          </a:prstGeom>
          <a:noFill/>
          <a:ln w="9525">
            <a:noFill/>
          </a:ln>
        </p:spPr>
        <p:txBody>
          <a:bodyPr wrap="none" anchor="t" anchorCtr="0">
            <a:spAutoFit/>
          </a:bodyPr>
          <a:lstStyle/>
          <a:p>
            <a:r>
              <a:rPr sz="2400">
                <a:solidFill>
                  <a:schemeClr val="folHlink"/>
                </a:solidFill>
              </a:rPr>
              <a:t>Figure 2.13  </a:t>
            </a:r>
            <a:r>
              <a:rPr sz="2000" i="1"/>
              <a:t>Presentation layer</a:t>
            </a:r>
          </a:p>
        </p:txBody>
      </p:sp>
      <p:sp>
        <p:nvSpPr>
          <p:cNvPr id="647173" name="Straight Connector 647172"/>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7174" name="Picture 647173"/>
          <p:cNvPicPr>
            <a:picLocks noChangeAspect="1"/>
          </p:cNvPicPr>
          <p:nvPr/>
        </p:nvPicPr>
        <p:blipFill>
          <a:blip r:embed="rId3"/>
          <a:stretch>
            <a:fillRect/>
          </a:stretch>
        </p:blipFill>
        <p:spPr>
          <a:xfrm>
            <a:off x="344488" y="2014538"/>
            <a:ext cx="8418512" cy="2862262"/>
          </a:xfrm>
          <a:prstGeom prst="rect">
            <a:avLst/>
          </a:prstGeom>
          <a:noFill/>
          <a:ln w="9525">
            <a:noFill/>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159</a:t>
            </a:fld>
            <a:endParaRPr lang="en-US" sz="2000" b="1">
              <a:latin typeface="Arial" panose="02080604020202020204" pitchFamily="34" charset="0"/>
            </a:endParaRPr>
          </a:p>
        </p:txBody>
      </p:sp>
      <p:sp>
        <p:nvSpPr>
          <p:cNvPr id="661506" name="Rectangles 661505"/>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61507" name="Rectangles 661506"/>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1508" name="Rectangles 661507"/>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61509" name="Rectangles 661508"/>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1510" name="Rectangles 661509"/>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61511" name="Rectangles 661510"/>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61512" name="Rectangles 661511"/>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1513" name="Straight Connector 661512"/>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61514" name="Straight Connector 661513"/>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61515" name="Rectangles 661514"/>
          <p:cNvSpPr/>
          <p:nvPr/>
        </p:nvSpPr>
        <p:spPr>
          <a:xfrm>
            <a:off x="495300" y="3063875"/>
            <a:ext cx="8077200" cy="822325"/>
          </a:xfrm>
          <a:prstGeom prst="rect">
            <a:avLst/>
          </a:prstGeom>
          <a:solidFill>
            <a:srgbClr val="99FF33"/>
          </a:solidFill>
          <a:ln w="76200">
            <a:noFill/>
          </a:ln>
        </p:spPr>
        <p:txBody>
          <a:bodyPr>
            <a:spAutoFit/>
          </a:bodyPr>
          <a:lstStyle/>
          <a:p>
            <a:pPr algn="ctr"/>
            <a:r>
              <a:rPr sz="2400"/>
              <a:t>The presentation layer is responsible for translation, compression, and encryption.</a:t>
            </a:r>
          </a:p>
        </p:txBody>
      </p:sp>
      <p:grpSp>
        <p:nvGrpSpPr>
          <p:cNvPr id="661519" name="Group 661518"/>
          <p:cNvGrpSpPr/>
          <p:nvPr/>
        </p:nvGrpSpPr>
        <p:grpSpPr>
          <a:xfrm>
            <a:off x="533400" y="2286000"/>
            <a:ext cx="1143000" cy="566738"/>
            <a:chOff x="1200" y="1248"/>
            <a:chExt cx="720" cy="357"/>
          </a:xfrm>
        </p:grpSpPr>
        <p:pic>
          <p:nvPicPr>
            <p:cNvPr id="661520" name="Picture 661519"/>
            <p:cNvPicPr>
              <a:picLocks noChangeAspect="1"/>
            </p:cNvPicPr>
            <p:nvPr/>
          </p:nvPicPr>
          <p:blipFill>
            <a:blip r:embed="rId3"/>
            <a:stretch>
              <a:fillRect/>
            </a:stretch>
          </p:blipFill>
          <p:spPr>
            <a:xfrm>
              <a:off x="1200" y="1248"/>
              <a:ext cx="720" cy="357"/>
            </a:xfrm>
            <a:prstGeom prst="rect">
              <a:avLst/>
            </a:prstGeom>
            <a:noFill/>
            <a:ln w="9525">
              <a:noFill/>
            </a:ln>
          </p:spPr>
        </p:pic>
        <p:sp>
          <p:nvSpPr>
            <p:cNvPr id="661521" name="Text Box 661520"/>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160</a:t>
            </a:fld>
            <a:endParaRPr lang="en-US" sz="2000" b="1">
              <a:latin typeface="Arial" panose="02080604020202020204" pitchFamily="34" charset="0"/>
            </a:endParaRPr>
          </a:p>
        </p:txBody>
      </p:sp>
      <p:sp>
        <p:nvSpPr>
          <p:cNvPr id="648194" name="Straight Connector 648193"/>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48195" name="Straight Connector 648194"/>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48196" name="Text Box 648195"/>
          <p:cNvSpPr txBox="1"/>
          <p:nvPr/>
        </p:nvSpPr>
        <p:spPr>
          <a:xfrm>
            <a:off x="304800" y="381000"/>
            <a:ext cx="3608388" cy="457200"/>
          </a:xfrm>
          <a:prstGeom prst="rect">
            <a:avLst/>
          </a:prstGeom>
          <a:noFill/>
          <a:ln w="9525">
            <a:noFill/>
          </a:ln>
        </p:spPr>
        <p:txBody>
          <a:bodyPr wrap="none" anchor="t" anchorCtr="0">
            <a:spAutoFit/>
          </a:bodyPr>
          <a:lstStyle/>
          <a:p>
            <a:r>
              <a:rPr sz="2400">
                <a:solidFill>
                  <a:schemeClr val="folHlink"/>
                </a:solidFill>
              </a:rPr>
              <a:t>Figure 2.14  </a:t>
            </a:r>
            <a:r>
              <a:rPr sz="2000" i="1"/>
              <a:t>Application layer</a:t>
            </a:r>
          </a:p>
        </p:txBody>
      </p:sp>
      <p:sp>
        <p:nvSpPr>
          <p:cNvPr id="648197" name="Straight Connector 648196"/>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8198" name="Picture 648197"/>
          <p:cNvPicPr>
            <a:picLocks noChangeAspect="1"/>
          </p:cNvPicPr>
          <p:nvPr/>
        </p:nvPicPr>
        <p:blipFill>
          <a:blip r:embed="rId3"/>
          <a:stretch>
            <a:fillRect/>
          </a:stretch>
        </p:blipFill>
        <p:spPr>
          <a:xfrm>
            <a:off x="384175" y="1371600"/>
            <a:ext cx="8455025" cy="4275138"/>
          </a:xfrm>
          <a:prstGeom prst="rect">
            <a:avLst/>
          </a:prstGeom>
          <a:noFill/>
          <a:ln w="9525">
            <a:noFill/>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161</a:t>
            </a:fld>
            <a:endParaRPr lang="en-US" sz="2000" b="1">
              <a:latin typeface="Arial" panose="02080604020202020204" pitchFamily="34" charset="0"/>
            </a:endParaRPr>
          </a:p>
        </p:txBody>
      </p:sp>
      <p:sp>
        <p:nvSpPr>
          <p:cNvPr id="662530" name="Rectangles 662529"/>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62531" name="Rectangles 662530"/>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2532" name="Rectangles 662531"/>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62533" name="Rectangles 662532"/>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2534" name="Rectangles 662533"/>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62535" name="Rectangles 662534"/>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62536" name="Rectangles 662535"/>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2537" name="Straight Connector 662536"/>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62538" name="Straight Connector 662537"/>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62539" name="Rectangles 662538"/>
          <p:cNvSpPr/>
          <p:nvPr/>
        </p:nvSpPr>
        <p:spPr>
          <a:xfrm>
            <a:off x="495300" y="3063875"/>
            <a:ext cx="8077200" cy="822325"/>
          </a:xfrm>
          <a:prstGeom prst="rect">
            <a:avLst/>
          </a:prstGeom>
          <a:solidFill>
            <a:srgbClr val="99FF33"/>
          </a:solidFill>
          <a:ln w="76200">
            <a:noFill/>
          </a:ln>
        </p:spPr>
        <p:txBody>
          <a:bodyPr>
            <a:spAutoFit/>
          </a:bodyPr>
          <a:lstStyle/>
          <a:p>
            <a:pPr algn="ctr"/>
            <a:r>
              <a:rPr sz="2400"/>
              <a:t>The application layer is responsible for </a:t>
            </a:r>
            <a:br>
              <a:rPr sz="2400"/>
            </a:br>
            <a:r>
              <a:rPr sz="2400"/>
              <a:t>providing services to the user.</a:t>
            </a:r>
          </a:p>
        </p:txBody>
      </p:sp>
      <p:grpSp>
        <p:nvGrpSpPr>
          <p:cNvPr id="662543" name="Group 662542"/>
          <p:cNvGrpSpPr/>
          <p:nvPr/>
        </p:nvGrpSpPr>
        <p:grpSpPr>
          <a:xfrm>
            <a:off x="533400" y="2286000"/>
            <a:ext cx="1143000" cy="566738"/>
            <a:chOff x="1200" y="1248"/>
            <a:chExt cx="720" cy="357"/>
          </a:xfrm>
        </p:grpSpPr>
        <p:pic>
          <p:nvPicPr>
            <p:cNvPr id="662544" name="Picture 662543"/>
            <p:cNvPicPr>
              <a:picLocks noChangeAspect="1"/>
            </p:cNvPicPr>
            <p:nvPr/>
          </p:nvPicPr>
          <p:blipFill>
            <a:blip r:embed="rId3"/>
            <a:stretch>
              <a:fillRect/>
            </a:stretch>
          </p:blipFill>
          <p:spPr>
            <a:xfrm>
              <a:off x="1200" y="1248"/>
              <a:ext cx="720" cy="357"/>
            </a:xfrm>
            <a:prstGeom prst="rect">
              <a:avLst/>
            </a:prstGeom>
            <a:noFill/>
            <a:ln w="9525">
              <a:noFill/>
            </a:ln>
          </p:spPr>
        </p:pic>
        <p:sp>
          <p:nvSpPr>
            <p:cNvPr id="662545" name="Text Box 662544"/>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162</a:t>
            </a:fld>
            <a:endParaRPr lang="en-US" sz="2000" b="1">
              <a:latin typeface="Arial" panose="02080604020202020204" pitchFamily="34" charset="0"/>
            </a:endParaRPr>
          </a:p>
        </p:txBody>
      </p:sp>
      <p:sp>
        <p:nvSpPr>
          <p:cNvPr id="649218" name="Straight Connector 649217"/>
          <p:cNvSpPr/>
          <p:nvPr/>
        </p:nvSpPr>
        <p:spPr>
          <a:xfrm>
            <a:off x="152400" y="76200"/>
            <a:ext cx="8763000" cy="0"/>
          </a:xfrm>
          <a:prstGeom prst="line">
            <a:avLst/>
          </a:prstGeom>
          <a:ln w="76200" cap="flat" cmpd="sng">
            <a:solidFill>
              <a:schemeClr val="hlink"/>
            </a:solidFill>
            <a:prstDash val="solid"/>
            <a:headEnd type="none" w="med" len="med"/>
            <a:tailEnd type="none" w="med" len="med"/>
          </a:ln>
        </p:spPr>
      </p:sp>
      <p:sp>
        <p:nvSpPr>
          <p:cNvPr id="649219" name="Straight Connector 649218"/>
          <p:cNvSpPr/>
          <p:nvPr/>
        </p:nvSpPr>
        <p:spPr>
          <a:xfrm>
            <a:off x="152400" y="914400"/>
            <a:ext cx="8763000" cy="0"/>
          </a:xfrm>
          <a:prstGeom prst="line">
            <a:avLst/>
          </a:prstGeom>
          <a:ln w="19050" cap="flat" cmpd="sng">
            <a:solidFill>
              <a:schemeClr val="hlink"/>
            </a:solidFill>
            <a:prstDash val="solid"/>
            <a:headEnd type="none" w="med" len="med"/>
            <a:tailEnd type="none" w="med" len="med"/>
          </a:ln>
        </p:spPr>
      </p:sp>
      <p:sp>
        <p:nvSpPr>
          <p:cNvPr id="649220" name="Text Box 649219"/>
          <p:cNvSpPr txBox="1"/>
          <p:nvPr/>
        </p:nvSpPr>
        <p:spPr>
          <a:xfrm>
            <a:off x="304800" y="304800"/>
            <a:ext cx="3784600" cy="457200"/>
          </a:xfrm>
          <a:prstGeom prst="rect">
            <a:avLst/>
          </a:prstGeom>
          <a:noFill/>
          <a:ln w="9525">
            <a:noFill/>
          </a:ln>
        </p:spPr>
        <p:txBody>
          <a:bodyPr wrap="none" anchor="t" anchorCtr="0">
            <a:spAutoFit/>
          </a:bodyPr>
          <a:lstStyle/>
          <a:p>
            <a:r>
              <a:rPr sz="2400">
                <a:solidFill>
                  <a:schemeClr val="folHlink"/>
                </a:solidFill>
              </a:rPr>
              <a:t>Figure 2.15  </a:t>
            </a:r>
            <a:r>
              <a:rPr sz="2000" i="1"/>
              <a:t>Summary of layers</a:t>
            </a:r>
          </a:p>
        </p:txBody>
      </p:sp>
      <p:sp>
        <p:nvSpPr>
          <p:cNvPr id="649221" name="Straight Connector 649220"/>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49222" name="Picture 649221"/>
          <p:cNvPicPr>
            <a:picLocks noChangeAspect="1"/>
          </p:cNvPicPr>
          <p:nvPr/>
        </p:nvPicPr>
        <p:blipFill>
          <a:blip r:embed="rId3"/>
          <a:stretch>
            <a:fillRect/>
          </a:stretch>
        </p:blipFill>
        <p:spPr>
          <a:xfrm>
            <a:off x="344488" y="1644650"/>
            <a:ext cx="8189912" cy="3765550"/>
          </a:xfrm>
          <a:prstGeom prst="rect">
            <a:avLst/>
          </a:prstGeom>
          <a:noFill/>
          <a:ln w="9525">
            <a:noFill/>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163</a:t>
            </a:fld>
            <a:endParaRPr lang="en-US" sz="2000" b="1">
              <a:latin typeface="Arial" panose="02080604020202020204" pitchFamily="34" charset="0"/>
            </a:endParaRPr>
          </a:p>
        </p:txBody>
      </p:sp>
      <p:sp>
        <p:nvSpPr>
          <p:cNvPr id="679938" name="Rectangles 679937"/>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dirty="0">
              <a:effectLst>
                <a:outerShdw blurRad="38100" dist="38100" dir="2700000">
                  <a:srgbClr val="FFFFFF"/>
                </a:outerShdw>
              </a:effectLst>
            </a:endParaRPr>
          </a:p>
        </p:txBody>
      </p:sp>
      <p:sp>
        <p:nvSpPr>
          <p:cNvPr id="679939" name="Text Box 679938"/>
          <p:cNvSpPr txBox="1"/>
          <p:nvPr/>
        </p:nvSpPr>
        <p:spPr>
          <a:xfrm>
            <a:off x="228600" y="76200"/>
            <a:ext cx="6111875" cy="579438"/>
          </a:xfrm>
          <a:prstGeom prst="rect">
            <a:avLst/>
          </a:prstGeom>
          <a:noFill/>
          <a:ln w="9525">
            <a:noFill/>
          </a:ln>
        </p:spPr>
        <p:txBody>
          <a:bodyPr wrap="none" anchor="t" anchorCtr="0">
            <a:spAutoFit/>
          </a:bodyPr>
          <a:lstStyle/>
          <a:p>
            <a:r>
              <a:rPr sz="3200">
                <a:effectLst>
                  <a:outerShdw blurRad="38100" dist="38100" dir="2700000">
                    <a:srgbClr val="C0C0C0"/>
                  </a:outerShdw>
                </a:effectLst>
                <a:latin typeface="Times" charset="0"/>
              </a:rPr>
              <a:t>2-4   TCP/IP PROTOCOL SUITE</a:t>
            </a:r>
          </a:p>
        </p:txBody>
      </p:sp>
      <p:sp>
        <p:nvSpPr>
          <p:cNvPr id="679940" name="Text Box 679939"/>
          <p:cNvSpPr txBox="1"/>
          <p:nvPr/>
        </p:nvSpPr>
        <p:spPr>
          <a:xfrm>
            <a:off x="8229600" y="6400800"/>
            <a:ext cx="184150" cy="366713"/>
          </a:xfrm>
          <a:prstGeom prst="rect">
            <a:avLst/>
          </a:prstGeom>
          <a:noFill/>
          <a:ln w="9525">
            <a:noFill/>
          </a:ln>
        </p:spPr>
        <p:txBody>
          <a:bodyPr wrap="none" anchor="t" anchorCtr="0">
            <a:spAutoFit/>
          </a:bodyPr>
          <a:lstStyle/>
          <a:p>
            <a:endParaRPr dirty="0"/>
          </a:p>
        </p:txBody>
      </p:sp>
      <p:sp>
        <p:nvSpPr>
          <p:cNvPr id="679941" name="Rectangles 679940"/>
          <p:cNvSpPr/>
          <p:nvPr/>
        </p:nvSpPr>
        <p:spPr>
          <a:xfrm>
            <a:off x="76200" y="990600"/>
            <a:ext cx="8610600" cy="3081338"/>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rPr>
              <a:t>The layers in the </a:t>
            </a:r>
            <a:r>
              <a:rPr sz="2800" i="1">
                <a:solidFill>
                  <a:schemeClr val="hlink"/>
                </a:solidFill>
                <a:effectLst>
                  <a:outerShdw blurRad="38100" dist="38100" dir="2700000">
                    <a:srgbClr val="C0C0C0"/>
                  </a:outerShdw>
                </a:effectLst>
              </a:rPr>
              <a:t>TCP/IP protocol suite</a:t>
            </a:r>
            <a:r>
              <a:rPr sz="2800" i="1">
                <a:effectLst>
                  <a:outerShdw blurRad="38100" dist="38100" dir="2700000">
                    <a:srgbClr val="C0C0C0"/>
                  </a:outerShdw>
                </a:effectLst>
              </a:rPr>
              <a:t> do not exactly match those in the OSI model. The original TCP/IP protocol suite was defined as having four layers: </a:t>
            </a:r>
            <a:r>
              <a:rPr sz="2800" i="1">
                <a:solidFill>
                  <a:schemeClr val="folHlink"/>
                </a:solidFill>
                <a:effectLst>
                  <a:outerShdw blurRad="38100" dist="38100" dir="2700000">
                    <a:srgbClr val="C0C0C0"/>
                  </a:outerShdw>
                </a:effectLst>
              </a:rPr>
              <a:t>host-to-network</a:t>
            </a:r>
            <a:r>
              <a:rPr sz="2800" i="1">
                <a:effectLst>
                  <a:outerShdw blurRad="38100" dist="38100" dir="2700000">
                    <a:srgbClr val="C0C0C0"/>
                  </a:outerShdw>
                </a:effectLst>
              </a:rPr>
              <a:t>, </a:t>
            </a:r>
            <a:r>
              <a:rPr sz="2800" i="1">
                <a:solidFill>
                  <a:schemeClr val="folHlink"/>
                </a:solidFill>
                <a:effectLst>
                  <a:outerShdw blurRad="38100" dist="38100" dir="2700000">
                    <a:srgbClr val="C0C0C0"/>
                  </a:outerShdw>
                </a:effectLst>
              </a:rPr>
              <a:t>internet</a:t>
            </a:r>
            <a:r>
              <a:rPr sz="2800" i="1">
                <a:effectLst>
                  <a:outerShdw blurRad="38100" dist="38100" dir="2700000">
                    <a:srgbClr val="C0C0C0"/>
                  </a:outerShdw>
                </a:effectLst>
              </a:rPr>
              <a:t>, </a:t>
            </a:r>
            <a:r>
              <a:rPr sz="2800" i="1">
                <a:solidFill>
                  <a:schemeClr val="folHlink"/>
                </a:solidFill>
                <a:effectLst>
                  <a:outerShdw blurRad="38100" dist="38100" dir="2700000">
                    <a:srgbClr val="C0C0C0"/>
                  </a:outerShdw>
                </a:effectLst>
              </a:rPr>
              <a:t>transport</a:t>
            </a:r>
            <a:r>
              <a:rPr sz="2800" i="1">
                <a:effectLst>
                  <a:outerShdw blurRad="38100" dist="38100" dir="2700000">
                    <a:srgbClr val="C0C0C0"/>
                  </a:outerShdw>
                </a:effectLst>
              </a:rPr>
              <a:t>, and </a:t>
            </a:r>
            <a:r>
              <a:rPr sz="2800" i="1">
                <a:solidFill>
                  <a:schemeClr val="folHlink"/>
                </a:solidFill>
                <a:effectLst>
                  <a:outerShdw blurRad="38100" dist="38100" dir="2700000">
                    <a:srgbClr val="C0C0C0"/>
                  </a:outerShdw>
                </a:effectLst>
              </a:rPr>
              <a:t>application</a:t>
            </a:r>
            <a:r>
              <a:rPr sz="2800" i="1">
                <a:effectLst>
                  <a:outerShdw blurRad="38100" dist="38100" dir="2700000">
                    <a:srgbClr val="C0C0C0"/>
                  </a:outerShdw>
                </a:effectLst>
              </a:rPr>
              <a:t>. However, when TCP/IP is compared to OSI, we can say that the TCP/IP protocol suite is made of five layers: </a:t>
            </a:r>
            <a:r>
              <a:rPr sz="2800" i="1">
                <a:solidFill>
                  <a:schemeClr val="folHlink"/>
                </a:solidFill>
                <a:effectLst>
                  <a:outerShdw blurRad="38100" dist="38100" dir="2700000">
                    <a:srgbClr val="C0C0C0"/>
                  </a:outerShdw>
                </a:effectLst>
              </a:rPr>
              <a:t>physical</a:t>
            </a:r>
            <a:r>
              <a:rPr sz="2800" i="1">
                <a:effectLst>
                  <a:outerShdw blurRad="38100" dist="38100" dir="2700000">
                    <a:srgbClr val="C0C0C0"/>
                  </a:outerShdw>
                </a:effectLst>
              </a:rPr>
              <a:t>, </a:t>
            </a:r>
            <a:r>
              <a:rPr sz="2800" i="1">
                <a:solidFill>
                  <a:schemeClr val="folHlink"/>
                </a:solidFill>
                <a:effectLst>
                  <a:outerShdw blurRad="38100" dist="38100" dir="2700000">
                    <a:srgbClr val="C0C0C0"/>
                  </a:outerShdw>
                </a:effectLst>
              </a:rPr>
              <a:t>data link</a:t>
            </a:r>
            <a:r>
              <a:rPr sz="2800" i="1">
                <a:effectLst>
                  <a:outerShdw blurRad="38100" dist="38100" dir="2700000">
                    <a:srgbClr val="C0C0C0"/>
                  </a:outerShdw>
                </a:effectLst>
              </a:rPr>
              <a:t>, </a:t>
            </a:r>
            <a:r>
              <a:rPr sz="2800" i="1">
                <a:solidFill>
                  <a:schemeClr val="folHlink"/>
                </a:solidFill>
                <a:effectLst>
                  <a:outerShdw blurRad="38100" dist="38100" dir="2700000">
                    <a:srgbClr val="C0C0C0"/>
                  </a:outerShdw>
                </a:effectLst>
              </a:rPr>
              <a:t>network</a:t>
            </a:r>
            <a:r>
              <a:rPr sz="2800" i="1">
                <a:effectLst>
                  <a:outerShdw blurRad="38100" dist="38100" dir="2700000">
                    <a:srgbClr val="C0C0C0"/>
                  </a:outerShdw>
                </a:effectLst>
              </a:rPr>
              <a:t>, </a:t>
            </a:r>
            <a:r>
              <a:rPr sz="2800" i="1">
                <a:solidFill>
                  <a:schemeClr val="folHlink"/>
                </a:solidFill>
                <a:effectLst>
                  <a:outerShdw blurRad="38100" dist="38100" dir="2700000">
                    <a:srgbClr val="C0C0C0"/>
                  </a:outerShdw>
                </a:effectLst>
              </a:rPr>
              <a:t>transport</a:t>
            </a:r>
            <a:r>
              <a:rPr sz="2800" i="1">
                <a:effectLst>
                  <a:outerShdw blurRad="38100" dist="38100" dir="2700000">
                    <a:srgbClr val="C0C0C0"/>
                  </a:outerShdw>
                </a:effectLst>
              </a:rPr>
              <a:t>, and </a:t>
            </a:r>
            <a:r>
              <a:rPr sz="2800" i="1">
                <a:solidFill>
                  <a:schemeClr val="folHlink"/>
                </a:solidFill>
                <a:effectLst>
                  <a:outerShdw blurRad="38100" dist="38100" dir="2700000">
                    <a:srgbClr val="C0C0C0"/>
                  </a:outerShdw>
                </a:effectLst>
              </a:rPr>
              <a:t>application</a:t>
            </a:r>
            <a:r>
              <a:rPr sz="2800" i="1">
                <a:effectLst>
                  <a:outerShdw blurRad="38100" dist="38100" dir="2700000">
                    <a:srgbClr val="C0C0C0"/>
                  </a:outerShdw>
                </a:effectLst>
              </a:rPr>
              <a:t>.</a:t>
            </a:r>
          </a:p>
        </p:txBody>
      </p:sp>
      <p:sp>
        <p:nvSpPr>
          <p:cNvPr id="679942" name="Rectangles 679941"/>
          <p:cNvSpPr/>
          <p:nvPr/>
        </p:nvSpPr>
        <p:spPr>
          <a:xfrm>
            <a:off x="152400" y="4819650"/>
            <a:ext cx="5715000" cy="1552575"/>
          </a:xfrm>
          <a:prstGeom prst="rect">
            <a:avLst/>
          </a:prstGeom>
          <a:noFill/>
          <a:ln w="9525">
            <a:noFill/>
          </a:ln>
        </p:spPr>
        <p:txBody>
          <a:bodyPr>
            <a:spAutoFit/>
          </a:bodyPr>
          <a:lstStyle/>
          <a:p>
            <a:pPr>
              <a:buClr>
                <a:schemeClr val="tx1"/>
              </a:buClr>
              <a:buSzPct val="117000"/>
              <a:buFont typeface="Wingdings" panose="05000000000000000000" pitchFamily="2" charset="2"/>
            </a:pPr>
            <a:r>
              <a:rPr sz="2400">
                <a:solidFill>
                  <a:srgbClr val="0033CC"/>
                </a:solidFill>
              </a:rPr>
              <a:t>Physical and Data Link Layers</a:t>
            </a:r>
            <a:br>
              <a:rPr lang="fr-FR" altLang="x-none" sz="2400" dirty="0">
                <a:solidFill>
                  <a:srgbClr val="0033CC"/>
                </a:solidFill>
              </a:rPr>
            </a:br>
            <a:r>
              <a:rPr lang="fr-FR" altLang="x-none" sz="2400" dirty="0">
                <a:solidFill>
                  <a:srgbClr val="0033CC"/>
                </a:solidFill>
              </a:rPr>
              <a:t>Network Layer</a:t>
            </a:r>
            <a:br>
              <a:rPr lang="fr-FR" altLang="x-none" sz="2400" dirty="0">
                <a:solidFill>
                  <a:srgbClr val="0033CC"/>
                </a:solidFill>
              </a:rPr>
            </a:br>
            <a:r>
              <a:rPr sz="2400">
                <a:solidFill>
                  <a:srgbClr val="0033CC"/>
                </a:solidFill>
              </a:rPr>
              <a:t>Transport Layer</a:t>
            </a:r>
          </a:p>
          <a:p>
            <a:pPr>
              <a:buClr>
                <a:schemeClr val="tx1"/>
              </a:buClr>
              <a:buSzPct val="117000"/>
              <a:buFont typeface="Wingdings" panose="05000000000000000000" pitchFamily="2" charset="2"/>
            </a:pPr>
            <a:r>
              <a:rPr sz="2400">
                <a:solidFill>
                  <a:srgbClr val="0033CC"/>
                </a:solidFill>
              </a:rPr>
              <a:t>Application Layer</a:t>
            </a:r>
          </a:p>
        </p:txBody>
      </p:sp>
      <p:sp>
        <p:nvSpPr>
          <p:cNvPr id="679943" name="Text Box 679942"/>
          <p:cNvSpPr txBox="1"/>
          <p:nvPr/>
        </p:nvSpPr>
        <p:spPr>
          <a:xfrm>
            <a:off x="163513" y="4343400"/>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rPr>
              <a:t>Topics discussed in this section:</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164</a:t>
            </a:fld>
            <a:endParaRPr lang="en-US" sz="2000" b="1">
              <a:latin typeface="Arial" panose="02080604020202020204" pitchFamily="34" charset="0"/>
            </a:endParaRPr>
          </a:p>
        </p:txBody>
      </p:sp>
      <p:sp>
        <p:nvSpPr>
          <p:cNvPr id="650242" name="Straight Connector 650241"/>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0243" name="Straight Connector 650242"/>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0244" name="Text Box 650243"/>
          <p:cNvSpPr txBox="1"/>
          <p:nvPr/>
        </p:nvSpPr>
        <p:spPr>
          <a:xfrm>
            <a:off x="304800" y="381000"/>
            <a:ext cx="4257675" cy="457200"/>
          </a:xfrm>
          <a:prstGeom prst="rect">
            <a:avLst/>
          </a:prstGeom>
          <a:noFill/>
          <a:ln w="9525">
            <a:noFill/>
          </a:ln>
        </p:spPr>
        <p:txBody>
          <a:bodyPr wrap="none" anchor="t" anchorCtr="0">
            <a:spAutoFit/>
          </a:bodyPr>
          <a:lstStyle/>
          <a:p>
            <a:r>
              <a:rPr sz="2400">
                <a:solidFill>
                  <a:schemeClr val="folHlink"/>
                </a:solidFill>
              </a:rPr>
              <a:t>Figure 2.16  </a:t>
            </a:r>
            <a:r>
              <a:rPr sz="2000" i="1"/>
              <a:t>TCP/IP and OSI model</a:t>
            </a:r>
          </a:p>
        </p:txBody>
      </p:sp>
      <p:sp>
        <p:nvSpPr>
          <p:cNvPr id="650245" name="Straight Connector 650244"/>
          <p:cNvSpPr/>
          <p:nvPr/>
        </p:nvSpPr>
        <p:spPr>
          <a:xfrm>
            <a:off x="152400" y="6324600"/>
            <a:ext cx="8763000" cy="0"/>
          </a:xfrm>
          <a:prstGeom prst="line">
            <a:avLst/>
          </a:prstGeom>
          <a:ln w="76200" cap="flat" cmpd="sng">
            <a:solidFill>
              <a:schemeClr val="hlink"/>
            </a:solidFill>
            <a:prstDash val="solid"/>
            <a:headEnd type="none" w="med" len="med"/>
            <a:tailEnd type="none" w="med" len="med"/>
          </a:ln>
        </p:spPr>
      </p:sp>
      <p:pic>
        <p:nvPicPr>
          <p:cNvPr id="650247" name="Picture 650246"/>
          <p:cNvPicPr>
            <a:picLocks noChangeAspect="1"/>
          </p:cNvPicPr>
          <p:nvPr/>
        </p:nvPicPr>
        <p:blipFill>
          <a:blip r:embed="rId3"/>
          <a:stretch>
            <a:fillRect/>
          </a:stretch>
        </p:blipFill>
        <p:spPr>
          <a:xfrm>
            <a:off x="696913" y="1143000"/>
            <a:ext cx="7532687" cy="5002213"/>
          </a:xfrm>
          <a:prstGeom prst="rect">
            <a:avLst/>
          </a:prstGeom>
          <a:noFill/>
          <a:ln w="9525">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165</a:t>
            </a:fld>
            <a:endParaRPr lang="en-US" sz="2000" b="1">
              <a:latin typeface="Arial" panose="02080604020202020204" pitchFamily="34" charset="0"/>
            </a:endParaRPr>
          </a:p>
        </p:txBody>
      </p:sp>
      <p:sp>
        <p:nvSpPr>
          <p:cNvPr id="680962" name="Rectangles 680961"/>
          <p:cNvSpPr/>
          <p:nvPr/>
        </p:nvSpPr>
        <p:spPr>
          <a:xfrm>
            <a:off x="0" y="0"/>
            <a:ext cx="9144000" cy="838200"/>
          </a:xfrm>
          <a:prstGeom prst="rect">
            <a:avLst/>
          </a:prstGeom>
          <a:solidFill>
            <a:srgbClr val="33CCFF"/>
          </a:solidFill>
          <a:ln w="9525" cap="flat" cmpd="sng">
            <a:solidFill>
              <a:schemeClr val="tx1"/>
            </a:solidFill>
            <a:prstDash val="solid"/>
            <a:miter/>
            <a:headEnd type="none" w="med" len="med"/>
            <a:tailEnd type="none" w="med" len="med"/>
          </a:ln>
        </p:spPr>
        <p:txBody>
          <a:bodyPr wrap="none" anchor="ctr" anchorCtr="0"/>
          <a:lstStyle/>
          <a:p>
            <a:pPr algn="ctr"/>
            <a:endParaRPr sz="3200" dirty="0">
              <a:effectLst>
                <a:outerShdw blurRad="38100" dist="38100" dir="2700000">
                  <a:srgbClr val="FFFFFF"/>
                </a:outerShdw>
              </a:effectLst>
            </a:endParaRPr>
          </a:p>
        </p:txBody>
      </p:sp>
      <p:sp>
        <p:nvSpPr>
          <p:cNvPr id="680963" name="Text Box 680962"/>
          <p:cNvSpPr txBox="1"/>
          <p:nvPr/>
        </p:nvSpPr>
        <p:spPr>
          <a:xfrm>
            <a:off x="228600" y="76200"/>
            <a:ext cx="3695700" cy="579438"/>
          </a:xfrm>
          <a:prstGeom prst="rect">
            <a:avLst/>
          </a:prstGeom>
          <a:noFill/>
          <a:ln w="9525">
            <a:noFill/>
          </a:ln>
        </p:spPr>
        <p:txBody>
          <a:bodyPr wrap="none" anchor="t" anchorCtr="0">
            <a:spAutoFit/>
          </a:bodyPr>
          <a:lstStyle/>
          <a:p>
            <a:r>
              <a:rPr sz="3200">
                <a:effectLst>
                  <a:outerShdw blurRad="38100" dist="38100" dir="2700000">
                    <a:srgbClr val="C0C0C0"/>
                  </a:outerShdw>
                </a:effectLst>
                <a:latin typeface="Times" charset="0"/>
              </a:rPr>
              <a:t>2-5   ADDRESSING</a:t>
            </a:r>
          </a:p>
        </p:txBody>
      </p:sp>
      <p:sp>
        <p:nvSpPr>
          <p:cNvPr id="680964" name="Text Box 680963"/>
          <p:cNvSpPr txBox="1"/>
          <p:nvPr/>
        </p:nvSpPr>
        <p:spPr>
          <a:xfrm>
            <a:off x="8229600" y="6400800"/>
            <a:ext cx="184150" cy="366713"/>
          </a:xfrm>
          <a:prstGeom prst="rect">
            <a:avLst/>
          </a:prstGeom>
          <a:noFill/>
          <a:ln w="9525">
            <a:noFill/>
          </a:ln>
        </p:spPr>
        <p:txBody>
          <a:bodyPr wrap="none" anchor="t" anchorCtr="0">
            <a:spAutoFit/>
          </a:bodyPr>
          <a:lstStyle/>
          <a:p>
            <a:endParaRPr dirty="0"/>
          </a:p>
        </p:txBody>
      </p:sp>
      <p:sp>
        <p:nvSpPr>
          <p:cNvPr id="680965" name="Rectangles 680964"/>
          <p:cNvSpPr/>
          <p:nvPr/>
        </p:nvSpPr>
        <p:spPr>
          <a:xfrm>
            <a:off x="76200" y="1066800"/>
            <a:ext cx="8915400" cy="946150"/>
          </a:xfrm>
          <a:prstGeom prst="rect">
            <a:avLst/>
          </a:prstGeom>
          <a:noFill/>
          <a:ln w="9525">
            <a:noFill/>
          </a:ln>
        </p:spPr>
        <p:txBody>
          <a:bodyPr anchor="ctr" anchorCtr="0">
            <a:spAutoFit/>
          </a:bodyPr>
          <a:lstStyle/>
          <a:p>
            <a:pPr algn="just" eaLnBrk="1" hangingPunct="1"/>
            <a:r>
              <a:rPr sz="2800" i="1">
                <a:effectLst>
                  <a:outerShdw blurRad="38100" dist="38100" dir="2700000">
                    <a:srgbClr val="C0C0C0"/>
                  </a:outerShdw>
                </a:effectLst>
              </a:rPr>
              <a:t>Four levels of addresses are used in an internet employing the TCP/IP protocols: </a:t>
            </a:r>
            <a:r>
              <a:rPr sz="2800" i="1">
                <a:solidFill>
                  <a:schemeClr val="hlink"/>
                </a:solidFill>
                <a:effectLst>
                  <a:outerShdw blurRad="38100" dist="38100" dir="2700000">
                    <a:srgbClr val="C0C0C0"/>
                  </a:outerShdw>
                </a:effectLst>
              </a:rPr>
              <a:t>physical</a:t>
            </a:r>
            <a:r>
              <a:rPr sz="2800" i="1">
                <a:effectLst>
                  <a:outerShdw blurRad="38100" dist="38100" dir="2700000">
                    <a:srgbClr val="C0C0C0"/>
                  </a:outerShdw>
                </a:effectLst>
              </a:rPr>
              <a:t>, </a:t>
            </a:r>
            <a:r>
              <a:rPr sz="2800" i="1">
                <a:solidFill>
                  <a:schemeClr val="hlink"/>
                </a:solidFill>
                <a:effectLst>
                  <a:outerShdw blurRad="38100" dist="38100" dir="2700000">
                    <a:srgbClr val="C0C0C0"/>
                  </a:outerShdw>
                </a:effectLst>
              </a:rPr>
              <a:t>logical</a:t>
            </a:r>
            <a:r>
              <a:rPr sz="2800" i="1">
                <a:effectLst>
                  <a:outerShdw blurRad="38100" dist="38100" dir="2700000">
                    <a:srgbClr val="C0C0C0"/>
                  </a:outerShdw>
                </a:effectLst>
              </a:rPr>
              <a:t>, </a:t>
            </a:r>
            <a:r>
              <a:rPr sz="2800" i="1">
                <a:solidFill>
                  <a:schemeClr val="hlink"/>
                </a:solidFill>
                <a:effectLst>
                  <a:outerShdw blurRad="38100" dist="38100" dir="2700000">
                    <a:srgbClr val="C0C0C0"/>
                  </a:outerShdw>
                </a:effectLst>
              </a:rPr>
              <a:t>port</a:t>
            </a:r>
            <a:r>
              <a:rPr sz="2800" i="1">
                <a:effectLst>
                  <a:outerShdw blurRad="38100" dist="38100" dir="2700000">
                    <a:srgbClr val="C0C0C0"/>
                  </a:outerShdw>
                </a:effectLst>
              </a:rPr>
              <a:t>, and </a:t>
            </a:r>
            <a:r>
              <a:rPr sz="2800" i="1">
                <a:solidFill>
                  <a:schemeClr val="hlink"/>
                </a:solidFill>
                <a:effectLst>
                  <a:outerShdw blurRad="38100" dist="38100" dir="2700000">
                    <a:srgbClr val="C0C0C0"/>
                  </a:outerShdw>
                </a:effectLst>
              </a:rPr>
              <a:t>specific</a:t>
            </a:r>
            <a:r>
              <a:rPr sz="2800" i="1">
                <a:effectLst>
                  <a:outerShdw blurRad="38100" dist="38100" dir="2700000">
                    <a:srgbClr val="C0C0C0"/>
                  </a:outerShdw>
                </a:effectLst>
              </a:rPr>
              <a:t>.</a:t>
            </a:r>
          </a:p>
        </p:txBody>
      </p:sp>
      <p:sp>
        <p:nvSpPr>
          <p:cNvPr id="680966" name="Rectangles 680965"/>
          <p:cNvSpPr/>
          <p:nvPr/>
        </p:nvSpPr>
        <p:spPr>
          <a:xfrm>
            <a:off x="228600" y="3933825"/>
            <a:ext cx="5715000" cy="1552575"/>
          </a:xfrm>
          <a:prstGeom prst="rect">
            <a:avLst/>
          </a:prstGeom>
          <a:noFill/>
          <a:ln w="9525">
            <a:noFill/>
          </a:ln>
        </p:spPr>
        <p:txBody>
          <a:bodyPr>
            <a:spAutoFit/>
          </a:bodyPr>
          <a:lstStyle/>
          <a:p>
            <a:pPr>
              <a:buClr>
                <a:schemeClr val="tx1"/>
              </a:buClr>
              <a:buSzPct val="117000"/>
              <a:buFont typeface="Wingdings" panose="05000000000000000000" pitchFamily="2" charset="2"/>
            </a:pPr>
            <a:r>
              <a:rPr lang="fr-FR" altLang="x-none" sz="2400" dirty="0" err="1">
                <a:solidFill>
                  <a:srgbClr val="0033CC"/>
                </a:solidFill>
              </a:rPr>
              <a:t>Physical</a:t>
            </a:r>
            <a:r>
              <a:rPr lang="fr-FR" altLang="x-none" sz="2400" dirty="0">
                <a:solidFill>
                  <a:srgbClr val="0033CC"/>
                </a:solidFill>
              </a:rPr>
              <a:t> </a:t>
            </a:r>
            <a:r>
              <a:rPr lang="fr-FR" altLang="x-none" sz="2400" dirty="0" err="1">
                <a:solidFill>
                  <a:srgbClr val="0033CC"/>
                </a:solidFill>
              </a:rPr>
              <a:t>Addresses</a:t>
            </a:r>
            <a:br>
              <a:rPr lang="fr-FR" altLang="x-none" sz="2400" dirty="0">
                <a:solidFill>
                  <a:srgbClr val="0033CC"/>
                </a:solidFill>
              </a:rPr>
            </a:br>
            <a:r>
              <a:rPr lang="fr-FR" altLang="x-none" sz="2400" dirty="0" err="1">
                <a:solidFill>
                  <a:srgbClr val="0033CC"/>
                </a:solidFill>
              </a:rPr>
              <a:t>Logical</a:t>
            </a:r>
            <a:r>
              <a:rPr lang="fr-FR" altLang="x-none" sz="2400" dirty="0">
                <a:solidFill>
                  <a:srgbClr val="0033CC"/>
                </a:solidFill>
              </a:rPr>
              <a:t> </a:t>
            </a:r>
            <a:r>
              <a:rPr lang="fr-FR" altLang="x-none" sz="2400" dirty="0" err="1">
                <a:solidFill>
                  <a:srgbClr val="0033CC"/>
                </a:solidFill>
              </a:rPr>
              <a:t>Addresses</a:t>
            </a:r>
            <a:br>
              <a:rPr lang="fr-FR" altLang="x-none" sz="2400" dirty="0">
                <a:solidFill>
                  <a:srgbClr val="0033CC"/>
                </a:solidFill>
              </a:rPr>
            </a:br>
            <a:r>
              <a:rPr sz="2400">
                <a:solidFill>
                  <a:srgbClr val="0033CC"/>
                </a:solidFill>
              </a:rPr>
              <a:t>Port Addresses</a:t>
            </a:r>
            <a:br>
              <a:rPr sz="2400">
                <a:solidFill>
                  <a:srgbClr val="0033CC"/>
                </a:solidFill>
              </a:rPr>
            </a:br>
            <a:r>
              <a:rPr sz="2400">
                <a:solidFill>
                  <a:srgbClr val="0033CC"/>
                </a:solidFill>
              </a:rPr>
              <a:t>Specific Addresses</a:t>
            </a:r>
          </a:p>
        </p:txBody>
      </p:sp>
      <p:sp>
        <p:nvSpPr>
          <p:cNvPr id="680967" name="Text Box 680966"/>
          <p:cNvSpPr txBox="1"/>
          <p:nvPr/>
        </p:nvSpPr>
        <p:spPr>
          <a:xfrm>
            <a:off x="239713" y="3457575"/>
            <a:ext cx="4867275" cy="519113"/>
          </a:xfrm>
          <a:prstGeom prst="rect">
            <a:avLst/>
          </a:prstGeom>
          <a:noFill/>
          <a:ln w="76200">
            <a:noFill/>
          </a:ln>
        </p:spPr>
        <p:txBody>
          <a:bodyPr wrap="none" anchor="t" anchorCtr="0">
            <a:spAutoFit/>
          </a:bodyPr>
          <a:lstStyle/>
          <a:p>
            <a:pPr algn="ctr"/>
            <a:r>
              <a:rPr sz="2800" i="1" u="sng">
                <a:solidFill>
                  <a:schemeClr val="hlink"/>
                </a:solidFill>
                <a:effectLst>
                  <a:outerShdw blurRad="38100" dist="38100" dir="2700000">
                    <a:srgbClr val="C0C0C0"/>
                  </a:outerShdw>
                </a:effectLst>
              </a:rPr>
              <a:t>Topics discussed in this section:</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166</a:t>
            </a:fld>
            <a:endParaRPr lang="en-US" sz="2000" b="1">
              <a:latin typeface="Arial" panose="02080604020202020204" pitchFamily="34" charset="0"/>
            </a:endParaRPr>
          </a:p>
        </p:txBody>
      </p:sp>
      <p:sp>
        <p:nvSpPr>
          <p:cNvPr id="651266" name="Straight Connector 651265"/>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1267" name="Straight Connector 651266"/>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1268" name="Text Box 651267"/>
          <p:cNvSpPr txBox="1"/>
          <p:nvPr/>
        </p:nvSpPr>
        <p:spPr>
          <a:xfrm>
            <a:off x="304800" y="381000"/>
            <a:ext cx="3997325" cy="457200"/>
          </a:xfrm>
          <a:prstGeom prst="rect">
            <a:avLst/>
          </a:prstGeom>
          <a:noFill/>
          <a:ln w="9525">
            <a:noFill/>
          </a:ln>
        </p:spPr>
        <p:txBody>
          <a:bodyPr wrap="none" anchor="t" anchorCtr="0">
            <a:spAutoFit/>
          </a:bodyPr>
          <a:lstStyle/>
          <a:p>
            <a:r>
              <a:rPr sz="2400">
                <a:solidFill>
                  <a:schemeClr val="folHlink"/>
                </a:solidFill>
              </a:rPr>
              <a:t>Figure 2.17  </a:t>
            </a:r>
            <a:r>
              <a:rPr sz="2000" i="1"/>
              <a:t>Addresses in TCP/IP</a:t>
            </a:r>
          </a:p>
        </p:txBody>
      </p:sp>
      <p:sp>
        <p:nvSpPr>
          <p:cNvPr id="651269" name="Straight Connector 651268"/>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51270" name="Picture 651269"/>
          <p:cNvPicPr>
            <a:picLocks noChangeAspect="1"/>
          </p:cNvPicPr>
          <p:nvPr/>
        </p:nvPicPr>
        <p:blipFill>
          <a:blip r:embed="rId3"/>
          <a:stretch>
            <a:fillRect/>
          </a:stretch>
        </p:blipFill>
        <p:spPr>
          <a:xfrm>
            <a:off x="395288" y="2286000"/>
            <a:ext cx="7834312" cy="1997075"/>
          </a:xfrm>
          <a:prstGeom prst="rect">
            <a:avLst/>
          </a:prstGeom>
          <a:noFill/>
          <a:ln w="9525">
            <a:noFill/>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167</a:t>
            </a:fld>
            <a:endParaRPr lang="en-US" sz="2000" b="1">
              <a:latin typeface="Arial" panose="02080604020202020204" pitchFamily="34" charset="0"/>
            </a:endParaRPr>
          </a:p>
        </p:txBody>
      </p:sp>
      <p:sp>
        <p:nvSpPr>
          <p:cNvPr id="652290" name="Straight Connector 652289"/>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2291" name="Straight Connector 652290"/>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2292" name="Text Box 652291"/>
          <p:cNvSpPr txBox="1"/>
          <p:nvPr/>
        </p:nvSpPr>
        <p:spPr>
          <a:xfrm>
            <a:off x="304800" y="381000"/>
            <a:ext cx="6762750" cy="457200"/>
          </a:xfrm>
          <a:prstGeom prst="rect">
            <a:avLst/>
          </a:prstGeom>
          <a:noFill/>
          <a:ln w="9525">
            <a:noFill/>
          </a:ln>
        </p:spPr>
        <p:txBody>
          <a:bodyPr wrap="none" anchor="t" anchorCtr="0">
            <a:spAutoFit/>
          </a:bodyPr>
          <a:lstStyle/>
          <a:p>
            <a:r>
              <a:rPr sz="2400">
                <a:solidFill>
                  <a:schemeClr val="folHlink"/>
                </a:solidFill>
              </a:rPr>
              <a:t>Figure 2.18  </a:t>
            </a:r>
            <a:r>
              <a:rPr sz="2000" i="1"/>
              <a:t>Relationship of layers and addresses in TCP/IP</a:t>
            </a:r>
          </a:p>
        </p:txBody>
      </p:sp>
      <p:sp>
        <p:nvSpPr>
          <p:cNvPr id="652293" name="Straight Connector 652292"/>
          <p:cNvSpPr/>
          <p:nvPr/>
        </p:nvSpPr>
        <p:spPr>
          <a:xfrm>
            <a:off x="152400" y="6324600"/>
            <a:ext cx="8763000" cy="0"/>
          </a:xfrm>
          <a:prstGeom prst="line">
            <a:avLst/>
          </a:prstGeom>
          <a:ln w="76200" cap="flat" cmpd="sng">
            <a:solidFill>
              <a:schemeClr val="hlink"/>
            </a:solidFill>
            <a:prstDash val="solid"/>
            <a:headEnd type="none" w="med" len="med"/>
            <a:tailEnd type="none" w="med" len="med"/>
          </a:ln>
        </p:spPr>
      </p:sp>
      <p:pic>
        <p:nvPicPr>
          <p:cNvPr id="652294" name="Picture 652293"/>
          <p:cNvPicPr>
            <a:picLocks noChangeAspect="1"/>
          </p:cNvPicPr>
          <p:nvPr/>
        </p:nvPicPr>
        <p:blipFill>
          <a:blip r:embed="rId3"/>
          <a:stretch>
            <a:fillRect/>
          </a:stretch>
        </p:blipFill>
        <p:spPr>
          <a:xfrm>
            <a:off x="685800" y="1266825"/>
            <a:ext cx="7467600" cy="4829175"/>
          </a:xfrm>
          <a:prstGeom prst="rect">
            <a:avLst/>
          </a:prstGeom>
          <a:noFill/>
          <a:ln w="9525">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168</a:t>
            </a:fld>
            <a:endParaRPr lang="en-US" sz="2000" b="1">
              <a:latin typeface="Arial" panose="02080604020202020204" pitchFamily="34" charset="0"/>
            </a:endParaRPr>
          </a:p>
        </p:txBody>
      </p:sp>
      <p:sp>
        <p:nvSpPr>
          <p:cNvPr id="665602" name="Rectangles 665601"/>
          <p:cNvSpPr/>
          <p:nvPr/>
        </p:nvSpPr>
        <p:spPr>
          <a:xfrm>
            <a:off x="366713" y="350838"/>
            <a:ext cx="438150" cy="474662"/>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65603" name="Rectangles 665602"/>
          <p:cNvSpPr/>
          <p:nvPr/>
        </p:nvSpPr>
        <p:spPr>
          <a:xfrm>
            <a:off x="749300" y="350838"/>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nvGrpSpPr>
          <p:cNvPr id="665614" name="Group 665613"/>
          <p:cNvGrpSpPr/>
          <p:nvPr/>
        </p:nvGrpSpPr>
        <p:grpSpPr>
          <a:xfrm>
            <a:off x="490538" y="773113"/>
            <a:ext cx="738187" cy="474662"/>
            <a:chOff x="309" y="487"/>
            <a:chExt cx="465" cy="299"/>
          </a:xfrm>
        </p:grpSpPr>
        <p:sp>
          <p:nvSpPr>
            <p:cNvPr id="665604" name="Rectangles 665603"/>
            <p:cNvSpPr/>
            <p:nvPr/>
          </p:nvSpPr>
          <p:spPr>
            <a:xfrm>
              <a:off x="309" y="487"/>
              <a:ext cx="266" cy="299"/>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65605" name="Rectangles 665604"/>
            <p:cNvSpPr/>
            <p:nvPr/>
          </p:nvSpPr>
          <p:spPr>
            <a:xfrm>
              <a:off x="542" y="487"/>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sp>
        <p:nvSpPr>
          <p:cNvPr id="665606" name="Rectangles 665605"/>
          <p:cNvSpPr/>
          <p:nvPr/>
        </p:nvSpPr>
        <p:spPr>
          <a:xfrm>
            <a:off x="76200" y="700088"/>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65607" name="Rectangles 665606"/>
          <p:cNvSpPr/>
          <p:nvPr/>
        </p:nvSpPr>
        <p:spPr>
          <a:xfrm>
            <a:off x="711200" y="242888"/>
            <a:ext cx="31750" cy="1052512"/>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65608" name="Rectangles 665607"/>
          <p:cNvSpPr/>
          <p:nvPr/>
        </p:nvSpPr>
        <p:spPr>
          <a:xfrm>
            <a:off x="442913" y="773113"/>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65610" name="Rectangles 665609"/>
          <p:cNvSpPr/>
          <p:nvPr/>
        </p:nvSpPr>
        <p:spPr>
          <a:xfrm>
            <a:off x="152400" y="1447800"/>
            <a:ext cx="8839200" cy="3810000"/>
          </a:xfrm>
          <a:prstGeom prst="rect">
            <a:avLst/>
          </a:prstGeom>
          <a:noFill/>
          <a:ln w="28575">
            <a:noFill/>
          </a:ln>
        </p:spPr>
        <p:txBody>
          <a:bodyPr/>
          <a:lstStyle/>
          <a:p>
            <a:endParaRPr lang="en-US"/>
          </a:p>
        </p:txBody>
      </p:sp>
      <p:sp>
        <p:nvSpPr>
          <p:cNvPr id="665611" name="Rectangles 665610"/>
          <p:cNvSpPr/>
          <p:nvPr/>
        </p:nvSpPr>
        <p:spPr>
          <a:xfrm>
            <a:off x="228600" y="1447800"/>
            <a:ext cx="8534400" cy="2654300"/>
          </a:xfrm>
          <a:prstGeom prst="rect">
            <a:avLst/>
          </a:prstGeom>
          <a:noFill/>
          <a:ln w="9525">
            <a:noFill/>
          </a:ln>
        </p:spPr>
        <p:txBody>
          <a:bodyPr>
            <a:spAutoFit/>
          </a:bodyPr>
          <a:lstStyle/>
          <a:p>
            <a:pPr algn="just"/>
            <a:r>
              <a:rPr sz="2800" i="1"/>
              <a:t>In Figure 2.19 a node with physical address 10 sends a frame to a node with physical address 87. The two nodes are connected by a link (bus topology LAN). As the figure shows, the computer with physical address </a:t>
            </a:r>
            <a:r>
              <a:rPr sz="2800" i="1">
                <a:solidFill>
                  <a:schemeClr val="hlink"/>
                </a:solidFill>
              </a:rPr>
              <a:t>10</a:t>
            </a:r>
            <a:r>
              <a:rPr sz="2800" i="1"/>
              <a:t> is the sender, and the computer with physical address </a:t>
            </a:r>
            <a:r>
              <a:rPr sz="2800" i="1">
                <a:solidFill>
                  <a:schemeClr val="hlink"/>
                </a:solidFill>
              </a:rPr>
              <a:t>87</a:t>
            </a:r>
            <a:r>
              <a:rPr sz="2800" i="1"/>
              <a:t> is the receiver.</a:t>
            </a:r>
          </a:p>
        </p:txBody>
      </p:sp>
      <p:sp>
        <p:nvSpPr>
          <p:cNvPr id="665613" name="Text Box 665612"/>
          <p:cNvSpPr txBox="1"/>
          <p:nvPr/>
        </p:nvSpPr>
        <p:spPr>
          <a:xfrm>
            <a:off x="1143000" y="182563"/>
            <a:ext cx="2284413" cy="579437"/>
          </a:xfrm>
          <a:prstGeom prst="rect">
            <a:avLst/>
          </a:prstGeom>
          <a:noFill/>
          <a:ln w="9525">
            <a:noFill/>
          </a:ln>
        </p:spPr>
        <p:txBody>
          <a:bodyPr wrap="none" anchor="t" anchorCtr="0">
            <a:spAutoFit/>
          </a:bodyPr>
          <a:lstStyle/>
          <a:p>
            <a:r>
              <a:rPr sz="3200" i="1">
                <a:solidFill>
                  <a:schemeClr val="hlink"/>
                </a:solidFill>
              </a:rPr>
              <a:t>Example 2.1</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169</a:t>
            </a:fld>
            <a:endParaRPr lang="en-US" sz="2000" b="1">
              <a:latin typeface="Arial" panose="02080604020202020204" pitchFamily="34" charset="0"/>
            </a:endParaRPr>
          </a:p>
        </p:txBody>
      </p:sp>
      <p:sp>
        <p:nvSpPr>
          <p:cNvPr id="653314" name="Straight Connector 653313"/>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3315" name="Straight Connector 653314"/>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3316" name="Text Box 653315"/>
          <p:cNvSpPr txBox="1"/>
          <p:nvPr/>
        </p:nvSpPr>
        <p:spPr>
          <a:xfrm>
            <a:off x="304800" y="381000"/>
            <a:ext cx="3763963" cy="457200"/>
          </a:xfrm>
          <a:prstGeom prst="rect">
            <a:avLst/>
          </a:prstGeom>
          <a:noFill/>
          <a:ln w="9525">
            <a:noFill/>
          </a:ln>
        </p:spPr>
        <p:txBody>
          <a:bodyPr wrap="none" anchor="t" anchorCtr="0">
            <a:spAutoFit/>
          </a:bodyPr>
          <a:lstStyle/>
          <a:p>
            <a:r>
              <a:rPr sz="2400">
                <a:solidFill>
                  <a:schemeClr val="folHlink"/>
                </a:solidFill>
              </a:rPr>
              <a:t>Figure 2.19  </a:t>
            </a:r>
            <a:r>
              <a:rPr sz="2000" i="1"/>
              <a:t>Physical addresses</a:t>
            </a:r>
          </a:p>
        </p:txBody>
      </p:sp>
      <p:sp>
        <p:nvSpPr>
          <p:cNvPr id="653317" name="Straight Connector 653316"/>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53318" name="Picture 653317"/>
          <p:cNvPicPr>
            <a:picLocks noChangeAspect="1"/>
          </p:cNvPicPr>
          <p:nvPr/>
        </p:nvPicPr>
        <p:blipFill>
          <a:blip r:embed="rId3"/>
          <a:stretch>
            <a:fillRect/>
          </a:stretch>
        </p:blipFill>
        <p:spPr>
          <a:xfrm>
            <a:off x="481013" y="2487613"/>
            <a:ext cx="8053387" cy="1855787"/>
          </a:xfrm>
          <a:prstGeom prst="rect">
            <a:avLst/>
          </a:prstGeom>
          <a:noFill/>
          <a:ln w="9525">
            <a:noFill/>
          </a:ln>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170</a:t>
            </a:fld>
            <a:endParaRPr lang="en-US" sz="2000" b="1">
              <a:latin typeface="Arial" panose="02080604020202020204" pitchFamily="34" charset="0"/>
            </a:endParaRPr>
          </a:p>
        </p:txBody>
      </p:sp>
      <p:sp>
        <p:nvSpPr>
          <p:cNvPr id="672770" name="Rectangles 672769"/>
          <p:cNvSpPr/>
          <p:nvPr/>
        </p:nvSpPr>
        <p:spPr>
          <a:xfrm>
            <a:off x="366713" y="350838"/>
            <a:ext cx="438150" cy="474662"/>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72771" name="Rectangles 672770"/>
          <p:cNvSpPr/>
          <p:nvPr/>
        </p:nvSpPr>
        <p:spPr>
          <a:xfrm>
            <a:off x="749300" y="350838"/>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nvGrpSpPr>
          <p:cNvPr id="672772" name="Group 672771"/>
          <p:cNvGrpSpPr/>
          <p:nvPr/>
        </p:nvGrpSpPr>
        <p:grpSpPr>
          <a:xfrm>
            <a:off x="490538" y="773113"/>
            <a:ext cx="738187" cy="474662"/>
            <a:chOff x="309" y="487"/>
            <a:chExt cx="465" cy="299"/>
          </a:xfrm>
        </p:grpSpPr>
        <p:sp>
          <p:nvSpPr>
            <p:cNvPr id="672773" name="Rectangles 672772"/>
            <p:cNvSpPr/>
            <p:nvPr/>
          </p:nvSpPr>
          <p:spPr>
            <a:xfrm>
              <a:off x="309" y="487"/>
              <a:ext cx="266" cy="299"/>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72774" name="Rectangles 672773"/>
            <p:cNvSpPr/>
            <p:nvPr/>
          </p:nvSpPr>
          <p:spPr>
            <a:xfrm>
              <a:off x="542" y="487"/>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sp>
        <p:nvSpPr>
          <p:cNvPr id="672775" name="Rectangles 672774"/>
          <p:cNvSpPr/>
          <p:nvPr/>
        </p:nvSpPr>
        <p:spPr>
          <a:xfrm>
            <a:off x="76200" y="700088"/>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72776" name="Rectangles 672775"/>
          <p:cNvSpPr/>
          <p:nvPr/>
        </p:nvSpPr>
        <p:spPr>
          <a:xfrm>
            <a:off x="711200" y="242888"/>
            <a:ext cx="31750" cy="1052512"/>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72777" name="Rectangles 672776"/>
          <p:cNvSpPr/>
          <p:nvPr/>
        </p:nvSpPr>
        <p:spPr>
          <a:xfrm>
            <a:off x="442913" y="773113"/>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2778" name="Rectangles 672777"/>
          <p:cNvSpPr/>
          <p:nvPr/>
        </p:nvSpPr>
        <p:spPr>
          <a:xfrm>
            <a:off x="152400" y="1447800"/>
            <a:ext cx="8839200" cy="3810000"/>
          </a:xfrm>
          <a:prstGeom prst="rect">
            <a:avLst/>
          </a:prstGeom>
          <a:noFill/>
          <a:ln w="28575">
            <a:noFill/>
          </a:ln>
        </p:spPr>
        <p:txBody>
          <a:bodyPr/>
          <a:lstStyle/>
          <a:p>
            <a:endParaRPr lang="en-US"/>
          </a:p>
        </p:txBody>
      </p:sp>
      <p:sp>
        <p:nvSpPr>
          <p:cNvPr id="672779" name="Rectangles 672778"/>
          <p:cNvSpPr/>
          <p:nvPr/>
        </p:nvSpPr>
        <p:spPr>
          <a:xfrm>
            <a:off x="228600" y="1447800"/>
            <a:ext cx="8534400" cy="1800225"/>
          </a:xfrm>
          <a:prstGeom prst="rect">
            <a:avLst/>
          </a:prstGeom>
          <a:noFill/>
          <a:ln w="9525">
            <a:noFill/>
          </a:ln>
        </p:spPr>
        <p:txBody>
          <a:bodyPr>
            <a:spAutoFit/>
          </a:bodyPr>
          <a:lstStyle/>
          <a:p>
            <a:pPr algn="just"/>
            <a:r>
              <a:rPr sz="2800" i="1"/>
              <a:t>Most local-area networks use a </a:t>
            </a:r>
            <a:r>
              <a:rPr sz="2800" i="1">
                <a:solidFill>
                  <a:schemeClr val="hlink"/>
                </a:solidFill>
              </a:rPr>
              <a:t>48-bit</a:t>
            </a:r>
            <a:r>
              <a:rPr sz="2800" i="1"/>
              <a:t> (6-byte) physical address written as 12 hexadecimal digits; every byte (2 hexadecimal digits) is separated by a colon, as shown below:</a:t>
            </a:r>
          </a:p>
        </p:txBody>
      </p:sp>
      <p:sp>
        <p:nvSpPr>
          <p:cNvPr id="672780" name="Text Box 672779"/>
          <p:cNvSpPr txBox="1"/>
          <p:nvPr/>
        </p:nvSpPr>
        <p:spPr>
          <a:xfrm>
            <a:off x="1143000" y="182563"/>
            <a:ext cx="2284413" cy="579437"/>
          </a:xfrm>
          <a:prstGeom prst="rect">
            <a:avLst/>
          </a:prstGeom>
          <a:noFill/>
          <a:ln w="9525">
            <a:noFill/>
          </a:ln>
        </p:spPr>
        <p:txBody>
          <a:bodyPr wrap="none" anchor="t" anchorCtr="0">
            <a:spAutoFit/>
          </a:bodyPr>
          <a:lstStyle/>
          <a:p>
            <a:r>
              <a:rPr sz="3200" i="1">
                <a:solidFill>
                  <a:schemeClr val="hlink"/>
                </a:solidFill>
              </a:rPr>
              <a:t>Example 2.2</a:t>
            </a:r>
          </a:p>
        </p:txBody>
      </p:sp>
      <p:sp>
        <p:nvSpPr>
          <p:cNvPr id="672782" name="Rectangles 672781"/>
          <p:cNvSpPr/>
          <p:nvPr/>
        </p:nvSpPr>
        <p:spPr>
          <a:xfrm>
            <a:off x="228600" y="3717925"/>
            <a:ext cx="8534400" cy="1503363"/>
          </a:xfrm>
          <a:prstGeom prst="rect">
            <a:avLst/>
          </a:prstGeom>
          <a:solidFill>
            <a:srgbClr val="FFFF00"/>
          </a:solidFill>
          <a:ln w="9525" cap="flat" cmpd="sng">
            <a:solidFill>
              <a:schemeClr val="tx1"/>
            </a:solidFill>
            <a:prstDash val="solid"/>
            <a:miter/>
            <a:headEnd type="none" w="med" len="med"/>
            <a:tailEnd type="none" w="med" len="med"/>
          </a:ln>
        </p:spPr>
        <p:txBody>
          <a:bodyPr>
            <a:spAutoFit/>
          </a:bodyPr>
          <a:lstStyle/>
          <a:p>
            <a:pPr algn="ctr"/>
            <a:r>
              <a:rPr sz="3200">
                <a:solidFill>
                  <a:schemeClr val="folHlink"/>
                </a:solidFill>
              </a:rPr>
              <a:t>07:01:02:01:2C:4B</a:t>
            </a:r>
            <a:br>
              <a:rPr sz="3200">
                <a:solidFill>
                  <a:schemeClr val="folHlink"/>
                </a:solidFill>
              </a:rPr>
            </a:br>
            <a:endParaRPr sz="3200">
              <a:solidFill>
                <a:schemeClr val="folHlink"/>
              </a:solidFill>
            </a:endParaRPr>
          </a:p>
          <a:p>
            <a:pPr algn="ctr"/>
            <a:r>
              <a:rPr sz="2800"/>
              <a:t>A 6-byte (12 hexadecimal digits) physical address.</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171</a:t>
            </a:fld>
            <a:endParaRPr lang="en-US" sz="2000" b="1">
              <a:latin typeface="Arial" panose="02080604020202020204" pitchFamily="34" charset="0"/>
            </a:endParaRPr>
          </a:p>
        </p:txBody>
      </p:sp>
      <p:sp>
        <p:nvSpPr>
          <p:cNvPr id="673794" name="Rectangles 673793"/>
          <p:cNvSpPr/>
          <p:nvPr/>
        </p:nvSpPr>
        <p:spPr>
          <a:xfrm>
            <a:off x="366713" y="350838"/>
            <a:ext cx="438150" cy="474662"/>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73795" name="Rectangles 673794"/>
          <p:cNvSpPr/>
          <p:nvPr/>
        </p:nvSpPr>
        <p:spPr>
          <a:xfrm>
            <a:off x="749300" y="350838"/>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nvGrpSpPr>
          <p:cNvPr id="673796" name="Group 673795"/>
          <p:cNvGrpSpPr/>
          <p:nvPr/>
        </p:nvGrpSpPr>
        <p:grpSpPr>
          <a:xfrm>
            <a:off x="490538" y="773113"/>
            <a:ext cx="738187" cy="474662"/>
            <a:chOff x="309" y="487"/>
            <a:chExt cx="465" cy="299"/>
          </a:xfrm>
        </p:grpSpPr>
        <p:sp>
          <p:nvSpPr>
            <p:cNvPr id="673797" name="Rectangles 673796"/>
            <p:cNvSpPr/>
            <p:nvPr/>
          </p:nvSpPr>
          <p:spPr>
            <a:xfrm>
              <a:off x="309" y="487"/>
              <a:ext cx="266" cy="299"/>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73798" name="Rectangles 673797"/>
            <p:cNvSpPr/>
            <p:nvPr/>
          </p:nvSpPr>
          <p:spPr>
            <a:xfrm>
              <a:off x="542" y="487"/>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sp>
        <p:nvSpPr>
          <p:cNvPr id="673799" name="Rectangles 673798"/>
          <p:cNvSpPr/>
          <p:nvPr/>
        </p:nvSpPr>
        <p:spPr>
          <a:xfrm>
            <a:off x="76200" y="700088"/>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73800" name="Rectangles 673799"/>
          <p:cNvSpPr/>
          <p:nvPr/>
        </p:nvSpPr>
        <p:spPr>
          <a:xfrm>
            <a:off x="711200" y="242888"/>
            <a:ext cx="31750" cy="1052512"/>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73801" name="Rectangles 673800"/>
          <p:cNvSpPr/>
          <p:nvPr/>
        </p:nvSpPr>
        <p:spPr>
          <a:xfrm>
            <a:off x="442913" y="773113"/>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3802" name="Rectangles 673801"/>
          <p:cNvSpPr/>
          <p:nvPr/>
        </p:nvSpPr>
        <p:spPr>
          <a:xfrm>
            <a:off x="152400" y="1447800"/>
            <a:ext cx="8839200" cy="3810000"/>
          </a:xfrm>
          <a:prstGeom prst="rect">
            <a:avLst/>
          </a:prstGeom>
          <a:noFill/>
          <a:ln w="28575">
            <a:noFill/>
          </a:ln>
        </p:spPr>
        <p:txBody>
          <a:bodyPr/>
          <a:lstStyle/>
          <a:p>
            <a:endParaRPr lang="en-US"/>
          </a:p>
        </p:txBody>
      </p:sp>
      <p:sp>
        <p:nvSpPr>
          <p:cNvPr id="673803" name="Rectangles 673802"/>
          <p:cNvSpPr/>
          <p:nvPr/>
        </p:nvSpPr>
        <p:spPr>
          <a:xfrm>
            <a:off x="228600" y="1524000"/>
            <a:ext cx="8534400" cy="3935413"/>
          </a:xfrm>
          <a:prstGeom prst="rect">
            <a:avLst/>
          </a:prstGeom>
          <a:noFill/>
          <a:ln w="9525">
            <a:noFill/>
          </a:ln>
        </p:spPr>
        <p:txBody>
          <a:bodyPr>
            <a:spAutoFit/>
          </a:bodyPr>
          <a:lstStyle/>
          <a:p>
            <a:pPr algn="just"/>
            <a:r>
              <a:rPr sz="2800" i="1"/>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673804" name="Text Box 673803"/>
          <p:cNvSpPr txBox="1"/>
          <p:nvPr/>
        </p:nvSpPr>
        <p:spPr>
          <a:xfrm>
            <a:off x="1143000" y="182563"/>
            <a:ext cx="2284413" cy="579437"/>
          </a:xfrm>
          <a:prstGeom prst="rect">
            <a:avLst/>
          </a:prstGeom>
          <a:noFill/>
          <a:ln w="9525">
            <a:noFill/>
          </a:ln>
        </p:spPr>
        <p:txBody>
          <a:bodyPr wrap="none" anchor="t" anchorCtr="0">
            <a:spAutoFit/>
          </a:bodyPr>
          <a:lstStyle/>
          <a:p>
            <a:r>
              <a:rPr sz="3200" i="1">
                <a:solidFill>
                  <a:schemeClr val="hlink"/>
                </a:solidFill>
              </a:rPr>
              <a:t>Example 2.3</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172</a:t>
            </a:fld>
            <a:endParaRPr lang="en-US" sz="2000" b="1">
              <a:latin typeface="Arial" panose="02080604020202020204" pitchFamily="34" charset="0"/>
            </a:endParaRPr>
          </a:p>
        </p:txBody>
      </p:sp>
      <p:sp>
        <p:nvSpPr>
          <p:cNvPr id="654338" name="Straight Connector 654337"/>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4339" name="Straight Connector 654338"/>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4340" name="Text Box 654339"/>
          <p:cNvSpPr txBox="1"/>
          <p:nvPr/>
        </p:nvSpPr>
        <p:spPr>
          <a:xfrm>
            <a:off x="304800" y="381000"/>
            <a:ext cx="3128963" cy="457200"/>
          </a:xfrm>
          <a:prstGeom prst="rect">
            <a:avLst/>
          </a:prstGeom>
          <a:noFill/>
          <a:ln w="9525">
            <a:noFill/>
          </a:ln>
        </p:spPr>
        <p:txBody>
          <a:bodyPr wrap="none" anchor="t" anchorCtr="0">
            <a:spAutoFit/>
          </a:bodyPr>
          <a:lstStyle/>
          <a:p>
            <a:r>
              <a:rPr sz="2400">
                <a:solidFill>
                  <a:schemeClr val="folHlink"/>
                </a:solidFill>
              </a:rPr>
              <a:t>Figure 2.20  </a:t>
            </a:r>
            <a:r>
              <a:rPr sz="2000" i="1"/>
              <a:t>IP addresses</a:t>
            </a:r>
          </a:p>
        </p:txBody>
      </p:sp>
      <p:sp>
        <p:nvSpPr>
          <p:cNvPr id="654341" name="Straight Connector 654340"/>
          <p:cNvSpPr/>
          <p:nvPr/>
        </p:nvSpPr>
        <p:spPr>
          <a:xfrm>
            <a:off x="152400" y="6248400"/>
            <a:ext cx="8763000" cy="0"/>
          </a:xfrm>
          <a:prstGeom prst="line">
            <a:avLst/>
          </a:prstGeom>
          <a:ln w="76200" cap="flat" cmpd="sng">
            <a:solidFill>
              <a:schemeClr val="hlink"/>
            </a:solidFill>
            <a:prstDash val="solid"/>
            <a:headEnd type="none" w="med" len="med"/>
            <a:tailEnd type="none" w="med" len="med"/>
          </a:ln>
        </p:spPr>
      </p:sp>
      <p:pic>
        <p:nvPicPr>
          <p:cNvPr id="654342" name="Picture 654341"/>
          <p:cNvPicPr>
            <a:picLocks noChangeAspect="1"/>
          </p:cNvPicPr>
          <p:nvPr/>
        </p:nvPicPr>
        <p:blipFill>
          <a:blip r:embed="rId3"/>
          <a:stretch>
            <a:fillRect/>
          </a:stretch>
        </p:blipFill>
        <p:spPr>
          <a:xfrm>
            <a:off x="1550988" y="1089025"/>
            <a:ext cx="6069012" cy="5083175"/>
          </a:xfrm>
          <a:prstGeom prst="rect">
            <a:avLst/>
          </a:prstGeom>
          <a:noFill/>
          <a:ln w="9525">
            <a:noFill/>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173</a:t>
            </a:fld>
            <a:endParaRPr lang="en-US" sz="2000" b="1">
              <a:latin typeface="Arial" panose="02080604020202020204" pitchFamily="34" charset="0"/>
            </a:endParaRPr>
          </a:p>
        </p:txBody>
      </p:sp>
      <p:sp>
        <p:nvSpPr>
          <p:cNvPr id="674818" name="Rectangles 674817"/>
          <p:cNvSpPr/>
          <p:nvPr/>
        </p:nvSpPr>
        <p:spPr>
          <a:xfrm>
            <a:off x="366713" y="350838"/>
            <a:ext cx="438150" cy="474662"/>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74819" name="Rectangles 674818"/>
          <p:cNvSpPr/>
          <p:nvPr/>
        </p:nvSpPr>
        <p:spPr>
          <a:xfrm>
            <a:off x="749300" y="350838"/>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nvGrpSpPr>
          <p:cNvPr id="674820" name="Group 674819"/>
          <p:cNvGrpSpPr/>
          <p:nvPr/>
        </p:nvGrpSpPr>
        <p:grpSpPr>
          <a:xfrm>
            <a:off x="490538" y="773113"/>
            <a:ext cx="738187" cy="474662"/>
            <a:chOff x="309" y="487"/>
            <a:chExt cx="465" cy="299"/>
          </a:xfrm>
        </p:grpSpPr>
        <p:sp>
          <p:nvSpPr>
            <p:cNvPr id="674821" name="Rectangles 674820"/>
            <p:cNvSpPr/>
            <p:nvPr/>
          </p:nvSpPr>
          <p:spPr>
            <a:xfrm>
              <a:off x="309" y="487"/>
              <a:ext cx="266" cy="299"/>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74822" name="Rectangles 674821"/>
            <p:cNvSpPr/>
            <p:nvPr/>
          </p:nvSpPr>
          <p:spPr>
            <a:xfrm>
              <a:off x="542" y="487"/>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sp>
        <p:nvSpPr>
          <p:cNvPr id="674823" name="Rectangles 674822"/>
          <p:cNvSpPr/>
          <p:nvPr/>
        </p:nvSpPr>
        <p:spPr>
          <a:xfrm>
            <a:off x="76200" y="700088"/>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74824" name="Rectangles 674823"/>
          <p:cNvSpPr/>
          <p:nvPr/>
        </p:nvSpPr>
        <p:spPr>
          <a:xfrm>
            <a:off x="711200" y="242888"/>
            <a:ext cx="31750" cy="1052512"/>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74825" name="Rectangles 674824"/>
          <p:cNvSpPr/>
          <p:nvPr/>
        </p:nvSpPr>
        <p:spPr>
          <a:xfrm>
            <a:off x="442913" y="773113"/>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4826" name="Rectangles 674825"/>
          <p:cNvSpPr/>
          <p:nvPr/>
        </p:nvSpPr>
        <p:spPr>
          <a:xfrm>
            <a:off x="152400" y="1447800"/>
            <a:ext cx="8839200" cy="3810000"/>
          </a:xfrm>
          <a:prstGeom prst="rect">
            <a:avLst/>
          </a:prstGeom>
          <a:noFill/>
          <a:ln w="28575">
            <a:noFill/>
          </a:ln>
        </p:spPr>
        <p:txBody>
          <a:bodyPr/>
          <a:lstStyle/>
          <a:p>
            <a:endParaRPr lang="en-US"/>
          </a:p>
        </p:txBody>
      </p:sp>
      <p:sp>
        <p:nvSpPr>
          <p:cNvPr id="674827" name="Rectangles 674826"/>
          <p:cNvSpPr/>
          <p:nvPr/>
        </p:nvSpPr>
        <p:spPr>
          <a:xfrm>
            <a:off x="228600" y="1371600"/>
            <a:ext cx="8534400" cy="4362450"/>
          </a:xfrm>
          <a:prstGeom prst="rect">
            <a:avLst/>
          </a:prstGeom>
          <a:noFill/>
          <a:ln w="9525">
            <a:noFill/>
          </a:ln>
        </p:spPr>
        <p:txBody>
          <a:bodyPr>
            <a:spAutoFit/>
          </a:bodyPr>
          <a:lstStyle/>
          <a:p>
            <a:pPr algn="just"/>
            <a:r>
              <a:rPr sz="2800" i="1"/>
              <a:t>Figure 2.21 shows two computers communicating via the Internet. The sending computer is running three processes at this time with port addresses a, b, and c. The receiving computer is running two processes at this time with port addresses j and k. Process </a:t>
            </a:r>
            <a:r>
              <a:rPr sz="2800" i="1">
                <a:solidFill>
                  <a:schemeClr val="hlink"/>
                </a:solidFill>
              </a:rPr>
              <a:t>a</a:t>
            </a:r>
            <a:r>
              <a:rPr sz="2800" i="1"/>
              <a:t> in the sending computer needs to communicate with process </a:t>
            </a:r>
            <a:r>
              <a:rPr sz="2800" i="1">
                <a:solidFill>
                  <a:schemeClr val="hlink"/>
                </a:solidFill>
              </a:rPr>
              <a:t>j</a:t>
            </a:r>
            <a:r>
              <a:rPr sz="2800" i="1"/>
              <a:t> in the receiving computer. Note that although physical addresses change from hop to hop, logical and port addresses remain the same from the source to destination. </a:t>
            </a:r>
          </a:p>
        </p:txBody>
      </p:sp>
      <p:sp>
        <p:nvSpPr>
          <p:cNvPr id="674828" name="Text Box 674827"/>
          <p:cNvSpPr txBox="1"/>
          <p:nvPr/>
        </p:nvSpPr>
        <p:spPr>
          <a:xfrm>
            <a:off x="1143000" y="182563"/>
            <a:ext cx="2284413" cy="579437"/>
          </a:xfrm>
          <a:prstGeom prst="rect">
            <a:avLst/>
          </a:prstGeom>
          <a:noFill/>
          <a:ln w="9525">
            <a:noFill/>
          </a:ln>
        </p:spPr>
        <p:txBody>
          <a:bodyPr wrap="none" anchor="t" anchorCtr="0">
            <a:spAutoFit/>
          </a:bodyPr>
          <a:lstStyle/>
          <a:p>
            <a:r>
              <a:rPr sz="3200" i="1">
                <a:solidFill>
                  <a:schemeClr val="hlink"/>
                </a:solidFill>
              </a:rPr>
              <a:t>Example 2.4</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174</a:t>
            </a:fld>
            <a:endParaRPr lang="en-US" sz="2000" b="1">
              <a:latin typeface="Arial" panose="02080604020202020204" pitchFamily="34" charset="0"/>
            </a:endParaRPr>
          </a:p>
        </p:txBody>
      </p:sp>
      <p:sp>
        <p:nvSpPr>
          <p:cNvPr id="655362" name="Straight Connector 655361"/>
          <p:cNvSpPr/>
          <p:nvPr/>
        </p:nvSpPr>
        <p:spPr>
          <a:xfrm>
            <a:off x="152400" y="152400"/>
            <a:ext cx="8763000" cy="0"/>
          </a:xfrm>
          <a:prstGeom prst="line">
            <a:avLst/>
          </a:prstGeom>
          <a:ln w="76200" cap="flat" cmpd="sng">
            <a:solidFill>
              <a:schemeClr val="hlink"/>
            </a:solidFill>
            <a:prstDash val="solid"/>
            <a:headEnd type="none" w="med" len="med"/>
            <a:tailEnd type="none" w="med" len="med"/>
          </a:ln>
        </p:spPr>
      </p:sp>
      <p:sp>
        <p:nvSpPr>
          <p:cNvPr id="655363" name="Straight Connector 655362"/>
          <p:cNvSpPr/>
          <p:nvPr/>
        </p:nvSpPr>
        <p:spPr>
          <a:xfrm>
            <a:off x="152400" y="990600"/>
            <a:ext cx="8763000" cy="0"/>
          </a:xfrm>
          <a:prstGeom prst="line">
            <a:avLst/>
          </a:prstGeom>
          <a:ln w="19050" cap="flat" cmpd="sng">
            <a:solidFill>
              <a:schemeClr val="hlink"/>
            </a:solidFill>
            <a:prstDash val="solid"/>
            <a:headEnd type="none" w="med" len="med"/>
            <a:tailEnd type="none" w="med" len="med"/>
          </a:ln>
        </p:spPr>
      </p:sp>
      <p:sp>
        <p:nvSpPr>
          <p:cNvPr id="655364" name="Text Box 655363"/>
          <p:cNvSpPr txBox="1"/>
          <p:nvPr/>
        </p:nvSpPr>
        <p:spPr>
          <a:xfrm>
            <a:off x="304800" y="381000"/>
            <a:ext cx="3325813" cy="457200"/>
          </a:xfrm>
          <a:prstGeom prst="rect">
            <a:avLst/>
          </a:prstGeom>
          <a:noFill/>
          <a:ln w="9525">
            <a:noFill/>
          </a:ln>
        </p:spPr>
        <p:txBody>
          <a:bodyPr wrap="none" anchor="t" anchorCtr="0">
            <a:spAutoFit/>
          </a:bodyPr>
          <a:lstStyle/>
          <a:p>
            <a:r>
              <a:rPr sz="2400">
                <a:solidFill>
                  <a:schemeClr val="folHlink"/>
                </a:solidFill>
              </a:rPr>
              <a:t>Figure 2.21  </a:t>
            </a:r>
            <a:r>
              <a:rPr sz="2000" i="1"/>
              <a:t>Port addresses</a:t>
            </a:r>
          </a:p>
        </p:txBody>
      </p:sp>
      <p:sp>
        <p:nvSpPr>
          <p:cNvPr id="655365" name="Straight Connector 655364"/>
          <p:cNvSpPr/>
          <p:nvPr/>
        </p:nvSpPr>
        <p:spPr>
          <a:xfrm>
            <a:off x="152400" y="6324600"/>
            <a:ext cx="8763000" cy="0"/>
          </a:xfrm>
          <a:prstGeom prst="line">
            <a:avLst/>
          </a:prstGeom>
          <a:ln w="76200" cap="flat" cmpd="sng">
            <a:solidFill>
              <a:schemeClr val="hlink"/>
            </a:solidFill>
            <a:prstDash val="solid"/>
            <a:headEnd type="none" w="med" len="med"/>
            <a:tailEnd type="none" w="med" len="med"/>
          </a:ln>
        </p:spPr>
      </p:sp>
      <p:pic>
        <p:nvPicPr>
          <p:cNvPr id="655366" name="Picture 655365"/>
          <p:cNvPicPr>
            <a:picLocks noChangeAspect="1"/>
          </p:cNvPicPr>
          <p:nvPr/>
        </p:nvPicPr>
        <p:blipFill>
          <a:blip r:embed="rId3"/>
          <a:stretch>
            <a:fillRect/>
          </a:stretch>
        </p:blipFill>
        <p:spPr>
          <a:xfrm>
            <a:off x="885825" y="990600"/>
            <a:ext cx="7038975" cy="5276850"/>
          </a:xfrm>
          <a:prstGeom prst="rect">
            <a:avLst/>
          </a:prstGeom>
          <a:noFill/>
          <a:ln w="9525">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175</a:t>
            </a:fld>
            <a:endParaRPr lang="en-US" sz="2000" b="1">
              <a:latin typeface="Arial" panose="02080604020202020204" pitchFamily="34" charset="0"/>
            </a:endParaRPr>
          </a:p>
        </p:txBody>
      </p:sp>
      <p:sp>
        <p:nvSpPr>
          <p:cNvPr id="676866" name="Rectangles 676865"/>
          <p:cNvSpPr/>
          <p:nvPr/>
        </p:nvSpPr>
        <p:spPr>
          <a:xfrm>
            <a:off x="366713" y="107950"/>
            <a:ext cx="438150" cy="474663"/>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76867" name="Rectangles 676866"/>
          <p:cNvSpPr/>
          <p:nvPr/>
        </p:nvSpPr>
        <p:spPr>
          <a:xfrm>
            <a:off x="749300" y="10795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6868" name="Rectangles 676867"/>
          <p:cNvSpPr/>
          <p:nvPr/>
        </p:nvSpPr>
        <p:spPr>
          <a:xfrm>
            <a:off x="490538" y="530225"/>
            <a:ext cx="422275" cy="474663"/>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76869" name="Rectangles 676868"/>
          <p:cNvSpPr/>
          <p:nvPr/>
        </p:nvSpPr>
        <p:spPr>
          <a:xfrm>
            <a:off x="860425" y="5302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6870" name="Rectangles 676869"/>
          <p:cNvSpPr/>
          <p:nvPr/>
        </p:nvSpPr>
        <p:spPr>
          <a:xfrm>
            <a:off x="76200" y="4572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76871" name="Rectangles 676870"/>
          <p:cNvSpPr/>
          <p:nvPr/>
        </p:nvSpPr>
        <p:spPr>
          <a:xfrm>
            <a:off x="711200" y="0"/>
            <a:ext cx="31750" cy="1052513"/>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76872" name="Rectangles 676871"/>
          <p:cNvSpPr/>
          <p:nvPr/>
        </p:nvSpPr>
        <p:spPr>
          <a:xfrm>
            <a:off x="442913" y="5334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6873" name="Straight Connector 676872"/>
          <p:cNvSpPr/>
          <p:nvPr/>
        </p:nvSpPr>
        <p:spPr>
          <a:xfrm>
            <a:off x="457200" y="2971800"/>
            <a:ext cx="8153400" cy="0"/>
          </a:xfrm>
          <a:prstGeom prst="line">
            <a:avLst/>
          </a:prstGeom>
          <a:ln w="76200" cap="flat" cmpd="sng">
            <a:solidFill>
              <a:srgbClr val="009900"/>
            </a:solidFill>
            <a:prstDash val="solid"/>
            <a:headEnd type="none" w="med" len="med"/>
            <a:tailEnd type="none" w="med" len="med"/>
          </a:ln>
        </p:spPr>
      </p:sp>
      <p:sp>
        <p:nvSpPr>
          <p:cNvPr id="676874" name="Straight Connector 676873"/>
          <p:cNvSpPr/>
          <p:nvPr/>
        </p:nvSpPr>
        <p:spPr>
          <a:xfrm>
            <a:off x="458788" y="3962400"/>
            <a:ext cx="8153400" cy="0"/>
          </a:xfrm>
          <a:prstGeom prst="line">
            <a:avLst/>
          </a:prstGeom>
          <a:ln w="76200" cap="flat" cmpd="sng">
            <a:solidFill>
              <a:srgbClr val="009900"/>
            </a:solidFill>
            <a:prstDash val="solid"/>
            <a:headEnd type="none" w="med" len="med"/>
            <a:tailEnd type="none" w="med" len="med"/>
          </a:ln>
        </p:spPr>
      </p:sp>
      <p:sp>
        <p:nvSpPr>
          <p:cNvPr id="676875" name="Rectangles 676874"/>
          <p:cNvSpPr/>
          <p:nvPr/>
        </p:nvSpPr>
        <p:spPr>
          <a:xfrm>
            <a:off x="495300" y="3063875"/>
            <a:ext cx="8077200" cy="822325"/>
          </a:xfrm>
          <a:prstGeom prst="rect">
            <a:avLst/>
          </a:prstGeom>
          <a:solidFill>
            <a:srgbClr val="99FF33"/>
          </a:solidFill>
          <a:ln w="76200">
            <a:noFill/>
          </a:ln>
        </p:spPr>
        <p:txBody>
          <a:bodyPr>
            <a:spAutoFit/>
          </a:bodyPr>
          <a:lstStyle/>
          <a:p>
            <a:pPr algn="ctr"/>
            <a:r>
              <a:rPr sz="2400"/>
              <a:t>The physical addresses will change from hop to hop,</a:t>
            </a:r>
          </a:p>
          <a:p>
            <a:pPr algn="ctr"/>
            <a:r>
              <a:rPr sz="2400"/>
              <a:t>but the logical addresses usually remain the same.</a:t>
            </a:r>
          </a:p>
        </p:txBody>
      </p:sp>
      <p:grpSp>
        <p:nvGrpSpPr>
          <p:cNvPr id="676879" name="Group 676878"/>
          <p:cNvGrpSpPr/>
          <p:nvPr/>
        </p:nvGrpSpPr>
        <p:grpSpPr>
          <a:xfrm>
            <a:off x="533400" y="2286000"/>
            <a:ext cx="1143000" cy="566738"/>
            <a:chOff x="1200" y="1248"/>
            <a:chExt cx="720" cy="357"/>
          </a:xfrm>
        </p:grpSpPr>
        <p:pic>
          <p:nvPicPr>
            <p:cNvPr id="676880" name="Picture 676879"/>
            <p:cNvPicPr>
              <a:picLocks noChangeAspect="1"/>
            </p:cNvPicPr>
            <p:nvPr/>
          </p:nvPicPr>
          <p:blipFill>
            <a:blip r:embed="rId3"/>
            <a:stretch>
              <a:fillRect/>
            </a:stretch>
          </p:blipFill>
          <p:spPr>
            <a:xfrm>
              <a:off x="1200" y="1248"/>
              <a:ext cx="720" cy="357"/>
            </a:xfrm>
            <a:prstGeom prst="rect">
              <a:avLst/>
            </a:prstGeom>
            <a:noFill/>
            <a:ln w="9525">
              <a:noFill/>
            </a:ln>
          </p:spPr>
        </p:pic>
        <p:sp>
          <p:nvSpPr>
            <p:cNvPr id="676881" name="Text Box 676880"/>
            <p:cNvSpPr txBox="1"/>
            <p:nvPr/>
          </p:nvSpPr>
          <p:spPr>
            <a:xfrm>
              <a:off x="1284" y="1248"/>
              <a:ext cx="551" cy="327"/>
            </a:xfrm>
            <a:prstGeom prst="rect">
              <a:avLst/>
            </a:prstGeom>
            <a:noFill/>
            <a:ln w="9525">
              <a:noFill/>
            </a:ln>
          </p:spPr>
          <p:txBody>
            <a:bodyPr wrap="none" anchor="t" anchorCtr="0">
              <a:spAutoFit/>
            </a:bodyPr>
            <a:lstStyle/>
            <a:p>
              <a:r>
                <a:rPr sz="2800" i="1">
                  <a:solidFill>
                    <a:schemeClr val="hlink"/>
                  </a:solidFill>
                </a:rPr>
                <a:t>Note</a:t>
              </a:r>
            </a:p>
          </p:txBody>
        </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eaLnBrk="1" hangingPunct="1"/>
            <a:r>
              <a:t>2.</a:t>
            </a:r>
            <a:fld id="{9A0DB2DC-4C9A-4742-B13C-FB6460FD3503}" type="slidenum">
              <a:rPr lang="en-US" sz="2000" b="1">
                <a:latin typeface="Arial" panose="02080604020202020204" pitchFamily="34" charset="0"/>
              </a:rPr>
              <a:t>176</a:t>
            </a:fld>
            <a:endParaRPr lang="en-US" sz="2000" b="1">
              <a:latin typeface="Arial" panose="02080604020202020204" pitchFamily="34" charset="0"/>
            </a:endParaRPr>
          </a:p>
        </p:txBody>
      </p:sp>
      <p:sp>
        <p:nvSpPr>
          <p:cNvPr id="675842" name="Rectangles 675841"/>
          <p:cNvSpPr/>
          <p:nvPr/>
        </p:nvSpPr>
        <p:spPr>
          <a:xfrm>
            <a:off x="366713" y="350838"/>
            <a:ext cx="438150" cy="474662"/>
          </a:xfrm>
          <a:prstGeom prst="rect">
            <a:avLst/>
          </a:prstGeom>
          <a:solidFill>
            <a:schemeClr val="accent2"/>
          </a:solidFill>
          <a:ln w="9525">
            <a:noFill/>
          </a:ln>
        </p:spPr>
        <p:txBody>
          <a:bodyPr wrap="none" anchor="ctr" anchorCtr="0"/>
          <a:lstStyle/>
          <a:p>
            <a:pPr algn="ctr" eaLnBrk="1" hangingPunct="1"/>
            <a:endParaRPr sz="2400" b="0" dirty="0">
              <a:latin typeface="Tahoma" charset="0"/>
            </a:endParaRPr>
          </a:p>
        </p:txBody>
      </p:sp>
      <p:sp>
        <p:nvSpPr>
          <p:cNvPr id="675843" name="Rectangles 675842"/>
          <p:cNvSpPr/>
          <p:nvPr/>
        </p:nvSpPr>
        <p:spPr>
          <a:xfrm>
            <a:off x="749300" y="350838"/>
            <a:ext cx="328613" cy="474662"/>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nvGrpSpPr>
          <p:cNvPr id="675844" name="Group 675843"/>
          <p:cNvGrpSpPr/>
          <p:nvPr/>
        </p:nvGrpSpPr>
        <p:grpSpPr>
          <a:xfrm>
            <a:off x="490538" y="773113"/>
            <a:ext cx="738187" cy="474662"/>
            <a:chOff x="309" y="487"/>
            <a:chExt cx="465" cy="299"/>
          </a:xfrm>
        </p:grpSpPr>
        <p:sp>
          <p:nvSpPr>
            <p:cNvPr id="675845" name="Rectangles 675844"/>
            <p:cNvSpPr/>
            <p:nvPr/>
          </p:nvSpPr>
          <p:spPr>
            <a:xfrm>
              <a:off x="309" y="487"/>
              <a:ext cx="266" cy="299"/>
            </a:xfrm>
            <a:prstGeom prst="rect">
              <a:avLst/>
            </a:prstGeom>
            <a:solidFill>
              <a:schemeClr val="folHlink"/>
            </a:solidFill>
            <a:ln w="9525">
              <a:noFill/>
            </a:ln>
          </p:spPr>
          <p:txBody>
            <a:bodyPr wrap="none" anchor="ctr" anchorCtr="0"/>
            <a:lstStyle/>
            <a:p>
              <a:pPr algn="ctr" eaLnBrk="1" hangingPunct="1"/>
              <a:endParaRPr sz="2400" b="0" dirty="0">
                <a:latin typeface="Tahoma" charset="0"/>
              </a:endParaRPr>
            </a:p>
          </p:txBody>
        </p:sp>
        <p:sp>
          <p:nvSpPr>
            <p:cNvPr id="675846" name="Rectangles 675845"/>
            <p:cNvSpPr/>
            <p:nvPr/>
          </p:nvSpPr>
          <p:spPr>
            <a:xfrm>
              <a:off x="542" y="487"/>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grpSp>
      <p:sp>
        <p:nvSpPr>
          <p:cNvPr id="675847" name="Rectangles 675846"/>
          <p:cNvSpPr/>
          <p:nvPr/>
        </p:nvSpPr>
        <p:spPr>
          <a:xfrm>
            <a:off x="76200" y="700088"/>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algn="ctr" eaLnBrk="1" hangingPunct="1"/>
            <a:endParaRPr sz="2400" b="0" dirty="0">
              <a:latin typeface="Tahoma" charset="0"/>
            </a:endParaRPr>
          </a:p>
        </p:txBody>
      </p:sp>
      <p:sp>
        <p:nvSpPr>
          <p:cNvPr id="675848" name="Rectangles 675847"/>
          <p:cNvSpPr/>
          <p:nvPr/>
        </p:nvSpPr>
        <p:spPr>
          <a:xfrm>
            <a:off x="711200" y="242888"/>
            <a:ext cx="31750" cy="1052512"/>
          </a:xfrm>
          <a:prstGeom prst="rect">
            <a:avLst/>
          </a:prstGeom>
          <a:solidFill>
            <a:schemeClr val="bg2"/>
          </a:solidFill>
          <a:ln w="9525">
            <a:noFill/>
          </a:ln>
        </p:spPr>
        <p:txBody>
          <a:bodyPr wrap="none" anchor="ctr" anchorCtr="0"/>
          <a:lstStyle/>
          <a:p>
            <a:pPr algn="ctr" eaLnBrk="1" hangingPunct="1"/>
            <a:endParaRPr sz="2400" b="0" dirty="0">
              <a:latin typeface="Tahoma" charset="0"/>
            </a:endParaRPr>
          </a:p>
        </p:txBody>
      </p:sp>
      <p:sp>
        <p:nvSpPr>
          <p:cNvPr id="675849" name="Rectangles 675848"/>
          <p:cNvSpPr/>
          <p:nvPr/>
        </p:nvSpPr>
        <p:spPr>
          <a:xfrm>
            <a:off x="442913" y="773113"/>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lstStyle/>
          <a:p>
            <a:pPr algn="ctr" eaLnBrk="1" hangingPunct="1"/>
            <a:endParaRPr sz="2400" b="0" dirty="0">
              <a:latin typeface="Tahoma" charset="0"/>
            </a:endParaRPr>
          </a:p>
        </p:txBody>
      </p:sp>
      <p:sp>
        <p:nvSpPr>
          <p:cNvPr id="675850" name="Rectangles 675849"/>
          <p:cNvSpPr/>
          <p:nvPr/>
        </p:nvSpPr>
        <p:spPr>
          <a:xfrm>
            <a:off x="152400" y="1447800"/>
            <a:ext cx="8839200" cy="3810000"/>
          </a:xfrm>
          <a:prstGeom prst="rect">
            <a:avLst/>
          </a:prstGeom>
          <a:noFill/>
          <a:ln w="28575">
            <a:noFill/>
          </a:ln>
        </p:spPr>
        <p:txBody>
          <a:bodyPr/>
          <a:lstStyle/>
          <a:p>
            <a:endParaRPr lang="en-US"/>
          </a:p>
        </p:txBody>
      </p:sp>
      <p:sp>
        <p:nvSpPr>
          <p:cNvPr id="675852" name="Text Box 675851"/>
          <p:cNvSpPr txBox="1"/>
          <p:nvPr/>
        </p:nvSpPr>
        <p:spPr>
          <a:xfrm>
            <a:off x="1143000" y="182563"/>
            <a:ext cx="2284413" cy="579437"/>
          </a:xfrm>
          <a:prstGeom prst="rect">
            <a:avLst/>
          </a:prstGeom>
          <a:noFill/>
          <a:ln w="9525">
            <a:noFill/>
          </a:ln>
        </p:spPr>
        <p:txBody>
          <a:bodyPr wrap="none" anchor="t" anchorCtr="0">
            <a:spAutoFit/>
          </a:bodyPr>
          <a:lstStyle/>
          <a:p>
            <a:r>
              <a:rPr sz="3200" i="1">
                <a:solidFill>
                  <a:schemeClr val="hlink"/>
                </a:solidFill>
              </a:rPr>
              <a:t>Example 2.5</a:t>
            </a:r>
          </a:p>
        </p:txBody>
      </p:sp>
      <p:sp>
        <p:nvSpPr>
          <p:cNvPr id="675853" name="Rectangles 675852"/>
          <p:cNvSpPr/>
          <p:nvPr/>
        </p:nvSpPr>
        <p:spPr>
          <a:xfrm>
            <a:off x="228600" y="1447800"/>
            <a:ext cx="8534400" cy="946150"/>
          </a:xfrm>
          <a:prstGeom prst="rect">
            <a:avLst/>
          </a:prstGeom>
          <a:noFill/>
          <a:ln w="9525">
            <a:noFill/>
          </a:ln>
        </p:spPr>
        <p:txBody>
          <a:bodyPr>
            <a:spAutoFit/>
          </a:bodyPr>
          <a:lstStyle/>
          <a:p>
            <a:pPr algn="just"/>
            <a:r>
              <a:rPr sz="2800" i="1"/>
              <a:t>A port address is a 16-bit address represented by one decimal number as shown.</a:t>
            </a:r>
          </a:p>
        </p:txBody>
      </p:sp>
      <p:sp>
        <p:nvSpPr>
          <p:cNvPr id="675856" name="Rectangles 675855"/>
          <p:cNvSpPr/>
          <p:nvPr/>
        </p:nvSpPr>
        <p:spPr>
          <a:xfrm>
            <a:off x="304800" y="2819400"/>
            <a:ext cx="8382000" cy="1930400"/>
          </a:xfrm>
          <a:prstGeom prst="rect">
            <a:avLst/>
          </a:prstGeom>
          <a:solidFill>
            <a:srgbClr val="FFFF00"/>
          </a:solidFill>
          <a:ln w="9525" cap="flat" cmpd="sng">
            <a:solidFill>
              <a:schemeClr val="tx1"/>
            </a:solidFill>
            <a:prstDash val="solid"/>
            <a:miter/>
            <a:headEnd type="none" w="med" len="med"/>
            <a:tailEnd type="none" w="med" len="med"/>
          </a:ln>
        </p:spPr>
        <p:txBody>
          <a:bodyPr>
            <a:spAutoFit/>
          </a:bodyPr>
          <a:lstStyle/>
          <a:p>
            <a:pPr algn="ctr"/>
            <a:r>
              <a:rPr sz="3200">
                <a:solidFill>
                  <a:schemeClr val="folHlink"/>
                </a:solidFill>
              </a:rPr>
              <a:t>753</a:t>
            </a:r>
            <a:br>
              <a:rPr sz="3200">
                <a:solidFill>
                  <a:schemeClr val="folHlink"/>
                </a:solidFill>
              </a:rPr>
            </a:br>
            <a:endParaRPr sz="3200">
              <a:solidFill>
                <a:schemeClr val="folHlink"/>
              </a:solidFill>
            </a:endParaRPr>
          </a:p>
          <a:p>
            <a:pPr algn="ctr"/>
            <a:r>
              <a:rPr sz="2800"/>
              <a:t>A 16-bit port address represented </a:t>
            </a:r>
            <a:br>
              <a:rPr sz="2800"/>
            </a:br>
            <a:r>
              <a:rPr sz="2800"/>
              <a:t>as one single number.</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6145"/>
          <p:cNvSpPr>
            <a:spLocks noGrp="1"/>
          </p:cNvSpPr>
          <p:nvPr>
            <p:ph type="title"/>
          </p:nvPr>
        </p:nvSpPr>
        <p:spPr/>
        <p:txBody>
          <a:bodyPr anchor="ctr" anchorCtr="0"/>
          <a:lstStyle/>
          <a:p>
            <a:r>
              <a:rPr sz="3200"/>
              <a:t>Transmission Media</a:t>
            </a:r>
          </a:p>
        </p:txBody>
      </p:sp>
      <p:sp>
        <p:nvSpPr>
          <p:cNvPr id="6147" name="Text Placeholder 6146"/>
          <p:cNvSpPr>
            <a:spLocks noGrp="1"/>
          </p:cNvSpPr>
          <p:nvPr>
            <p:ph type="body" sz="half" idx="1"/>
          </p:nvPr>
        </p:nvSpPr>
        <p:spPr>
          <a:xfrm>
            <a:off x="685800" y="1981200"/>
            <a:ext cx="7620000" cy="4114800"/>
          </a:xfrm>
        </p:spPr>
        <p:txBody>
          <a:bodyPr/>
          <a:lstStyle/>
          <a:p>
            <a:pPr>
              <a:lnSpc>
                <a:spcPct val="90000"/>
              </a:lnSpc>
              <a:buClrTx/>
              <a:buSzTx/>
              <a:buFontTx/>
            </a:pPr>
            <a:r>
              <a:rPr sz="2000"/>
              <a:t>The transmission medium is the physical path by which a message travels from sender to receiver.</a:t>
            </a:r>
          </a:p>
          <a:p>
            <a:pPr>
              <a:lnSpc>
                <a:spcPct val="90000"/>
              </a:lnSpc>
              <a:buClrTx/>
              <a:buSzTx/>
              <a:buFontTx/>
            </a:pPr>
            <a:endParaRPr sz="2000"/>
          </a:p>
          <a:p>
            <a:pPr>
              <a:lnSpc>
                <a:spcPct val="90000"/>
              </a:lnSpc>
              <a:buClrTx/>
              <a:buSzTx/>
              <a:buFontTx/>
            </a:pPr>
            <a:r>
              <a:rPr sz="2000"/>
              <a:t>Computers and telecommunication devices use signals to represent data.</a:t>
            </a:r>
          </a:p>
          <a:p>
            <a:pPr>
              <a:lnSpc>
                <a:spcPct val="90000"/>
              </a:lnSpc>
              <a:buClrTx/>
              <a:buSzTx/>
              <a:buFontTx/>
            </a:pPr>
            <a:r>
              <a:rPr sz="2000"/>
              <a:t>These signals are transmitted from a device to another in the  form of electromagnetic energy.</a:t>
            </a:r>
          </a:p>
          <a:p>
            <a:pPr>
              <a:lnSpc>
                <a:spcPct val="90000"/>
              </a:lnSpc>
              <a:buClrTx/>
              <a:buSzTx/>
              <a:buFontTx/>
            </a:pPr>
            <a:endParaRPr sz="2000"/>
          </a:p>
          <a:p>
            <a:pPr>
              <a:lnSpc>
                <a:spcPct val="90000"/>
              </a:lnSpc>
              <a:buClrTx/>
              <a:buSzTx/>
              <a:buFontTx/>
            </a:pPr>
            <a:r>
              <a:rPr sz="2000"/>
              <a:t>Examples  of Electromagnetic energy include power, radio waves, infrared light, visible light, ultraviolet light, and X and gamma rays. </a:t>
            </a:r>
          </a:p>
          <a:p>
            <a:pPr>
              <a:lnSpc>
                <a:spcPct val="90000"/>
              </a:lnSpc>
              <a:buClrTx/>
              <a:buSzTx/>
              <a:buFontTx/>
            </a:pPr>
            <a:endParaRPr sz="2000"/>
          </a:p>
          <a:p>
            <a:pPr>
              <a:lnSpc>
                <a:spcPct val="90000"/>
              </a:lnSpc>
              <a:buClrTx/>
              <a:buSzTx/>
              <a:buFontTx/>
            </a:pPr>
            <a:r>
              <a:rPr sz="2000"/>
              <a:t>All  these electromagnetic signals constitute  the  </a:t>
            </a:r>
            <a:r>
              <a:rPr sz="2000" b="1"/>
              <a:t>electromagnetic spectrum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14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147">
                                            <p:txEl>
                                              <p:pRg st="2" end="2"/>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147">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6147">
                                            <p:txEl>
                                              <p:pRg st="5" end="5"/>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6147">
                                            <p:txEl>
                                              <p:pRg st="7" end="7"/>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049" descr="~AUT0000"/>
          <p:cNvPicPr>
            <a:picLocks noChangeAspect="1"/>
          </p:cNvPicPr>
          <p:nvPr/>
        </p:nvPicPr>
        <p:blipFill>
          <a:blip r:embed="rId2"/>
          <a:stretch>
            <a:fillRect/>
          </a:stretch>
        </p:blipFill>
        <p:spPr>
          <a:xfrm>
            <a:off x="1066800" y="533400"/>
            <a:ext cx="7543800" cy="3124200"/>
          </a:xfrm>
          <a:prstGeom prst="rect">
            <a:avLst/>
          </a:prstGeom>
          <a:noFill/>
          <a:ln w="9525">
            <a:noFill/>
          </a:ln>
        </p:spPr>
      </p:pic>
      <p:sp>
        <p:nvSpPr>
          <p:cNvPr id="2052" name="Text Box 2051"/>
          <p:cNvSpPr txBox="1"/>
          <p:nvPr/>
        </p:nvSpPr>
        <p:spPr>
          <a:xfrm>
            <a:off x="533400" y="3962400"/>
            <a:ext cx="8001000" cy="1917700"/>
          </a:xfrm>
          <a:prstGeom prst="rect">
            <a:avLst/>
          </a:prstGeom>
          <a:noFill/>
          <a:ln w="9525">
            <a:noFill/>
          </a:ln>
        </p:spPr>
        <p:txBody>
          <a:bodyPr>
            <a:spAutoFit/>
          </a:bodyPr>
          <a:lstStyle/>
          <a:p>
            <a:pPr>
              <a:buChar char="•"/>
            </a:pPr>
            <a:r>
              <a:rPr sz="2400"/>
              <a:t>Not all portion of the spectrum are currently usable for  telecommunications</a:t>
            </a:r>
          </a:p>
          <a:p>
            <a:pPr>
              <a:buChar char="•"/>
            </a:pPr>
            <a:endParaRPr sz="2400"/>
          </a:p>
          <a:p>
            <a:pPr>
              <a:buChar char="•"/>
            </a:pPr>
            <a:r>
              <a:rPr sz="2400"/>
              <a:t>Each portion of the spectrum requires  a particular transmission medium</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Placeholder 9218"/>
          <p:cNvSpPr>
            <a:spLocks noGrp="1"/>
          </p:cNvSpPr>
          <p:nvPr>
            <p:ph type="body" idx="1"/>
          </p:nvPr>
        </p:nvSpPr>
        <p:spPr>
          <a:xfrm>
            <a:off x="685800" y="685800"/>
            <a:ext cx="7772400" cy="5410200"/>
          </a:xfrm>
        </p:spPr>
        <p:txBody>
          <a:bodyPr/>
          <a:lstStyle/>
          <a:p>
            <a:pPr marL="609600" indent="-609600"/>
            <a:r>
              <a:t>Signals of low frequency (like voice signals) are generally transmitted as current over metal cables. It is not possible to transmit visible light over metal cables, for this class of signals is necessary to use a different media, for example fiber-optic cable.</a:t>
            </a:r>
          </a:p>
          <a:p>
            <a:pPr marL="609600" indent="-609600"/>
            <a:endParaRPr/>
          </a:p>
          <a:p>
            <a:pPr marL="609600" indent="-609600"/>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78849"/>
          <p:cNvSpPr txBox="1"/>
          <p:nvPr/>
        </p:nvSpPr>
        <p:spPr>
          <a:xfrm>
            <a:off x="990600" y="90488"/>
            <a:ext cx="6781800" cy="519112"/>
          </a:xfrm>
          <a:prstGeom prst="rect">
            <a:avLst/>
          </a:prstGeom>
          <a:noFill/>
          <a:ln w="9525">
            <a:noFill/>
          </a:ln>
        </p:spPr>
        <p:txBody>
          <a:bodyPr>
            <a:spAutoFit/>
          </a:bodyPr>
          <a:lstStyle/>
          <a:p>
            <a:pPr algn="ctr" eaLnBrk="0" hangingPunct="0"/>
            <a:r>
              <a:rPr lang="en-US" altLang="en-US" sz="2800" b="1"/>
              <a:t>Classes of transmission media</a:t>
            </a:r>
          </a:p>
        </p:txBody>
      </p:sp>
      <p:pic>
        <p:nvPicPr>
          <p:cNvPr id="78858" name="Picture 78857"/>
          <p:cNvPicPr>
            <a:picLocks noChangeAspect="1"/>
          </p:cNvPicPr>
          <p:nvPr/>
        </p:nvPicPr>
        <p:blipFill>
          <a:blip/>
          <a:stretch>
            <a:fillRect/>
          </a:stretch>
        </p:blipFill>
        <p:spPr>
          <a:xfrm>
            <a:off x="685800" y="2062163"/>
            <a:ext cx="7846816" cy="2086949"/>
          </a:xfrm>
          <a:prstGeom prst="rect">
            <a:avLst/>
          </a:prstGeom>
          <a:noFill/>
          <a:ln w="9525">
            <a:noFill/>
          </a:ln>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Title 76804"/>
          <p:cNvSpPr>
            <a:spLocks noGrp="1"/>
          </p:cNvSpPr>
          <p:nvPr>
            <p:ph type="title"/>
          </p:nvPr>
        </p:nvSpPr>
        <p:spPr/>
        <p:txBody>
          <a:bodyPr anchor="ctr" anchorCtr="0"/>
          <a:lstStyle/>
          <a:p>
            <a:r>
              <a:t>Transmission Media</a:t>
            </a:r>
          </a:p>
        </p:txBody>
      </p:sp>
      <p:sp>
        <p:nvSpPr>
          <p:cNvPr id="76803" name="Text Placeholder 76802"/>
          <p:cNvSpPr>
            <a:spLocks noGrp="1"/>
          </p:cNvSpPr>
          <p:nvPr>
            <p:ph type="body" sz="half" idx="1"/>
          </p:nvPr>
        </p:nvSpPr>
        <p:spPr>
          <a:xfrm>
            <a:off x="685800" y="1600200"/>
            <a:ext cx="8153400" cy="4495800"/>
          </a:xfrm>
        </p:spPr>
        <p:txBody>
          <a:bodyPr/>
          <a:lstStyle/>
          <a:p>
            <a:pPr marL="609600" indent="-609600">
              <a:lnSpc>
                <a:spcPct val="90000"/>
              </a:lnSpc>
              <a:buClrTx/>
              <a:buSzTx/>
              <a:buFontTx/>
              <a:buNone/>
            </a:pPr>
            <a:endParaRPr sz="2800"/>
          </a:p>
          <a:p>
            <a:pPr marL="609600" indent="-609600">
              <a:lnSpc>
                <a:spcPct val="90000"/>
              </a:lnSpc>
              <a:buClrTx/>
              <a:buSzTx/>
              <a:buFontTx/>
            </a:pPr>
            <a:r>
              <a:rPr sz="2800"/>
              <a:t>Guided  media,  which are those that provide  a conduit from one device to another.</a:t>
            </a:r>
          </a:p>
          <a:p>
            <a:pPr marL="609600" indent="-609600">
              <a:lnSpc>
                <a:spcPct val="90000"/>
              </a:lnSpc>
              <a:buClrTx/>
              <a:buSzTx/>
              <a:buFontTx/>
            </a:pPr>
            <a:r>
              <a:rPr sz="2800"/>
              <a:t>Examples: twisted-pair, coaxial cable, optical fiber.</a:t>
            </a:r>
          </a:p>
          <a:p>
            <a:pPr marL="609600" indent="-609600">
              <a:lnSpc>
                <a:spcPct val="90000"/>
              </a:lnSpc>
              <a:buClrTx/>
              <a:buSzTx/>
              <a:buFontTx/>
            </a:pPr>
            <a:r>
              <a:rPr sz="2800"/>
              <a:t>Unguided media (or wireless communication)  transport electromagnetic waves without using a physical conductor. Instead, signals are broadcast through air (or, in a few cases, water), and thus are available  to anyone who has a device capable of receiving them.</a:t>
            </a:r>
          </a:p>
          <a:p>
            <a:pPr marL="609600" indent="-609600">
              <a:lnSpc>
                <a:spcPct val="90000"/>
              </a:lnSpc>
              <a:buClrTx/>
              <a:buSzTx/>
              <a:buFontTx/>
              <a:buNone/>
            </a:pPr>
            <a:endParaRPr sz="2800"/>
          </a:p>
          <a:p>
            <a:pPr marL="609600" indent="-609600">
              <a:lnSpc>
                <a:spcPct val="90000"/>
              </a:lnSpc>
              <a:buClrTx/>
              <a:buSzTx/>
              <a:buFontTx/>
            </a:pPr>
            <a:endParaRPr sz="280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Placeholder 10242"/>
          <p:cNvSpPr>
            <a:spLocks noGrp="1"/>
          </p:cNvSpPr>
          <p:nvPr>
            <p:ph type="body" idx="1"/>
          </p:nvPr>
        </p:nvSpPr>
        <p:spPr>
          <a:xfrm>
            <a:off x="685800" y="457200"/>
            <a:ext cx="7772400" cy="5638800"/>
          </a:xfrm>
        </p:spPr>
        <p:txBody>
          <a:bodyPr/>
          <a:lstStyle/>
          <a:p>
            <a:pPr marL="609600" indent="-609600"/>
            <a:endParaRPr sz="2400"/>
          </a:p>
          <a:p>
            <a:pPr marL="609600" indent="-609600" algn="ctr">
              <a:buNone/>
            </a:pPr>
            <a:r>
              <a:rPr b="1"/>
              <a:t>Guided Media</a:t>
            </a:r>
          </a:p>
          <a:p>
            <a:pPr marL="609600" indent="-609600" algn="ctr">
              <a:buNone/>
            </a:pPr>
            <a:endParaRPr b="1"/>
          </a:p>
          <a:p>
            <a:pPr marL="609600" indent="-609600" algn="ctr">
              <a:buNone/>
            </a:pPr>
            <a:endParaRPr b="1"/>
          </a:p>
          <a:p>
            <a:pPr marL="609600" indent="-609600">
              <a:buNone/>
            </a:pPr>
            <a:r>
              <a:rPr sz="2400"/>
              <a:t>There are three categories of  guided  media:</a:t>
            </a:r>
          </a:p>
          <a:p>
            <a:pPr marL="990600" lvl="1" indent="-533400">
              <a:buFontTx/>
              <a:buAutoNum type="arabicPeriod"/>
            </a:pPr>
            <a:r>
              <a:rPr sz="2400"/>
              <a:t>Twisted-pair cable</a:t>
            </a:r>
          </a:p>
          <a:p>
            <a:pPr marL="990600" lvl="1" indent="-533400">
              <a:buFontTx/>
              <a:buAutoNum type="arabicPeriod"/>
            </a:pPr>
            <a:r>
              <a:rPr sz="2400"/>
              <a:t>Coaxial cable</a:t>
            </a:r>
          </a:p>
          <a:p>
            <a:pPr marL="990600" lvl="1" indent="-533400">
              <a:buFontTx/>
              <a:buAutoNum type="arabicPeriod"/>
            </a:pPr>
            <a:r>
              <a:rPr sz="2400"/>
              <a:t>Fiber-optic cable</a:t>
            </a:r>
          </a:p>
          <a:p>
            <a:pPr marL="609600" indent="-609600">
              <a:buAutoNum type="arabicPeriod"/>
            </a:pPr>
            <a:endParaRPr sz="2400" b="1"/>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1265"/>
          <p:cNvSpPr>
            <a:spLocks noGrp="1"/>
          </p:cNvSpPr>
          <p:nvPr>
            <p:ph type="title"/>
          </p:nvPr>
        </p:nvSpPr>
        <p:spPr/>
        <p:txBody>
          <a:bodyPr anchor="ctr" anchorCtr="0"/>
          <a:lstStyle/>
          <a:p>
            <a:r>
              <a:rPr sz="3200"/>
              <a:t>Twisted-pair cable</a:t>
            </a:r>
          </a:p>
        </p:txBody>
      </p:sp>
      <p:sp>
        <p:nvSpPr>
          <p:cNvPr id="11267" name="Text Placeholder 11266"/>
          <p:cNvSpPr>
            <a:spLocks noGrp="1"/>
          </p:cNvSpPr>
          <p:nvPr>
            <p:ph type="body" sz="half" idx="1"/>
          </p:nvPr>
        </p:nvSpPr>
        <p:spPr>
          <a:xfrm>
            <a:off x="685800" y="2514600"/>
            <a:ext cx="3810000" cy="4114800"/>
          </a:xfrm>
        </p:spPr>
        <p:txBody>
          <a:bodyPr/>
          <a:lstStyle/>
          <a:p>
            <a:pPr>
              <a:buClrTx/>
              <a:buSzTx/>
              <a:buFontTx/>
            </a:pPr>
            <a:r>
              <a:rPr sz="2000"/>
              <a:t>Twisted pair  consists  of two conductors (normally copper), each with its own plastic insulation, twisted together.</a:t>
            </a:r>
          </a:p>
          <a:p>
            <a:pPr>
              <a:buClrTx/>
              <a:buSzTx/>
              <a:buFontTx/>
            </a:pPr>
            <a:r>
              <a:rPr sz="2000"/>
              <a:t>Twisted-pair cable comes in two forms: unshielded and shielded</a:t>
            </a:r>
          </a:p>
          <a:p>
            <a:pPr>
              <a:buClrTx/>
              <a:buSzTx/>
              <a:buFontTx/>
            </a:pPr>
            <a:r>
              <a:rPr sz="2000"/>
              <a:t>The twisting helps to reduce the interference (noise) and crosstalk.</a:t>
            </a:r>
          </a:p>
          <a:p>
            <a:pPr>
              <a:buClrTx/>
              <a:buSzTx/>
              <a:buFontTx/>
              <a:buNone/>
            </a:pPr>
            <a:endParaRPr sz="2000" b="1"/>
          </a:p>
          <a:p>
            <a:pPr>
              <a:buClrTx/>
              <a:buSzTx/>
              <a:buFontTx/>
            </a:pPr>
            <a:endParaRPr sz="2000"/>
          </a:p>
        </p:txBody>
      </p:sp>
      <p:pic>
        <p:nvPicPr>
          <p:cNvPr id="11268" name="Content Placeholder 11267"/>
          <p:cNvPicPr>
            <a:picLocks noGrp="1" noChangeAspect="1"/>
          </p:cNvPicPr>
          <p:nvPr>
            <p:ph sz="half" idx="2"/>
          </p:nvPr>
        </p:nvPicPr>
        <p:blipFill>
          <a:blip r:embed="rId2"/>
          <a:stretch>
            <a:fillRect/>
          </a:stretch>
        </p:blipFill>
        <p:spPr>
          <a:xfrm>
            <a:off x="4495800" y="3200400"/>
            <a:ext cx="3962400" cy="22860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Content Placeholder 7171" descr="~AUT0001"/>
          <p:cNvPicPr>
            <a:picLocks noGrp="1" noChangeAspect="1"/>
          </p:cNvPicPr>
          <p:nvPr>
            <p:ph idx="1"/>
          </p:nvPr>
        </p:nvPicPr>
        <p:blipFill>
          <a:blip r:embed="rId2"/>
          <a:stretch>
            <a:fillRect/>
          </a:stretch>
        </p:blipFill>
        <p:spPr>
          <a:xfrm>
            <a:off x="1143000" y="609600"/>
            <a:ext cx="6705600" cy="5791200"/>
          </a:xfr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82945"/>
          <p:cNvSpPr txBox="1"/>
          <p:nvPr/>
        </p:nvSpPr>
        <p:spPr>
          <a:xfrm>
            <a:off x="990600" y="90488"/>
            <a:ext cx="4876800" cy="701675"/>
          </a:xfrm>
          <a:prstGeom prst="rect">
            <a:avLst/>
          </a:prstGeom>
          <a:noFill/>
          <a:ln w="9525">
            <a:noFill/>
          </a:ln>
        </p:spPr>
        <p:txBody>
          <a:bodyPr>
            <a:spAutoFit/>
          </a:bodyPr>
          <a:lstStyle/>
          <a:p>
            <a:pPr algn="ctr" eaLnBrk="0" hangingPunct="0"/>
            <a:r>
              <a:rPr lang="en-US" altLang="en-US" sz="4000" b="1" i="1"/>
              <a:t>UTP and STP</a:t>
            </a:r>
          </a:p>
        </p:txBody>
      </p:sp>
      <p:pic>
        <p:nvPicPr>
          <p:cNvPr id="82954" name="Picture 82953"/>
          <p:cNvPicPr>
            <a:picLocks noChangeAspect="1"/>
          </p:cNvPicPr>
          <p:nvPr/>
        </p:nvPicPr>
        <p:blipFill>
          <a:blip r:embed="rId2"/>
          <a:stretch>
            <a:fillRect/>
          </a:stretch>
        </p:blipFill>
        <p:spPr>
          <a:xfrm>
            <a:off x="603250" y="1887538"/>
            <a:ext cx="8235950" cy="3065462"/>
          </a:xfrm>
          <a:prstGeom prst="rect">
            <a:avLst/>
          </a:prstGeom>
          <a:noFill/>
          <a:ln w="9525">
            <a:noFill/>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itle 12291"/>
          <p:cNvSpPr>
            <a:spLocks noGrp="1"/>
          </p:cNvSpPr>
          <p:nvPr>
            <p:ph type="title"/>
          </p:nvPr>
        </p:nvSpPr>
        <p:spPr/>
        <p:txBody>
          <a:bodyPr anchor="ctr" anchorCtr="0"/>
          <a:lstStyle/>
          <a:p>
            <a:r>
              <a:rPr sz="3200"/>
              <a:t>Frequency range for twisted-pair cable</a:t>
            </a:r>
          </a:p>
        </p:txBody>
      </p:sp>
      <p:graphicFrame>
        <p:nvGraphicFramePr>
          <p:cNvPr id="12291" name="Content Placeholder 12290"/>
          <p:cNvGraphicFramePr>
            <a:graphicFrameLocks noGrp="1"/>
          </p:cNvGraphicFramePr>
          <p:nvPr>
            <p:ph idx="1"/>
          </p:nvPr>
        </p:nvGraphicFramePr>
        <p:xfrm>
          <a:off x="838200" y="1905000"/>
          <a:ext cx="7848600" cy="3548063"/>
        </p:xfrm>
        <a:graphic>
          <a:graphicData uri="http://schemas.openxmlformats.org/presentationml/2006/ole">
            <mc:AlternateContent xmlns:mc="http://schemas.openxmlformats.org/markup-compatibility/2006">
              <mc:Choice xmlns:v="urn:schemas-microsoft-com:vml" Requires="v">
                <p:oleObj spid="_x0000_s3089" r:id="rId3" imgW="5791200" imgH="2828925" progId="Paint.Picture">
                  <p:embed/>
                </p:oleObj>
              </mc:Choice>
              <mc:Fallback>
                <p:oleObj r:id="rId3" imgW="5791200" imgH="2828925" progId="Paint.Picture">
                  <p:embed/>
                  <p:pic>
                    <p:nvPicPr>
                      <p:cNvPr id="0" name="Picture 3075"/>
                      <p:cNvPicPr/>
                      <p:nvPr/>
                    </p:nvPicPr>
                    <p:blipFill>
                      <a:blip r:embed="rId4"/>
                      <a:stretch>
                        <a:fillRect/>
                      </a:stretch>
                    </p:blipFill>
                    <p:spPr>
                      <a:xfrm>
                        <a:off x="838200" y="1905000"/>
                        <a:ext cx="7848600" cy="3548063"/>
                      </a:xfrm>
                      <a:prstGeom prst="rect">
                        <a:avLst/>
                      </a:prstGeom>
                      <a:noFill/>
                      <a:ln w="38100">
                        <a:miter/>
                      </a:ln>
                    </p:spPr>
                  </p:pic>
                </p:oleObj>
              </mc:Fallback>
            </mc:AlternateContent>
          </a:graphicData>
        </a:graphic>
      </p:graphicFrame>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itle 14340"/>
          <p:cNvSpPr>
            <a:spLocks noGrp="1"/>
          </p:cNvSpPr>
          <p:nvPr>
            <p:ph type="title"/>
          </p:nvPr>
        </p:nvSpPr>
        <p:spPr/>
        <p:txBody>
          <a:bodyPr anchor="ctr" anchorCtr="0"/>
          <a:lstStyle/>
          <a:p>
            <a:r>
              <a:rPr sz="3600" b="1"/>
              <a:t>Unshielded Twisted-pair (UTP) cable</a:t>
            </a:r>
          </a:p>
        </p:txBody>
      </p:sp>
      <p:sp>
        <p:nvSpPr>
          <p:cNvPr id="14339" name="Text Placeholder 14338"/>
          <p:cNvSpPr>
            <a:spLocks noGrp="1"/>
          </p:cNvSpPr>
          <p:nvPr>
            <p:ph type="body" sz="half" idx="1"/>
          </p:nvPr>
        </p:nvSpPr>
        <p:spPr>
          <a:xfrm>
            <a:off x="685800" y="1600200"/>
            <a:ext cx="3810000" cy="4495800"/>
          </a:xfrm>
        </p:spPr>
        <p:txBody>
          <a:bodyPr/>
          <a:lstStyle/>
          <a:p>
            <a:pPr>
              <a:buClrTx/>
              <a:buSzTx/>
              <a:buFontTx/>
            </a:pPr>
            <a:r>
              <a:rPr sz="2000"/>
              <a:t>Any medium can transmit only a fixed range of frequencies!</a:t>
            </a:r>
          </a:p>
          <a:p>
            <a:pPr>
              <a:buClrTx/>
              <a:buSzTx/>
              <a:buFontTx/>
            </a:pPr>
            <a:r>
              <a:rPr sz="2000"/>
              <a:t>UTP cable is the most common type of telecommunication medium in use today.</a:t>
            </a:r>
          </a:p>
          <a:p>
            <a:pPr>
              <a:buClrTx/>
              <a:buSzTx/>
              <a:buFontTx/>
              <a:buNone/>
            </a:pPr>
            <a:endParaRPr sz="2000"/>
          </a:p>
          <a:p>
            <a:pPr>
              <a:buClrTx/>
              <a:buSzTx/>
              <a:buFontTx/>
            </a:pPr>
            <a:r>
              <a:rPr sz="2000"/>
              <a:t>The range  is suitable for transmitting both data and video.</a:t>
            </a:r>
          </a:p>
          <a:p>
            <a:pPr>
              <a:buClrTx/>
              <a:buSzTx/>
              <a:buFontTx/>
            </a:pPr>
            <a:r>
              <a:rPr sz="2000"/>
              <a:t>Advantages of UTP  are its cost and ease of use. UTP is cheap, flexible, and easy to install.</a:t>
            </a:r>
          </a:p>
          <a:p>
            <a:pPr>
              <a:buClrTx/>
              <a:buSzTx/>
              <a:buFontTx/>
            </a:pPr>
            <a:endParaRPr sz="2000"/>
          </a:p>
          <a:p>
            <a:pPr>
              <a:buClrTx/>
              <a:buSzTx/>
              <a:buFontTx/>
            </a:pPr>
            <a:endParaRPr sz="2000"/>
          </a:p>
          <a:p>
            <a:pPr>
              <a:buClrTx/>
              <a:buSzTx/>
              <a:buFontTx/>
            </a:pPr>
            <a:endParaRPr sz="2000"/>
          </a:p>
        </p:txBody>
      </p:sp>
      <p:pic>
        <p:nvPicPr>
          <p:cNvPr id="14340" name="Content Placeholder 14339" descr="~AUT0002"/>
          <p:cNvPicPr>
            <a:picLocks noGrp="1" noChangeAspect="1"/>
          </p:cNvPicPr>
          <p:nvPr>
            <p:ph sz="half" idx="2"/>
          </p:nvPr>
        </p:nvPicPr>
        <p:blipFill>
          <a:blip r:embed="rId2"/>
          <a:stretch>
            <a:fillRect/>
          </a:stretch>
        </p:blipFill>
        <p:spPr>
          <a:xfrm>
            <a:off x="4419600" y="2438400"/>
            <a:ext cx="4191000" cy="3587750"/>
          </a:xfr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Placeholder 16386"/>
          <p:cNvSpPr>
            <a:spLocks noGrp="1"/>
          </p:cNvSpPr>
          <p:nvPr>
            <p:ph type="body" idx="1"/>
          </p:nvPr>
        </p:nvSpPr>
        <p:spPr>
          <a:xfrm>
            <a:off x="685800" y="457200"/>
            <a:ext cx="8229600" cy="6400800"/>
          </a:xfrm>
        </p:spPr>
        <p:txBody>
          <a:bodyPr/>
          <a:lstStyle/>
          <a:p>
            <a:pPr marL="609600" indent="-609600">
              <a:lnSpc>
                <a:spcPct val="90000"/>
              </a:lnSpc>
              <a:buNone/>
            </a:pPr>
            <a:r>
              <a:rPr sz="2800"/>
              <a:t>The Electronic Industries Association (EIA) has developed standards to grade UTP.</a:t>
            </a:r>
          </a:p>
          <a:p>
            <a:pPr marL="609600" indent="-609600">
              <a:lnSpc>
                <a:spcPct val="90000"/>
              </a:lnSpc>
              <a:buFontTx/>
              <a:buAutoNum type="arabicPeriod"/>
            </a:pPr>
            <a:r>
              <a:rPr sz="2800"/>
              <a:t>Category 1. The basic twisted-pair cabling used in telephone systems. This level of quality is fine for voice but inadequate for data transmission.</a:t>
            </a:r>
          </a:p>
          <a:p>
            <a:pPr marL="609600" indent="-609600">
              <a:lnSpc>
                <a:spcPct val="90000"/>
              </a:lnSpc>
              <a:buFontTx/>
              <a:buAutoNum type="arabicPeriod"/>
            </a:pPr>
            <a:r>
              <a:rPr sz="2800"/>
              <a:t>Category 2. This category is suitable for voice and data transmission of up to 2Mbps.</a:t>
            </a:r>
          </a:p>
          <a:p>
            <a:pPr marL="609600" indent="-609600">
              <a:lnSpc>
                <a:spcPct val="90000"/>
              </a:lnSpc>
              <a:buFontTx/>
              <a:buAutoNum type="arabicPeriod"/>
            </a:pPr>
            <a:r>
              <a:rPr sz="2800"/>
              <a:t>Category 3.This category is suitable for data transmission  of up to 10 Mbps. It is now the standard cable for most telephone systems.</a:t>
            </a:r>
          </a:p>
          <a:p>
            <a:pPr marL="609600" indent="-609600">
              <a:lnSpc>
                <a:spcPct val="90000"/>
              </a:lnSpc>
              <a:buFontTx/>
              <a:buAutoNum type="arabicPeriod"/>
            </a:pPr>
            <a:r>
              <a:rPr sz="2800"/>
              <a:t>Category 4. This category is suitable for data transmission  of up to 20 Mbps. </a:t>
            </a:r>
          </a:p>
          <a:p>
            <a:pPr marL="609600" indent="-609600">
              <a:lnSpc>
                <a:spcPct val="90000"/>
              </a:lnSpc>
              <a:buFontTx/>
              <a:buAutoNum type="arabicPeriod"/>
            </a:pPr>
            <a:r>
              <a:rPr sz="2800"/>
              <a:t>Category 5. This category is suitable for data transmission  of up to 100 Mbps. </a:t>
            </a:r>
          </a:p>
          <a:p>
            <a:pPr marL="609600" indent="-609600">
              <a:lnSpc>
                <a:spcPct val="90000"/>
              </a:lnSpc>
              <a:buFontTx/>
              <a:buAutoNum type="arabicPeriod"/>
            </a:pPr>
            <a:endParaRPr sz="2800"/>
          </a:p>
          <a:p>
            <a:pPr marL="609600" indent="-609600">
              <a:lnSpc>
                <a:spcPct val="90000"/>
              </a:lnSpc>
              <a:buAutoNum type="arabicPeriod"/>
            </a:pPr>
            <a:endParaRPr sz="280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83969"/>
          <p:cNvSpPr txBox="1"/>
          <p:nvPr/>
        </p:nvSpPr>
        <p:spPr>
          <a:xfrm>
            <a:off x="152400" y="228600"/>
            <a:ext cx="7019925" cy="457200"/>
          </a:xfrm>
          <a:prstGeom prst="rect">
            <a:avLst/>
          </a:prstGeom>
          <a:noFill/>
          <a:ln w="9525">
            <a:noFill/>
          </a:ln>
        </p:spPr>
        <p:txBody>
          <a:bodyPr wrap="none" anchor="t" anchorCtr="0">
            <a:spAutoFit/>
          </a:bodyPr>
          <a:lstStyle/>
          <a:p>
            <a:r>
              <a:rPr sz="2400" b="1" i="1">
                <a:solidFill>
                  <a:srgbClr val="FF0066"/>
                </a:solidFill>
                <a:effectLst>
                  <a:outerShdw blurRad="38100" dist="38100" dir="2700000">
                    <a:srgbClr val="C0C0C0"/>
                  </a:outerShdw>
                </a:effectLst>
              </a:rPr>
              <a:t>Table 7.1  Categories of unshielded twisted-pair cables</a:t>
            </a:r>
          </a:p>
        </p:txBody>
      </p:sp>
      <p:graphicFrame>
        <p:nvGraphicFramePr>
          <p:cNvPr id="83971" name="Table 83970"/>
          <p:cNvGraphicFramePr/>
          <p:nvPr/>
        </p:nvGraphicFramePr>
        <p:xfrm>
          <a:off x="304800" y="762000"/>
          <a:ext cx="8686800" cy="5181600"/>
        </p:xfrm>
        <a:graphic>
          <a:graphicData uri="http://schemas.openxmlformats.org/drawingml/2006/table">
            <a:tbl>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76993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Category</a:t>
                      </a:r>
                      <a:endParaRPr lang="en-US" sz="1800" b="1">
                        <a:solidFill>
                          <a:schemeClr val="bg1"/>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Bandwidth</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Data Rate</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Digital/Analog</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Use</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61277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1</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very low</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&lt; 100 kbps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Analog</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Telephone</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1"/>
                  </a:ext>
                </a:extLst>
              </a:tr>
              <a:tr h="769937">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2</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&lt; 2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2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Analog/digital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T-1 lines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2"/>
                  </a:ext>
                </a:extLst>
              </a:tr>
              <a:tr h="59055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3</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16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10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LANs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3"/>
                  </a:ext>
                </a:extLst>
              </a:tr>
              <a:tr h="61277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4</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20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20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LANs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4"/>
                  </a:ext>
                </a:extLst>
              </a:tr>
              <a:tr h="61118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5</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100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100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LANs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5"/>
                  </a:ext>
                </a:extLst>
              </a:tr>
              <a:tr h="61277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6 (draft)</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200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200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LANs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6"/>
                  </a:ext>
                </a:extLst>
              </a:tr>
              <a:tr h="601662">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rPr>
                        <a:t>7 (draft)</a:t>
                      </a:r>
                      <a:endParaRPr lang="en-US" sz="1800" b="1">
                        <a:solidFill>
                          <a:schemeClr val="hlink"/>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buNone/>
                      </a:pPr>
                      <a:r>
                        <a:rPr sz="1800" b="1">
                          <a:solidFill>
                            <a:schemeClr val="bg1"/>
                          </a:solidFill>
                        </a:rPr>
                        <a:t>   600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600 Mbps</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Digital</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LANs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84993"/>
          <p:cNvSpPr txBox="1"/>
          <p:nvPr/>
        </p:nvSpPr>
        <p:spPr>
          <a:xfrm>
            <a:off x="990600" y="90488"/>
            <a:ext cx="4876800" cy="457200"/>
          </a:xfrm>
          <a:prstGeom prst="rect">
            <a:avLst/>
          </a:prstGeom>
          <a:noFill/>
          <a:ln w="9525">
            <a:noFill/>
          </a:ln>
        </p:spPr>
        <p:txBody>
          <a:bodyPr>
            <a:spAutoFit/>
          </a:bodyPr>
          <a:lstStyle/>
          <a:p>
            <a:pPr algn="ctr" eaLnBrk="0" hangingPunct="0"/>
            <a:r>
              <a:rPr lang="en-US" altLang="en-US" sz="2400" b="1" i="1"/>
              <a:t>UTP connectors</a:t>
            </a:r>
          </a:p>
        </p:txBody>
      </p:sp>
      <p:pic>
        <p:nvPicPr>
          <p:cNvPr id="85002" name="Picture 85001"/>
          <p:cNvPicPr>
            <a:picLocks noChangeAspect="1"/>
          </p:cNvPicPr>
          <p:nvPr/>
        </p:nvPicPr>
        <p:blipFill>
          <a:blip/>
          <a:stretch>
            <a:fillRect/>
          </a:stretch>
        </p:blipFill>
        <p:spPr>
          <a:xfrm>
            <a:off x="762000" y="3352800"/>
            <a:ext cx="7532688" cy="3011488"/>
          </a:xfrm>
          <a:prstGeom prst="rect">
            <a:avLst/>
          </a:prstGeom>
          <a:noFill/>
          <a:ln w="9525">
            <a:noFill/>
          </a:ln>
        </p:spPr>
      </p:pic>
      <p:sp>
        <p:nvSpPr>
          <p:cNvPr id="85003" name="Text Box 85002"/>
          <p:cNvSpPr txBox="1"/>
          <p:nvPr/>
        </p:nvSpPr>
        <p:spPr>
          <a:xfrm>
            <a:off x="228600" y="955675"/>
            <a:ext cx="8610600" cy="822325"/>
          </a:xfrm>
          <a:prstGeom prst="rect">
            <a:avLst/>
          </a:prstGeom>
          <a:noFill/>
          <a:ln w="9525">
            <a:noFill/>
          </a:ln>
        </p:spPr>
        <p:txBody>
          <a:bodyPr>
            <a:spAutoFit/>
          </a:bodyPr>
          <a:lstStyle/>
          <a:p>
            <a:r>
              <a:rPr sz="2400"/>
              <a:t>The most common UTP connector is RJ45 (RJ stands  for  Registered Jack).</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7409"/>
          <p:cNvSpPr>
            <a:spLocks noGrp="1"/>
          </p:cNvSpPr>
          <p:nvPr>
            <p:ph type="title"/>
          </p:nvPr>
        </p:nvSpPr>
        <p:spPr/>
        <p:txBody>
          <a:bodyPr anchor="ctr" anchorCtr="0"/>
          <a:lstStyle/>
          <a:p>
            <a:r>
              <a:rPr sz="3200"/>
              <a:t>Shielded Twisted (STP) Cable</a:t>
            </a:r>
          </a:p>
        </p:txBody>
      </p:sp>
      <p:sp>
        <p:nvSpPr>
          <p:cNvPr id="17411" name="Text Placeholder 17410"/>
          <p:cNvSpPr>
            <a:spLocks noGrp="1"/>
          </p:cNvSpPr>
          <p:nvPr>
            <p:ph type="body" sz="half" idx="1"/>
          </p:nvPr>
        </p:nvSpPr>
        <p:spPr>
          <a:xfrm>
            <a:off x="685800" y="1981200"/>
            <a:ext cx="3810000" cy="4114800"/>
          </a:xfrm>
        </p:spPr>
        <p:txBody>
          <a:bodyPr/>
          <a:lstStyle/>
          <a:p>
            <a:pPr>
              <a:buClrTx/>
              <a:buSzTx/>
              <a:buFontTx/>
            </a:pPr>
            <a:r>
              <a:rPr sz="2000"/>
              <a:t>STP cable has a metal foil  or braided-mesh covering that enhances each pair of insulated conductors.</a:t>
            </a:r>
          </a:p>
          <a:p>
            <a:pPr>
              <a:buClrTx/>
              <a:buSzTx/>
              <a:buFontTx/>
            </a:pPr>
            <a:r>
              <a:rPr sz="2000"/>
              <a:t>The metal casing prevents the penetration of electromagnetic noise.</a:t>
            </a:r>
          </a:p>
          <a:p>
            <a:pPr>
              <a:buClrTx/>
              <a:buSzTx/>
              <a:buFontTx/>
            </a:pPr>
            <a:r>
              <a:rPr sz="2000"/>
              <a:t>Materials and manufacturing requirements make STP more expensive than UTP but less susceptible to noise.</a:t>
            </a:r>
          </a:p>
        </p:txBody>
      </p:sp>
      <p:pic>
        <p:nvPicPr>
          <p:cNvPr id="17412" name="Content Placeholder 17411" descr="~AUT0004"/>
          <p:cNvPicPr>
            <a:picLocks noGrp="1" noChangeAspect="1"/>
          </p:cNvPicPr>
          <p:nvPr>
            <p:ph sz="half" idx="2"/>
          </p:nvPr>
        </p:nvPicPr>
        <p:blipFill>
          <a:blip/>
          <a:stretch>
            <a:fillRect/>
          </a:stretch>
        </p:blipFill>
        <p:spPr>
          <a:xfrm>
            <a:off x="4876800" y="1600200"/>
            <a:ext cx="3810000" cy="4395788"/>
          </a:xfr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86017"/>
          <p:cNvSpPr>
            <a:spLocks noGrp="1"/>
          </p:cNvSpPr>
          <p:nvPr>
            <p:ph type="title"/>
          </p:nvPr>
        </p:nvSpPr>
        <p:spPr/>
        <p:txBody>
          <a:bodyPr anchor="ctr" anchorCtr="0"/>
          <a:lstStyle/>
          <a:p>
            <a:r>
              <a:rPr sz="3200"/>
              <a:t>Applications</a:t>
            </a:r>
          </a:p>
        </p:txBody>
      </p:sp>
      <p:sp>
        <p:nvSpPr>
          <p:cNvPr id="86019" name="Text Placeholder 86018"/>
          <p:cNvSpPr>
            <a:spLocks noGrp="1"/>
          </p:cNvSpPr>
          <p:nvPr>
            <p:ph type="body" idx="1"/>
          </p:nvPr>
        </p:nvSpPr>
        <p:spPr/>
        <p:txBody>
          <a:bodyPr/>
          <a:lstStyle/>
          <a:p>
            <a:r>
              <a:rPr sz="2400"/>
              <a:t>Twisted-pair cables are used in telephones lines to provide voice and data channels.</a:t>
            </a:r>
          </a:p>
          <a:p>
            <a:r>
              <a:rPr sz="2400"/>
              <a:t>The DSL lines that are used by the telephone companies to provide high data rate connections also use the high-bandwidth capability of unshielded twisted-pair cables.</a:t>
            </a:r>
          </a:p>
          <a:p>
            <a:r>
              <a:rPr sz="2400"/>
              <a:t>Local area networks, such as 10Base-T and 100Base-T, also used UTP cables.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8601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8601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86019">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9457"/>
          <p:cNvSpPr>
            <a:spLocks noGrp="1"/>
          </p:cNvSpPr>
          <p:nvPr>
            <p:ph type="title"/>
          </p:nvPr>
        </p:nvSpPr>
        <p:spPr/>
        <p:txBody>
          <a:bodyPr anchor="ctr" anchorCtr="0"/>
          <a:lstStyle/>
          <a:p>
            <a:r>
              <a:rPr sz="3200"/>
              <a:t>Coaxial Cable (or coax)</a:t>
            </a:r>
          </a:p>
        </p:txBody>
      </p:sp>
      <p:sp>
        <p:nvSpPr>
          <p:cNvPr id="19459" name="Text Placeholder 19458"/>
          <p:cNvSpPr>
            <a:spLocks noGrp="1"/>
          </p:cNvSpPr>
          <p:nvPr>
            <p:ph type="body" sz="half" idx="1"/>
          </p:nvPr>
        </p:nvSpPr>
        <p:spPr>
          <a:xfrm>
            <a:off x="685800" y="1981200"/>
            <a:ext cx="3810000" cy="4114800"/>
          </a:xfrm>
        </p:spPr>
        <p:txBody>
          <a:bodyPr/>
          <a:lstStyle/>
          <a:p>
            <a:pPr>
              <a:buClrTx/>
              <a:buSzTx/>
              <a:buFontTx/>
            </a:pPr>
            <a:r>
              <a:rPr sz="2000"/>
              <a:t>Coaxial cable  carries signals of higher frequency ranges than twisted-pair cable.</a:t>
            </a:r>
          </a:p>
          <a:p>
            <a:pPr>
              <a:buClrTx/>
              <a:buSzTx/>
              <a:buFontTx/>
            </a:pPr>
            <a:endParaRPr sz="2000"/>
          </a:p>
          <a:p>
            <a:pPr>
              <a:buClrTx/>
              <a:buSzTx/>
              <a:buFontTx/>
            </a:pPr>
            <a:r>
              <a:rPr sz="2000"/>
              <a:t>Coaxial Cable standards:</a:t>
            </a:r>
          </a:p>
          <a:p>
            <a:pPr>
              <a:buClrTx/>
              <a:buSzTx/>
              <a:buFontTx/>
              <a:buNone/>
            </a:pPr>
            <a:r>
              <a:rPr sz="2000"/>
              <a:t>RG-8, RG-9, RG-11 are </a:t>
            </a:r>
          </a:p>
          <a:p>
            <a:pPr>
              <a:buClrTx/>
              <a:buSzTx/>
              <a:buFontTx/>
              <a:buNone/>
            </a:pPr>
            <a:r>
              <a:rPr sz="2000"/>
              <a:t> used in thick Ethernet</a:t>
            </a:r>
          </a:p>
          <a:p>
            <a:pPr>
              <a:buClrTx/>
              <a:buSzTx/>
              <a:buFontTx/>
              <a:buNone/>
            </a:pPr>
            <a:r>
              <a:rPr sz="2000"/>
              <a:t>RG-58 Used in thin Ethernet</a:t>
            </a:r>
          </a:p>
          <a:p>
            <a:pPr>
              <a:buClrTx/>
              <a:buSzTx/>
              <a:buFontTx/>
              <a:buNone/>
            </a:pPr>
            <a:r>
              <a:rPr sz="2000"/>
              <a:t>RG-59 Used for TV</a:t>
            </a:r>
          </a:p>
          <a:p>
            <a:pPr>
              <a:buClrTx/>
              <a:buSzTx/>
              <a:buFontTx/>
              <a:buNone/>
            </a:pPr>
            <a:endParaRPr sz="2000"/>
          </a:p>
        </p:txBody>
      </p:sp>
      <p:pic>
        <p:nvPicPr>
          <p:cNvPr id="19460" name="Content Placeholder 19459" descr="~AUT0005"/>
          <p:cNvPicPr>
            <a:picLocks noGrp="1" noChangeAspect="1"/>
          </p:cNvPicPr>
          <p:nvPr>
            <p:ph sz="quarter" idx="2"/>
          </p:nvPr>
        </p:nvPicPr>
        <p:blipFill>
          <a:blip/>
          <a:stretch>
            <a:fillRect/>
          </a:stretch>
        </p:blipFill>
        <p:spPr>
          <a:xfrm>
            <a:off x="4346575" y="1584960"/>
            <a:ext cx="4688840" cy="2703830"/>
          </a:xfrm>
        </p:spPr>
      </p:pic>
      <p:pic>
        <p:nvPicPr>
          <p:cNvPr id="19462" name="Content Placeholder 19461" descr="~AUT0006"/>
          <p:cNvPicPr>
            <a:picLocks noGrp="1" noChangeAspect="1"/>
          </p:cNvPicPr>
          <p:nvPr>
            <p:ph sz="quarter" idx="3"/>
          </p:nvPr>
        </p:nvPicPr>
        <p:blipFill>
          <a:blip/>
          <a:stretch>
            <a:fillRect/>
          </a:stretch>
        </p:blipFill>
        <p:spPr>
          <a:xfrm>
            <a:off x="4565650" y="4248150"/>
            <a:ext cx="4578350" cy="243522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2" end="2"/>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5" end="5"/>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59">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9459">
                                            <p:txEl>
                                              <p:p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87041"/>
          <p:cNvSpPr txBox="1"/>
          <p:nvPr/>
        </p:nvSpPr>
        <p:spPr>
          <a:xfrm>
            <a:off x="990600" y="90488"/>
            <a:ext cx="4876800" cy="457200"/>
          </a:xfrm>
          <a:prstGeom prst="rect">
            <a:avLst/>
          </a:prstGeom>
          <a:noFill/>
          <a:ln w="9525">
            <a:noFill/>
          </a:ln>
        </p:spPr>
        <p:txBody>
          <a:bodyPr>
            <a:spAutoFit/>
          </a:bodyPr>
          <a:lstStyle/>
          <a:p>
            <a:pPr algn="ctr" eaLnBrk="0" hangingPunct="0"/>
            <a:r>
              <a:rPr lang="en-US" altLang="en-US" sz="2400" b="1" i="1"/>
              <a:t>BNC connectors</a:t>
            </a:r>
          </a:p>
        </p:txBody>
      </p:sp>
      <p:pic>
        <p:nvPicPr>
          <p:cNvPr id="87050" name="Picture 87049"/>
          <p:cNvPicPr>
            <a:picLocks noChangeAspect="1"/>
          </p:cNvPicPr>
          <p:nvPr/>
        </p:nvPicPr>
        <p:blipFill>
          <a:blip/>
          <a:stretch>
            <a:fillRect/>
          </a:stretch>
        </p:blipFill>
        <p:spPr>
          <a:xfrm>
            <a:off x="609600" y="4495800"/>
            <a:ext cx="8199438" cy="2055813"/>
          </a:xfrm>
          <a:prstGeom prst="rect">
            <a:avLst/>
          </a:prstGeom>
          <a:noFill/>
          <a:ln w="9525">
            <a:noFill/>
          </a:ln>
        </p:spPr>
      </p:pic>
      <p:sp>
        <p:nvSpPr>
          <p:cNvPr id="87051" name="Text Box 87050"/>
          <p:cNvSpPr txBox="1"/>
          <p:nvPr/>
        </p:nvSpPr>
        <p:spPr>
          <a:xfrm>
            <a:off x="152400" y="914400"/>
            <a:ext cx="8224838" cy="3013075"/>
          </a:xfrm>
          <a:prstGeom prst="rect">
            <a:avLst/>
          </a:prstGeom>
          <a:noFill/>
          <a:ln w="9525">
            <a:noFill/>
          </a:ln>
        </p:spPr>
        <p:txBody>
          <a:bodyPr>
            <a:spAutoFit/>
          </a:bodyPr>
          <a:lstStyle/>
          <a:p>
            <a:pPr>
              <a:buChar char="•"/>
            </a:pPr>
            <a:r>
              <a:rPr sz="2400"/>
              <a:t>To connect coaxial cable to devices, it is necessary to use </a:t>
            </a:r>
          </a:p>
          <a:p>
            <a:r>
              <a:rPr sz="2400"/>
              <a:t>coaxial connectors. The most common type of connector is the </a:t>
            </a:r>
            <a:r>
              <a:rPr sz="2400" err="1"/>
              <a:t>Bayone-Neill-Concelman</a:t>
            </a:r>
            <a:r>
              <a:rPr sz="2400"/>
              <a:t>, or BNC, connectors. There are three</a:t>
            </a:r>
          </a:p>
          <a:p>
            <a:r>
              <a:rPr sz="2400"/>
              <a:t>types: the BNC connector, the BNC T connector,  the BNC terminator.</a:t>
            </a:r>
          </a:p>
          <a:p>
            <a:r>
              <a:rPr sz="2400"/>
              <a:t>Applications include cable TV networks, and some traditional Ethernet LANs like 10Base-2, or 10-Base5.</a:t>
            </a:r>
          </a:p>
          <a:p>
            <a:endParaRPr sz="240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2529"/>
          <p:cNvSpPr>
            <a:spLocks noGrp="1"/>
          </p:cNvSpPr>
          <p:nvPr>
            <p:ph type="title"/>
          </p:nvPr>
        </p:nvSpPr>
        <p:spPr>
          <a:xfrm>
            <a:off x="685800" y="609600"/>
            <a:ext cx="7772400" cy="914400"/>
          </a:xfrm>
        </p:spPr>
        <p:txBody>
          <a:bodyPr anchor="ctr" anchorCtr="0"/>
          <a:lstStyle/>
          <a:p>
            <a:r>
              <a:rPr sz="3200"/>
              <a:t>Optical Fiber</a:t>
            </a:r>
          </a:p>
        </p:txBody>
      </p:sp>
      <p:sp>
        <p:nvSpPr>
          <p:cNvPr id="22531" name="Text Placeholder 22530"/>
          <p:cNvSpPr>
            <a:spLocks noGrp="1"/>
          </p:cNvSpPr>
          <p:nvPr>
            <p:ph type="body" idx="1"/>
          </p:nvPr>
        </p:nvSpPr>
        <p:spPr>
          <a:xfrm>
            <a:off x="685800" y="1600200"/>
            <a:ext cx="7772400" cy="4495800"/>
          </a:xfrm>
        </p:spPr>
        <p:txBody>
          <a:bodyPr/>
          <a:lstStyle/>
          <a:p>
            <a:r>
              <a:rPr sz="2400"/>
              <a:t>Metal  cables transmit signals in the form of  electric current.</a:t>
            </a:r>
          </a:p>
          <a:p>
            <a:r>
              <a:rPr sz="2400"/>
              <a:t>Optical fiber is made of glass or plastic and transmits signals in the form of </a:t>
            </a:r>
            <a:r>
              <a:rPr sz="2400" b="1"/>
              <a:t>light</a:t>
            </a:r>
            <a:r>
              <a:rPr sz="2400"/>
              <a:t>.</a:t>
            </a:r>
          </a:p>
          <a:p>
            <a:r>
              <a:rPr sz="2400"/>
              <a:t>Light, a  form of electromagnetic energy,   travels at 300,000 Kilometers/second ( 186,000 miles/second), in a vacuum.</a:t>
            </a:r>
          </a:p>
          <a:p>
            <a:r>
              <a:rPr sz="2400"/>
              <a:t>The speed of the light depends on the density of the medium through which  it is traveling ( the higher density, the slower the speed).</a:t>
            </a:r>
          </a:p>
          <a:p>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2531">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2531">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2531">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2531">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3553"/>
          <p:cNvSpPr>
            <a:spLocks noGrp="1"/>
          </p:cNvSpPr>
          <p:nvPr>
            <p:ph type="title"/>
          </p:nvPr>
        </p:nvSpPr>
        <p:spPr/>
        <p:txBody>
          <a:bodyPr anchor="ctr" anchorCtr="0"/>
          <a:lstStyle/>
          <a:p>
            <a:r>
              <a:rPr sz="3200"/>
              <a:t>The Nature of the Light</a:t>
            </a:r>
          </a:p>
        </p:txBody>
      </p:sp>
      <p:sp>
        <p:nvSpPr>
          <p:cNvPr id="23555" name="Text Placeholder 23554"/>
          <p:cNvSpPr>
            <a:spLocks noGrp="1"/>
          </p:cNvSpPr>
          <p:nvPr>
            <p:ph type="body" idx="1"/>
          </p:nvPr>
        </p:nvSpPr>
        <p:spPr/>
        <p:txBody>
          <a:bodyPr/>
          <a:lstStyle/>
          <a:p>
            <a:r>
              <a:rPr sz="2400"/>
              <a:t>Light travels in a straight line as long as it is moving through a single uniform substance.</a:t>
            </a:r>
          </a:p>
          <a:p>
            <a:endParaRPr sz="2400"/>
          </a:p>
          <a:p>
            <a:r>
              <a:rPr sz="2400"/>
              <a:t>If a ray of light traveling through one  substance suddenly enters another (less or more dense) substance, its speed  changes abruptly, causing the ray to change direction. This change is called </a:t>
            </a:r>
            <a:r>
              <a:rPr sz="2400" b="1"/>
              <a:t>refraction</a:t>
            </a:r>
            <a:r>
              <a:rPr sz="24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355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3555">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4577"/>
          <p:cNvSpPr>
            <a:spLocks noGrp="1"/>
          </p:cNvSpPr>
          <p:nvPr>
            <p:ph type="title"/>
          </p:nvPr>
        </p:nvSpPr>
        <p:spPr>
          <a:xfrm>
            <a:off x="685800" y="609600"/>
            <a:ext cx="7772400" cy="609600"/>
          </a:xfrm>
        </p:spPr>
        <p:txBody>
          <a:bodyPr anchor="ctr" anchorCtr="0"/>
          <a:lstStyle/>
          <a:p>
            <a:r>
              <a:rPr sz="3200"/>
              <a:t>Refraction</a:t>
            </a:r>
          </a:p>
        </p:txBody>
      </p:sp>
      <p:pic>
        <p:nvPicPr>
          <p:cNvPr id="24580" name="Content Placeholder 24579" descr="~AUT0007"/>
          <p:cNvPicPr>
            <a:picLocks noGrp="1" noChangeAspect="1"/>
          </p:cNvPicPr>
          <p:nvPr>
            <p:ph idx="1"/>
          </p:nvPr>
        </p:nvPicPr>
        <p:blipFill>
          <a:blip/>
          <a:stretch>
            <a:fillRect/>
          </a:stretch>
        </p:blipFill>
        <p:spPr>
          <a:xfrm>
            <a:off x="609600" y="1295400"/>
            <a:ext cx="7924800" cy="4114800"/>
          </a:xfr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itle 26628"/>
          <p:cNvSpPr>
            <a:spLocks noGrp="1"/>
          </p:cNvSpPr>
          <p:nvPr>
            <p:ph type="title"/>
          </p:nvPr>
        </p:nvSpPr>
        <p:spPr/>
        <p:txBody>
          <a:bodyPr anchor="ctr" anchorCtr="0"/>
          <a:lstStyle/>
          <a:p>
            <a:r>
              <a:rPr sz="3200"/>
              <a:t>Critical angle</a:t>
            </a:r>
          </a:p>
        </p:txBody>
      </p:sp>
      <p:sp>
        <p:nvSpPr>
          <p:cNvPr id="26632" name="Text Box 26631"/>
          <p:cNvSpPr txBox="1"/>
          <p:nvPr/>
        </p:nvSpPr>
        <p:spPr>
          <a:xfrm>
            <a:off x="228600" y="1946275"/>
            <a:ext cx="8229600" cy="1552575"/>
          </a:xfrm>
          <a:prstGeom prst="rect">
            <a:avLst/>
          </a:prstGeom>
          <a:noFill/>
          <a:ln w="9525">
            <a:noFill/>
          </a:ln>
        </p:spPr>
        <p:txBody>
          <a:bodyPr>
            <a:spAutoFit/>
          </a:bodyPr>
          <a:lstStyle/>
          <a:p>
            <a:pPr>
              <a:buChar char="•"/>
            </a:pPr>
            <a:r>
              <a:rPr sz="2400"/>
              <a:t>If the  angle of incidence increases,  so does the  angle of refraction.</a:t>
            </a:r>
          </a:p>
          <a:p>
            <a:pPr>
              <a:buChar char="•"/>
            </a:pPr>
            <a:r>
              <a:rPr sz="2400"/>
              <a:t>The </a:t>
            </a:r>
            <a:r>
              <a:rPr sz="2400" b="1"/>
              <a:t>critical angle</a:t>
            </a:r>
            <a:r>
              <a:rPr sz="2400"/>
              <a:t> is defined to be  an angle of incidence for which the  angle of refraction is 90 degrees.</a:t>
            </a:r>
          </a:p>
        </p:txBody>
      </p:sp>
      <p:pic>
        <p:nvPicPr>
          <p:cNvPr id="26633" name="Content Placeholder 26632" descr="~AUT0008"/>
          <p:cNvPicPr>
            <a:picLocks noGrp="1" noChangeAspect="1"/>
          </p:cNvPicPr>
          <p:nvPr>
            <p:ph idx="1"/>
          </p:nvPr>
        </p:nvPicPr>
        <p:blipFill>
          <a:blip/>
          <a:stretch>
            <a:fillRect/>
          </a:stretch>
        </p:blipFill>
        <p:spPr>
          <a:xfrm>
            <a:off x="533400" y="3810000"/>
            <a:ext cx="8077200" cy="2819400"/>
          </a:xfr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8673"/>
          <p:cNvSpPr>
            <a:spLocks noGrp="1"/>
          </p:cNvSpPr>
          <p:nvPr>
            <p:ph type="title"/>
          </p:nvPr>
        </p:nvSpPr>
        <p:spPr/>
        <p:txBody>
          <a:bodyPr anchor="ctr" anchorCtr="0"/>
          <a:lstStyle/>
          <a:p>
            <a:r>
              <a:rPr sz="3200"/>
              <a:t>Reflection</a:t>
            </a:r>
          </a:p>
        </p:txBody>
      </p:sp>
      <p:sp>
        <p:nvSpPr>
          <p:cNvPr id="28675" name="Text Placeholder 28674"/>
          <p:cNvSpPr>
            <a:spLocks noGrp="1"/>
          </p:cNvSpPr>
          <p:nvPr>
            <p:ph type="body" sz="half" idx="1"/>
          </p:nvPr>
        </p:nvSpPr>
        <p:spPr>
          <a:xfrm>
            <a:off x="685800" y="1371600"/>
            <a:ext cx="3810000" cy="4724400"/>
          </a:xfrm>
        </p:spPr>
        <p:txBody>
          <a:bodyPr/>
          <a:lstStyle/>
          <a:p>
            <a:pPr>
              <a:buClrTx/>
              <a:buSzTx/>
              <a:buFontTx/>
            </a:pPr>
            <a:r>
              <a:rPr sz="2000"/>
              <a:t>When the angle of incidence becomes greater than the critical angle, a new phenomenon occurs called </a:t>
            </a:r>
            <a:r>
              <a:rPr sz="2000" b="1"/>
              <a:t>reflection</a:t>
            </a:r>
            <a:r>
              <a:rPr sz="2000"/>
              <a:t>.</a:t>
            </a:r>
          </a:p>
          <a:p>
            <a:pPr>
              <a:buClrTx/>
              <a:buSzTx/>
              <a:buFontTx/>
            </a:pPr>
            <a:endParaRPr sz="2000"/>
          </a:p>
          <a:p>
            <a:pPr>
              <a:buClrTx/>
              <a:buSzTx/>
              <a:buFontTx/>
            </a:pPr>
            <a:r>
              <a:rPr sz="2000"/>
              <a:t>Light no longer passes into the less dense medium at all.</a:t>
            </a:r>
          </a:p>
          <a:p>
            <a:pPr>
              <a:buClrTx/>
              <a:buSzTx/>
              <a:buFontTx/>
            </a:pPr>
            <a:endParaRPr sz="2000"/>
          </a:p>
          <a:p>
            <a:pPr>
              <a:buClrTx/>
              <a:buSzTx/>
              <a:buFontTx/>
            </a:pPr>
            <a:endParaRPr sz="2000"/>
          </a:p>
          <a:p>
            <a:pPr>
              <a:buClrTx/>
              <a:buSzTx/>
              <a:buFontTx/>
            </a:pPr>
            <a:endParaRPr sz="2000"/>
          </a:p>
        </p:txBody>
      </p:sp>
      <p:pic>
        <p:nvPicPr>
          <p:cNvPr id="28676" name="Content Placeholder 28675" descr="~AUT0009"/>
          <p:cNvPicPr>
            <a:picLocks noGrp="1" noChangeAspect="1"/>
          </p:cNvPicPr>
          <p:nvPr>
            <p:ph sz="half" idx="2"/>
          </p:nvPr>
        </p:nvPicPr>
        <p:blipFill>
          <a:blip/>
          <a:stretch>
            <a:fillRect/>
          </a:stretch>
        </p:blipFill>
        <p:spPr>
          <a:xfrm>
            <a:off x="4800600" y="1676400"/>
            <a:ext cx="3810000" cy="4071938"/>
          </a:xfr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89089"/>
          <p:cNvSpPr txBox="1"/>
          <p:nvPr/>
        </p:nvSpPr>
        <p:spPr>
          <a:xfrm>
            <a:off x="990600" y="90488"/>
            <a:ext cx="6324600" cy="519112"/>
          </a:xfrm>
          <a:prstGeom prst="rect">
            <a:avLst/>
          </a:prstGeom>
          <a:noFill/>
          <a:ln w="9525">
            <a:noFill/>
          </a:ln>
        </p:spPr>
        <p:txBody>
          <a:bodyPr>
            <a:spAutoFit/>
          </a:bodyPr>
          <a:lstStyle/>
          <a:p>
            <a:pPr algn="ctr" eaLnBrk="0" hangingPunct="0"/>
            <a:r>
              <a:rPr lang="en-US" altLang="en-US" sz="1800" b="1">
                <a:solidFill>
                  <a:schemeClr val="accent2"/>
                </a:solidFill>
              </a:rPr>
              <a:t>   </a:t>
            </a:r>
            <a:r>
              <a:rPr lang="en-US" altLang="en-US" sz="2800" b="1" i="1">
                <a:latin typeface="Arial Unicode MS" pitchFamily="34" charset="-128"/>
              </a:rPr>
              <a:t>Critical Angle</a:t>
            </a:r>
          </a:p>
        </p:txBody>
      </p:sp>
      <p:pic>
        <p:nvPicPr>
          <p:cNvPr id="89098" name="Picture 89097"/>
          <p:cNvPicPr>
            <a:picLocks noChangeAspect="1"/>
          </p:cNvPicPr>
          <p:nvPr/>
        </p:nvPicPr>
        <p:blipFill>
          <a:blip r:embed="rId2"/>
          <a:stretch>
            <a:fillRect/>
          </a:stretch>
        </p:blipFill>
        <p:spPr>
          <a:xfrm>
            <a:off x="685800" y="1676400"/>
            <a:ext cx="7848600" cy="3124200"/>
          </a:xfrm>
          <a:prstGeom prst="rect">
            <a:avLst/>
          </a:prstGeom>
          <a:noFill/>
          <a:ln w="9525">
            <a:noFill/>
          </a:ln>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Placeholder 35842"/>
          <p:cNvSpPr>
            <a:spLocks noGrp="1"/>
          </p:cNvSpPr>
          <p:nvPr>
            <p:ph type="body" sz="half" idx="1"/>
          </p:nvPr>
        </p:nvSpPr>
        <p:spPr>
          <a:xfrm>
            <a:off x="685800" y="1371600"/>
            <a:ext cx="7848600" cy="2971800"/>
          </a:xfrm>
        </p:spPr>
        <p:txBody>
          <a:bodyPr/>
          <a:lstStyle/>
          <a:p>
            <a:pPr>
              <a:buClrTx/>
              <a:buSzTx/>
              <a:buFontTx/>
            </a:pPr>
            <a:r>
              <a:rPr sz="2000"/>
              <a:t>Optical fibers use reflection to guide light through a channel.</a:t>
            </a:r>
          </a:p>
          <a:p>
            <a:pPr>
              <a:buClrTx/>
              <a:buSzTx/>
              <a:buFontTx/>
            </a:pPr>
            <a:r>
              <a:rPr sz="2000"/>
              <a:t>A glass or core is surrounded  by a cladding of less dense glass or plastic. The  difference in density  of the two materials must be such  that a beam of light moving through the core is reflected off  the cladding instead of being  into it.</a:t>
            </a:r>
          </a:p>
          <a:p>
            <a:pPr>
              <a:buClrTx/>
              <a:buSzTx/>
              <a:buFontTx/>
            </a:pPr>
            <a:r>
              <a:rPr sz="2000"/>
              <a:t>Information is encoded onto a beam of light as a series of on-off flashes that represent 1 and 0 bits.</a:t>
            </a:r>
          </a:p>
          <a:p>
            <a:pPr>
              <a:buClrTx/>
              <a:buSzTx/>
              <a:buFontTx/>
            </a:pPr>
            <a:endParaRPr sz="2000"/>
          </a:p>
        </p:txBody>
      </p:sp>
      <p:pic>
        <p:nvPicPr>
          <p:cNvPr id="35844" name="Content Placeholder 35843"/>
          <p:cNvPicPr>
            <a:picLocks noGrp="1" noChangeAspect="1"/>
          </p:cNvPicPr>
          <p:nvPr>
            <p:ph sz="half" idx="2"/>
          </p:nvPr>
        </p:nvPicPr>
        <p:blipFill>
          <a:blip/>
          <a:stretch>
            <a:fillRect/>
          </a:stretch>
        </p:blipFill>
        <p:spPr>
          <a:xfrm>
            <a:off x="1524000" y="5105400"/>
            <a:ext cx="5791200" cy="1371600"/>
          </a:xfr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94209"/>
          <p:cNvSpPr txBox="1"/>
          <p:nvPr/>
        </p:nvSpPr>
        <p:spPr>
          <a:xfrm>
            <a:off x="990600" y="90488"/>
            <a:ext cx="4876800" cy="519112"/>
          </a:xfrm>
          <a:prstGeom prst="rect">
            <a:avLst/>
          </a:prstGeom>
          <a:noFill/>
          <a:ln w="9525">
            <a:noFill/>
          </a:ln>
        </p:spPr>
        <p:txBody>
          <a:bodyPr>
            <a:spAutoFit/>
          </a:bodyPr>
          <a:lstStyle/>
          <a:p>
            <a:pPr algn="ctr" eaLnBrk="0" hangingPunct="0"/>
            <a:r>
              <a:rPr lang="en-US" altLang="en-US" sz="2800" b="1" i="1"/>
              <a:t>Fiber construction</a:t>
            </a:r>
          </a:p>
        </p:txBody>
      </p:sp>
      <p:pic>
        <p:nvPicPr>
          <p:cNvPr id="94218" name="Picture 94217"/>
          <p:cNvPicPr>
            <a:picLocks noChangeAspect="1"/>
          </p:cNvPicPr>
          <p:nvPr/>
        </p:nvPicPr>
        <p:blipFill>
          <a:blip/>
          <a:stretch>
            <a:fillRect/>
          </a:stretch>
        </p:blipFill>
        <p:spPr>
          <a:xfrm>
            <a:off x="522288" y="1641475"/>
            <a:ext cx="8099425" cy="4302125"/>
          </a:xfrm>
          <a:prstGeom prst="rect">
            <a:avLst/>
          </a:prstGeom>
          <a:noFill/>
          <a:ln w="9525">
            <a:noFill/>
          </a:ln>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30721"/>
          <p:cNvSpPr>
            <a:spLocks noGrp="1"/>
          </p:cNvSpPr>
          <p:nvPr>
            <p:ph type="title"/>
          </p:nvPr>
        </p:nvSpPr>
        <p:spPr>
          <a:xfrm>
            <a:off x="685800" y="609600"/>
            <a:ext cx="7772400" cy="762000"/>
          </a:xfrm>
        </p:spPr>
        <p:txBody>
          <a:bodyPr anchor="ctr" anchorCtr="0"/>
          <a:lstStyle/>
          <a:p>
            <a:r>
              <a:rPr sz="3200" b="1"/>
              <a:t>Types of Optical Fiber</a:t>
            </a:r>
            <a:r>
              <a:t> </a:t>
            </a:r>
          </a:p>
        </p:txBody>
      </p:sp>
      <p:sp>
        <p:nvSpPr>
          <p:cNvPr id="30723" name="Text Placeholder 30722"/>
          <p:cNvSpPr>
            <a:spLocks noGrp="1"/>
          </p:cNvSpPr>
          <p:nvPr>
            <p:ph type="body" sz="half" idx="1"/>
          </p:nvPr>
        </p:nvSpPr>
        <p:spPr>
          <a:xfrm>
            <a:off x="685800" y="1600200"/>
            <a:ext cx="8077200" cy="4495800"/>
          </a:xfrm>
        </p:spPr>
        <p:txBody>
          <a:bodyPr/>
          <a:lstStyle/>
          <a:p>
            <a:pPr>
              <a:buClrTx/>
              <a:buSzTx/>
              <a:buFontTx/>
            </a:pPr>
            <a:r>
              <a:rPr sz="2400" b="1"/>
              <a:t>There are two basic types of fiber: multimode fiber and single-mode fiber. </a:t>
            </a:r>
          </a:p>
          <a:p>
            <a:pPr>
              <a:buClrTx/>
              <a:buSzTx/>
              <a:buFontTx/>
            </a:pPr>
            <a:endParaRPr sz="2400" b="1"/>
          </a:p>
          <a:p>
            <a:pPr>
              <a:buClrTx/>
              <a:buSzTx/>
              <a:buFontTx/>
            </a:pPr>
            <a:r>
              <a:rPr sz="2400" b="1"/>
              <a:t>Multimode fiber is best designed for short transmission distances, and is suited for use in LAN systems and video surveillance.  </a:t>
            </a:r>
          </a:p>
          <a:p>
            <a:pPr>
              <a:buClrTx/>
              <a:buSzTx/>
              <a:buFontTx/>
            </a:pPr>
            <a:endParaRPr sz="2400" b="1"/>
          </a:p>
          <a:p>
            <a:pPr>
              <a:buClrTx/>
              <a:buSzTx/>
              <a:buFontTx/>
            </a:pPr>
            <a:r>
              <a:rPr sz="2400" b="1"/>
              <a:t>Single-mode fiber is best designed for longer transmission distances, making it suitable for long-distance telephony and </a:t>
            </a:r>
            <a:r>
              <a:rPr sz="2400" b="1" err="1"/>
              <a:t>multichannel</a:t>
            </a:r>
            <a:r>
              <a:rPr sz="2400" b="1"/>
              <a:t> television broadcast systems.</a:t>
            </a:r>
            <a:r>
              <a:t> </a:t>
            </a:r>
            <a:endParaRPr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072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0723">
                                            <p:txEl>
                                              <p:pRg st="2" end="2"/>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0723">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03425"/>
          <p:cNvSpPr>
            <a:spLocks noGrp="1"/>
          </p:cNvSpPr>
          <p:nvPr>
            <p:ph type="title"/>
          </p:nvPr>
        </p:nvSpPr>
        <p:spPr>
          <a:xfrm>
            <a:off x="0" y="609600"/>
            <a:ext cx="8458200" cy="762000"/>
          </a:xfrm>
        </p:spPr>
        <p:txBody>
          <a:bodyPr anchor="ctr" anchorCtr="0"/>
          <a:lstStyle/>
          <a:p>
            <a:r>
              <a:rPr sz="2800" b="1"/>
              <a:t>Propagation Modes (Types of Optical Fiber )</a:t>
            </a:r>
          </a:p>
        </p:txBody>
      </p:sp>
      <p:sp>
        <p:nvSpPr>
          <p:cNvPr id="103427" name="Text Placeholder 103426"/>
          <p:cNvSpPr>
            <a:spLocks noGrp="1"/>
          </p:cNvSpPr>
          <p:nvPr>
            <p:ph type="body" sz="half" idx="1"/>
          </p:nvPr>
        </p:nvSpPr>
        <p:spPr>
          <a:xfrm>
            <a:off x="685800" y="1600200"/>
            <a:ext cx="3581400" cy="4495800"/>
          </a:xfrm>
        </p:spPr>
        <p:txBody>
          <a:bodyPr/>
          <a:lstStyle/>
          <a:p>
            <a:pPr>
              <a:buClrTx/>
              <a:buSzTx/>
              <a:buFontTx/>
            </a:pPr>
            <a:r>
              <a:rPr sz="2000"/>
              <a:t>Current technology supports two  modes for propagating light along optical channels, each requiring fiber with  different physical characteristics: </a:t>
            </a:r>
            <a:r>
              <a:rPr sz="2000" b="1"/>
              <a:t>Multimode </a:t>
            </a:r>
          </a:p>
          <a:p>
            <a:pPr>
              <a:buClrTx/>
              <a:buSzTx/>
              <a:buFontTx/>
              <a:buNone/>
            </a:pPr>
            <a:r>
              <a:rPr sz="2000" b="1"/>
              <a:t>     and  Single Mode.</a:t>
            </a:r>
          </a:p>
          <a:p>
            <a:pPr>
              <a:buClrTx/>
              <a:buSzTx/>
              <a:buFontTx/>
            </a:pPr>
            <a:endParaRPr sz="2000" b="1"/>
          </a:p>
          <a:p>
            <a:pPr>
              <a:buClrTx/>
              <a:buSzTx/>
              <a:buFontTx/>
            </a:pPr>
            <a:r>
              <a:rPr sz="2000"/>
              <a:t>Multimode, in turn, can be implemented in two forms: step-index or graded index.</a:t>
            </a:r>
          </a:p>
        </p:txBody>
      </p:sp>
      <p:pic>
        <p:nvPicPr>
          <p:cNvPr id="103428" name="Content Placeholder 103427"/>
          <p:cNvPicPr>
            <a:picLocks noGrp="1" noChangeAspect="1"/>
          </p:cNvPicPr>
          <p:nvPr>
            <p:ph sz="half" idx="2"/>
          </p:nvPr>
        </p:nvPicPr>
        <p:blipFill>
          <a:blip/>
          <a:stretch>
            <a:fillRect/>
          </a:stretch>
        </p:blipFill>
        <p:spPr>
          <a:xfrm>
            <a:off x="4648200" y="2209800"/>
            <a:ext cx="3810000" cy="3733800"/>
          </a:xfr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Placeholder 32770"/>
          <p:cNvSpPr>
            <a:spLocks noGrp="1"/>
          </p:cNvSpPr>
          <p:nvPr>
            <p:ph type="body" sz="half" idx="1"/>
          </p:nvPr>
        </p:nvSpPr>
        <p:spPr>
          <a:xfrm>
            <a:off x="685800" y="304800"/>
            <a:ext cx="8077200" cy="6324600"/>
          </a:xfrm>
        </p:spPr>
        <p:txBody>
          <a:bodyPr/>
          <a:lstStyle/>
          <a:p>
            <a:pPr>
              <a:buClrTx/>
              <a:buSzTx/>
              <a:buFontTx/>
            </a:pPr>
            <a:r>
              <a:rPr sz="2800" b="1"/>
              <a:t>Multimode</a:t>
            </a:r>
            <a:r>
              <a:rPr sz="2800"/>
              <a:t>: In this  case multiple beams from a light source move through the core in different paths.</a:t>
            </a:r>
          </a:p>
          <a:p>
            <a:pPr>
              <a:buClrTx/>
              <a:buSzTx/>
              <a:buFontTx/>
            </a:pPr>
            <a:r>
              <a:rPr sz="2800"/>
              <a:t>In </a:t>
            </a:r>
            <a:r>
              <a:rPr sz="2800" b="1"/>
              <a:t>multimode step-index fiber</a:t>
            </a:r>
            <a:r>
              <a:rPr sz="2800"/>
              <a:t>, the density of the core remains constant from the center to the edges. A beam of light moves through this constant density in a straight line until it reaches the interface of the core and cladding. At the interface there is an abrupt change to a lower density that alters  the angle of the beam’s motion.</a:t>
            </a:r>
          </a:p>
          <a:p>
            <a:pPr>
              <a:buClrTx/>
              <a:buSzTx/>
              <a:buFontTx/>
            </a:pPr>
            <a:r>
              <a:rPr sz="2800"/>
              <a:t>In a </a:t>
            </a:r>
            <a:r>
              <a:rPr sz="2800" b="1"/>
              <a:t>multimode graded-index fiber</a:t>
            </a:r>
            <a:r>
              <a:rPr sz="2800"/>
              <a:t> the density is highest at the center of the core and decreases gradually to its lowest at the edge.</a:t>
            </a:r>
          </a:p>
          <a:p>
            <a:pPr>
              <a:buClrTx/>
              <a:buSzTx/>
              <a:buFontTx/>
              <a:buNone/>
            </a:pPr>
            <a:endParaRPr sz="2400"/>
          </a:p>
          <a:p>
            <a:pPr>
              <a:buClrTx/>
              <a:buSzTx/>
              <a:buFontTx/>
            </a:pPr>
            <a:endParaRPr sz="240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92161"/>
          <p:cNvSpPr txBox="1"/>
          <p:nvPr/>
        </p:nvSpPr>
        <p:spPr>
          <a:xfrm>
            <a:off x="990600" y="90488"/>
            <a:ext cx="4876800" cy="579437"/>
          </a:xfrm>
          <a:prstGeom prst="rect">
            <a:avLst/>
          </a:prstGeom>
          <a:noFill/>
          <a:ln w="9525">
            <a:noFill/>
          </a:ln>
        </p:spPr>
        <p:txBody>
          <a:bodyPr>
            <a:spAutoFit/>
          </a:bodyPr>
          <a:lstStyle/>
          <a:p>
            <a:pPr algn="ctr" eaLnBrk="0" hangingPunct="0"/>
            <a:r>
              <a:rPr lang="en-US" altLang="en-US" b="1" i="1"/>
              <a:t> Propagation Modes</a:t>
            </a:r>
          </a:p>
        </p:txBody>
      </p:sp>
      <p:pic>
        <p:nvPicPr>
          <p:cNvPr id="92170" name="Picture 92169"/>
          <p:cNvPicPr>
            <a:picLocks noChangeAspect="1"/>
          </p:cNvPicPr>
          <p:nvPr/>
        </p:nvPicPr>
        <p:blipFill>
          <a:blip/>
          <a:stretch>
            <a:fillRect/>
          </a:stretch>
        </p:blipFill>
        <p:spPr>
          <a:xfrm>
            <a:off x="1062038" y="1600200"/>
            <a:ext cx="6024562" cy="4443413"/>
          </a:xfrm>
          <a:prstGeom prst="rect">
            <a:avLst/>
          </a:prstGeom>
          <a:noFill/>
          <a:ln w="9525">
            <a:noFill/>
          </a:ln>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Placeholder 36866"/>
          <p:cNvSpPr>
            <a:spLocks noGrp="1"/>
          </p:cNvSpPr>
          <p:nvPr>
            <p:ph type="body" sz="half" idx="1"/>
          </p:nvPr>
        </p:nvSpPr>
        <p:spPr>
          <a:xfrm>
            <a:off x="685800" y="304800"/>
            <a:ext cx="3505200" cy="5867400"/>
          </a:xfrm>
        </p:spPr>
        <p:txBody>
          <a:bodyPr/>
          <a:lstStyle/>
          <a:p>
            <a:pPr>
              <a:buClrTx/>
              <a:buSzTx/>
              <a:buFontTx/>
            </a:pPr>
            <a:r>
              <a:rPr sz="2400" b="1"/>
              <a:t>Single mode</a:t>
            </a:r>
            <a:r>
              <a:rPr sz="2400"/>
              <a:t> uses step-index fiber and a highly focused source of light that limits beams to a small range of angles, all close to the horizontal.</a:t>
            </a:r>
          </a:p>
          <a:p>
            <a:pPr>
              <a:buClrTx/>
              <a:buSzTx/>
              <a:buFontTx/>
            </a:pPr>
            <a:r>
              <a:rPr sz="2800" b="1"/>
              <a:t>Fiber Sizes</a:t>
            </a:r>
          </a:p>
          <a:p>
            <a:pPr>
              <a:buClrTx/>
              <a:buSzTx/>
              <a:buFontTx/>
              <a:buNone/>
            </a:pPr>
            <a:r>
              <a:rPr sz="2400"/>
              <a:t>Optical fibers are defined by the ratio of the diameter of their  core to the diameter of their cladding, both expressed in microns  (micrometers)</a:t>
            </a:r>
          </a:p>
          <a:p>
            <a:pPr>
              <a:buClrTx/>
              <a:buSzTx/>
              <a:buFontTx/>
            </a:pPr>
            <a:endParaRPr sz="2400"/>
          </a:p>
          <a:p>
            <a:pPr>
              <a:buClrTx/>
              <a:buSzTx/>
              <a:buFontTx/>
            </a:pPr>
            <a:endParaRPr sz="2400"/>
          </a:p>
        </p:txBody>
      </p:sp>
      <p:graphicFrame>
        <p:nvGraphicFramePr>
          <p:cNvPr id="37096" name="Content Placeholder 37095"/>
          <p:cNvGraphicFramePr>
            <a:graphicFrameLocks noGrp="1"/>
          </p:cNvGraphicFramePr>
          <p:nvPr>
            <p:ph sz="half" idx="2"/>
          </p:nvPr>
        </p:nvGraphicFramePr>
        <p:xfrm>
          <a:off x="4295775" y="1066800"/>
          <a:ext cx="4515485" cy="5378450"/>
        </p:xfrm>
        <a:graphic>
          <a:graphicData uri="http://schemas.openxmlformats.org/drawingml/2006/table">
            <a:tbl>
              <a:tblPr/>
              <a:tblGrid>
                <a:gridCol w="1086485">
                  <a:extLst>
                    <a:ext uri="{9D8B030D-6E8A-4147-A177-3AD203B41FA5}">
                      <a16:colId xmlns:a16="http://schemas.microsoft.com/office/drawing/2014/main" val="20000"/>
                    </a:ext>
                  </a:extLst>
                </a:gridCol>
                <a:gridCol w="83280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1721485">
                  <a:extLst>
                    <a:ext uri="{9D8B030D-6E8A-4147-A177-3AD203B41FA5}">
                      <a16:colId xmlns:a16="http://schemas.microsoft.com/office/drawing/2014/main" val="20003"/>
                    </a:ext>
                  </a:extLst>
                </a:gridCol>
              </a:tblGrid>
              <a:tr h="114141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Type</a:t>
                      </a:r>
                      <a:endParaRPr lang="en-US" sz="1800" b="1">
                        <a:solidFill>
                          <a:schemeClr val="bg1"/>
                        </a:solidFill>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Core</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Cladding</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rPr>
                        <a:t>Mode</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1017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50/125</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50</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125</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Multimode, graded-index</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1"/>
                  </a:ext>
                </a:extLst>
              </a:tr>
              <a:tr h="11430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62.5/125</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62.5</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125</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Multimode, graded-index</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2"/>
                  </a:ext>
                </a:extLst>
              </a:tr>
              <a:tr h="11017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100/125</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100</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125</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Multimode, graded-index</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3"/>
                  </a:ext>
                </a:extLst>
              </a:tr>
              <a:tr h="890587">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7/125</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    7</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125</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Single-mode</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6666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Placeholder 40962"/>
          <p:cNvSpPr>
            <a:spLocks noGrp="1"/>
          </p:cNvSpPr>
          <p:nvPr>
            <p:ph type="body" idx="1"/>
          </p:nvPr>
        </p:nvSpPr>
        <p:spPr>
          <a:xfrm>
            <a:off x="685800" y="457200"/>
            <a:ext cx="7772400" cy="5638800"/>
          </a:xfrm>
        </p:spPr>
        <p:txBody>
          <a:bodyPr/>
          <a:lstStyle/>
          <a:p>
            <a:pPr marL="609600" indent="-609600" algn="ctr">
              <a:buNone/>
            </a:pPr>
            <a:r>
              <a:rPr sz="2800" b="1"/>
              <a:t>Light sources for optical fibers</a:t>
            </a:r>
          </a:p>
          <a:p>
            <a:pPr marL="609600" indent="-609600" algn="ctr">
              <a:buNone/>
            </a:pPr>
            <a:endParaRPr sz="2800" b="1"/>
          </a:p>
          <a:p>
            <a:pPr marL="609600" indent="-609600"/>
            <a:r>
              <a:rPr sz="2400"/>
              <a:t>The purpose of fiber-optic cable is to contain and direct a beam of light from source to target.</a:t>
            </a:r>
          </a:p>
          <a:p>
            <a:pPr marL="609600" indent="-609600"/>
            <a:r>
              <a:rPr sz="2400"/>
              <a:t>The sending device must be equipped with a light source and the receiving device with photosensitive cell (called a photodiode) capable of translating  the received light into   an electrical signal.</a:t>
            </a:r>
          </a:p>
          <a:p>
            <a:pPr marL="609600" indent="-609600"/>
            <a:r>
              <a:rPr sz="2400"/>
              <a:t>The light source can be either a light-emitting diode (LED) or an injection laser diode.</a:t>
            </a:r>
          </a:p>
          <a:p>
            <a:pPr marL="609600" indent="-609600"/>
            <a:endParaRPr sz="240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96257"/>
          <p:cNvSpPr txBox="1"/>
          <p:nvPr/>
        </p:nvSpPr>
        <p:spPr>
          <a:xfrm>
            <a:off x="990600" y="243205"/>
            <a:ext cx="6280785" cy="521970"/>
          </a:xfrm>
          <a:prstGeom prst="rect">
            <a:avLst/>
          </a:prstGeom>
          <a:noFill/>
          <a:ln w="9525">
            <a:noFill/>
          </a:ln>
        </p:spPr>
        <p:txBody>
          <a:bodyPr wrap="square">
            <a:spAutoFit/>
          </a:bodyPr>
          <a:lstStyle/>
          <a:p>
            <a:pPr algn="ctr" eaLnBrk="0" hangingPunct="0"/>
            <a:r>
              <a:rPr lang="en-US" altLang="en-US" sz="2800" b="1" i="1"/>
              <a:t>Fiber-optic cable connectors</a:t>
            </a:r>
          </a:p>
        </p:txBody>
      </p:sp>
      <p:pic>
        <p:nvPicPr>
          <p:cNvPr id="96266" name="Picture 96265"/>
          <p:cNvPicPr>
            <a:picLocks noChangeAspect="1"/>
          </p:cNvPicPr>
          <p:nvPr/>
        </p:nvPicPr>
        <p:blipFill>
          <a:blip/>
          <a:stretch>
            <a:fillRect/>
          </a:stretch>
        </p:blipFill>
        <p:spPr>
          <a:xfrm>
            <a:off x="914400" y="3352800"/>
            <a:ext cx="7267575" cy="3214688"/>
          </a:xfrm>
          <a:prstGeom prst="rect">
            <a:avLst/>
          </a:prstGeom>
          <a:noFill/>
          <a:ln w="9525">
            <a:noFill/>
          </a:ln>
        </p:spPr>
      </p:pic>
      <p:sp>
        <p:nvSpPr>
          <p:cNvPr id="96267" name="Text Box 96266"/>
          <p:cNvSpPr txBox="1"/>
          <p:nvPr/>
        </p:nvSpPr>
        <p:spPr>
          <a:xfrm>
            <a:off x="381000" y="762000"/>
            <a:ext cx="8458200" cy="1552575"/>
          </a:xfrm>
          <a:prstGeom prst="rect">
            <a:avLst/>
          </a:prstGeom>
          <a:noFill/>
          <a:ln w="9525">
            <a:noFill/>
          </a:ln>
        </p:spPr>
        <p:txBody>
          <a:bodyPr>
            <a:spAutoFit/>
          </a:bodyPr>
          <a:lstStyle/>
          <a:p>
            <a:r>
              <a:rPr sz="2400"/>
              <a:t>The subscriber channel (SC) connector is used in cable TV. It uses a push/pull locking system. The straight-tip (ST) connector is used for connecting cable  to networking devices. MT-RJ is a new connector with the same size as  RJ45.</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1985"/>
          <p:cNvSpPr>
            <a:spLocks noGrp="1"/>
          </p:cNvSpPr>
          <p:nvPr>
            <p:ph type="title"/>
          </p:nvPr>
        </p:nvSpPr>
        <p:spPr>
          <a:xfrm>
            <a:off x="685800" y="609600"/>
            <a:ext cx="7772400" cy="533400"/>
          </a:xfrm>
        </p:spPr>
        <p:txBody>
          <a:bodyPr anchor="ctr" anchorCtr="0"/>
          <a:lstStyle/>
          <a:p>
            <a:r>
              <a:rPr sz="3200"/>
              <a:t>Advantages of Optical Fiber</a:t>
            </a:r>
          </a:p>
        </p:txBody>
      </p:sp>
      <p:sp>
        <p:nvSpPr>
          <p:cNvPr id="41987" name="Text Placeholder 41986"/>
          <p:cNvSpPr>
            <a:spLocks noGrp="1"/>
          </p:cNvSpPr>
          <p:nvPr>
            <p:ph type="body" sz="half" idx="1"/>
          </p:nvPr>
        </p:nvSpPr>
        <p:spPr>
          <a:xfrm>
            <a:off x="685800" y="1524000"/>
            <a:ext cx="7467600" cy="3581400"/>
          </a:xfrm>
        </p:spPr>
        <p:txBody>
          <a:bodyPr/>
          <a:lstStyle/>
          <a:p>
            <a:pPr>
              <a:lnSpc>
                <a:spcPct val="90000"/>
              </a:lnSpc>
              <a:buClrTx/>
              <a:buSzTx/>
              <a:buFontTx/>
            </a:pPr>
            <a:r>
              <a:rPr sz="2800"/>
              <a:t>The major advantages offered by fiber-optic cable over twisted-pair and coaxial cable are </a:t>
            </a:r>
            <a:r>
              <a:rPr sz="2800" b="1"/>
              <a:t>noise resistance, less signal attenuation, and higher bandwidth</a:t>
            </a:r>
            <a:r>
              <a:rPr sz="2800"/>
              <a:t>.</a:t>
            </a:r>
          </a:p>
          <a:p>
            <a:pPr>
              <a:lnSpc>
                <a:spcPct val="90000"/>
              </a:lnSpc>
              <a:buClrTx/>
              <a:buSzTx/>
              <a:buFontTx/>
            </a:pPr>
            <a:endParaRPr sz="2800"/>
          </a:p>
          <a:p>
            <a:pPr>
              <a:lnSpc>
                <a:spcPct val="90000"/>
              </a:lnSpc>
              <a:buClrTx/>
              <a:buSzTx/>
              <a:buFontTx/>
            </a:pPr>
            <a:r>
              <a:rPr sz="2800" b="1"/>
              <a:t>Noise Resistance</a:t>
            </a:r>
            <a:r>
              <a:rPr sz="2800"/>
              <a:t>: Because fiber-optic transmission uses light rather than electricity, noise is not a factor. External light, the only possible interference, is blocked  from the channel by the outer jacket.</a:t>
            </a:r>
          </a:p>
          <a:p>
            <a:pPr>
              <a:lnSpc>
                <a:spcPct val="90000"/>
              </a:lnSpc>
              <a:buClrTx/>
              <a:buSzTx/>
              <a:buFontTx/>
            </a:pP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4033"/>
          <p:cNvSpPr>
            <a:spLocks noGrp="1"/>
          </p:cNvSpPr>
          <p:nvPr>
            <p:ph type="title"/>
          </p:nvPr>
        </p:nvSpPr>
        <p:spPr/>
        <p:txBody>
          <a:bodyPr anchor="ctr" anchorCtr="0"/>
          <a:lstStyle/>
          <a:p>
            <a:r>
              <a:rPr sz="3200"/>
              <a:t>Advantages of Optical Fiber</a:t>
            </a:r>
          </a:p>
        </p:txBody>
      </p:sp>
      <p:sp>
        <p:nvSpPr>
          <p:cNvPr id="44035" name="Text Placeholder 44034"/>
          <p:cNvSpPr>
            <a:spLocks noGrp="1"/>
          </p:cNvSpPr>
          <p:nvPr>
            <p:ph type="body" idx="1"/>
          </p:nvPr>
        </p:nvSpPr>
        <p:spPr/>
        <p:txBody>
          <a:bodyPr/>
          <a:lstStyle/>
          <a:p>
            <a:r>
              <a:rPr sz="2400" b="1"/>
              <a:t>Less signal attenuation</a:t>
            </a:r>
          </a:p>
          <a:p>
            <a:pPr>
              <a:buNone/>
            </a:pPr>
            <a:r>
              <a:rPr sz="2400"/>
              <a:t>Fiber-optic transmission  distance is significantly greater than that of other guided media. A signal can run for miles without requiring regeneration.</a:t>
            </a:r>
          </a:p>
          <a:p>
            <a:r>
              <a:rPr sz="2400" b="1"/>
              <a:t>Higher bandwidth</a:t>
            </a:r>
          </a:p>
          <a:p>
            <a:pPr>
              <a:buNone/>
            </a:pPr>
            <a:r>
              <a:rPr sz="2400"/>
              <a:t>Currently, data rates and bandwidth utilization over fiber-optic cable are limited not by the medium but by the signal generation and reception technology available.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5057"/>
          <p:cNvSpPr>
            <a:spLocks noGrp="1"/>
          </p:cNvSpPr>
          <p:nvPr>
            <p:ph type="title"/>
          </p:nvPr>
        </p:nvSpPr>
        <p:spPr/>
        <p:txBody>
          <a:bodyPr anchor="ctr" anchorCtr="0"/>
          <a:lstStyle/>
          <a:p>
            <a:r>
              <a:rPr sz="3200"/>
              <a:t>Disadvantages of Optical Fiber</a:t>
            </a:r>
          </a:p>
        </p:txBody>
      </p:sp>
      <p:sp>
        <p:nvSpPr>
          <p:cNvPr id="45059" name="Text Placeholder 45058"/>
          <p:cNvSpPr>
            <a:spLocks noGrp="1"/>
          </p:cNvSpPr>
          <p:nvPr>
            <p:ph type="body" idx="1"/>
          </p:nvPr>
        </p:nvSpPr>
        <p:spPr/>
        <p:txBody>
          <a:bodyPr/>
          <a:lstStyle/>
          <a:p>
            <a:r>
              <a:rPr sz="2400"/>
              <a:t>The main disadvantages of fiber optics are </a:t>
            </a:r>
            <a:r>
              <a:rPr sz="2400" b="1"/>
              <a:t>cost, installation/maintenance, and fragility</a:t>
            </a:r>
            <a:r>
              <a:rPr sz="2400"/>
              <a:t>.</a:t>
            </a:r>
          </a:p>
          <a:p>
            <a:r>
              <a:rPr sz="2400" b="1"/>
              <a:t>Cost</a:t>
            </a:r>
            <a:r>
              <a:rPr sz="2400"/>
              <a:t>.  Fiber-optic cable is expensive. Also, a laser light source can cost thousands of dollars, compared to hundreds of dollars for electrical signal generators.</a:t>
            </a:r>
          </a:p>
          <a:p>
            <a:r>
              <a:rPr sz="2400" b="1"/>
              <a:t>Installation/maintenance</a:t>
            </a:r>
          </a:p>
          <a:p>
            <a:r>
              <a:rPr sz="2400" b="1"/>
              <a:t>Fragility</a:t>
            </a:r>
            <a:r>
              <a:rPr sz="2400"/>
              <a:t>. Glass fiber is more easily broken than wire, making it less useful for applications  where hardware portability is required.</a:t>
            </a:r>
          </a:p>
          <a:p>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46081"/>
          <p:cNvSpPr>
            <a:spLocks noGrp="1"/>
          </p:cNvSpPr>
          <p:nvPr>
            <p:ph type="title"/>
          </p:nvPr>
        </p:nvSpPr>
        <p:spPr/>
        <p:txBody>
          <a:bodyPr anchor="ctr" anchorCtr="0"/>
          <a:lstStyle/>
          <a:p>
            <a:r>
              <a:rPr sz="3200"/>
              <a:t>Unguided Media</a:t>
            </a:r>
          </a:p>
        </p:txBody>
      </p:sp>
      <p:sp>
        <p:nvSpPr>
          <p:cNvPr id="46083" name="Text Placeholder 46082"/>
          <p:cNvSpPr>
            <a:spLocks noGrp="1"/>
          </p:cNvSpPr>
          <p:nvPr>
            <p:ph type="body" idx="1"/>
          </p:nvPr>
        </p:nvSpPr>
        <p:spPr/>
        <p:txBody>
          <a:bodyPr/>
          <a:lstStyle/>
          <a:p>
            <a:r>
              <a:rPr sz="2400"/>
              <a:t>Unguided media, or wireless communication, transport electromagnetic waves without using a physical conductor. Instead the signals are broadcast though air or water, and thus are available  to anyone who has a device capable of receiving them.</a:t>
            </a:r>
          </a:p>
          <a:p>
            <a:r>
              <a:rPr sz="2400"/>
              <a:t>The section of the electromagnetic spectrum  defined as radio communication is divided into eight ranges, called </a:t>
            </a:r>
            <a:r>
              <a:rPr sz="2400" b="1"/>
              <a:t>bands,</a:t>
            </a:r>
            <a:r>
              <a:rPr sz="2400"/>
              <a:t> each regulated by government authorities.</a:t>
            </a:r>
            <a:endParaRPr sz="2400" b="1"/>
          </a:p>
          <a:p>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Content Placeholder 47107" descr="~AUT0018"/>
          <p:cNvPicPr>
            <a:picLocks noGrp="1" noChangeAspect="1"/>
          </p:cNvPicPr>
          <p:nvPr>
            <p:ph idx="1"/>
          </p:nvPr>
        </p:nvPicPr>
        <p:blipFill>
          <a:blip/>
          <a:stretch>
            <a:fillRect/>
          </a:stretch>
        </p:blipFill>
        <p:spPr>
          <a:xfrm>
            <a:off x="381000" y="381000"/>
            <a:ext cx="8382000" cy="6096000"/>
          </a:xfr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9153"/>
          <p:cNvSpPr>
            <a:spLocks noGrp="1"/>
          </p:cNvSpPr>
          <p:nvPr>
            <p:ph type="title"/>
          </p:nvPr>
        </p:nvSpPr>
        <p:spPr>
          <a:xfrm>
            <a:off x="685800" y="381000"/>
            <a:ext cx="7772400" cy="990600"/>
          </a:xfrm>
        </p:spPr>
        <p:txBody>
          <a:bodyPr anchor="ctr" anchorCtr="0"/>
          <a:lstStyle/>
          <a:p>
            <a:r>
              <a:rPr sz="3200"/>
              <a:t>Propagation of Radio Waves</a:t>
            </a:r>
          </a:p>
        </p:txBody>
      </p:sp>
      <p:sp>
        <p:nvSpPr>
          <p:cNvPr id="49155" name="Text Placeholder 49154"/>
          <p:cNvSpPr>
            <a:spLocks noGrp="1"/>
          </p:cNvSpPr>
          <p:nvPr>
            <p:ph type="body" idx="1"/>
          </p:nvPr>
        </p:nvSpPr>
        <p:spPr>
          <a:xfrm>
            <a:off x="685800" y="1295400"/>
            <a:ext cx="7772400" cy="4800600"/>
          </a:xfrm>
        </p:spPr>
        <p:txBody>
          <a:bodyPr/>
          <a:lstStyle/>
          <a:p>
            <a:pPr>
              <a:lnSpc>
                <a:spcPct val="90000"/>
              </a:lnSpc>
            </a:pPr>
            <a:endParaRPr sz="2400"/>
          </a:p>
          <a:p>
            <a:pPr>
              <a:lnSpc>
                <a:spcPct val="90000"/>
              </a:lnSpc>
            </a:pPr>
            <a:r>
              <a:rPr sz="2400"/>
              <a:t>Radio technology considers the earth as surrounded by two layers of atmosphere: the</a:t>
            </a:r>
            <a:r>
              <a:rPr sz="2400" b="1"/>
              <a:t> troposphere</a:t>
            </a:r>
            <a:r>
              <a:rPr sz="2400"/>
              <a:t> and  the </a:t>
            </a:r>
            <a:r>
              <a:rPr sz="2400" b="1"/>
              <a:t>ionosphere</a:t>
            </a:r>
            <a:r>
              <a:rPr sz="2400"/>
              <a:t>.</a:t>
            </a:r>
          </a:p>
          <a:p>
            <a:pPr>
              <a:lnSpc>
                <a:spcPct val="90000"/>
              </a:lnSpc>
            </a:pPr>
            <a:endParaRPr sz="2400"/>
          </a:p>
          <a:p>
            <a:pPr>
              <a:lnSpc>
                <a:spcPct val="90000"/>
              </a:lnSpc>
            </a:pPr>
            <a:r>
              <a:rPr sz="2400"/>
              <a:t>The troposphere  is the portion of  the atmosphere extending outward approximately 30 miles from the earth's surface.</a:t>
            </a:r>
          </a:p>
          <a:p>
            <a:pPr>
              <a:lnSpc>
                <a:spcPct val="90000"/>
              </a:lnSpc>
            </a:pPr>
            <a:r>
              <a:rPr sz="2400"/>
              <a:t>The troposphere contains what we generally  think of as air. Clouds, wind, temperature variations, and weather in general occur in the troposphere.</a:t>
            </a:r>
          </a:p>
          <a:p>
            <a:pPr>
              <a:lnSpc>
                <a:spcPct val="90000"/>
              </a:lnSpc>
            </a:pPr>
            <a:r>
              <a:rPr sz="2400"/>
              <a:t>The ionosphere is the layer of the atmosphere  above the troposphere but below space.</a:t>
            </a:r>
          </a:p>
          <a:p>
            <a:pPr>
              <a:lnSpc>
                <a:spcPct val="90000"/>
              </a:lnSpc>
            </a:pPr>
            <a:endParaRPr sz="2400"/>
          </a:p>
          <a:p>
            <a:pPr>
              <a:lnSpc>
                <a:spcPct val="90000"/>
              </a:lnSpc>
            </a:pPr>
            <a:endParaRPr sz="240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99329"/>
          <p:cNvSpPr txBox="1"/>
          <p:nvPr/>
        </p:nvSpPr>
        <p:spPr>
          <a:xfrm>
            <a:off x="990600" y="90488"/>
            <a:ext cx="4876800" cy="457200"/>
          </a:xfrm>
          <a:prstGeom prst="rect">
            <a:avLst/>
          </a:prstGeom>
          <a:noFill/>
          <a:ln w="9525">
            <a:noFill/>
          </a:ln>
        </p:spPr>
        <p:txBody>
          <a:bodyPr>
            <a:spAutoFit/>
          </a:bodyPr>
          <a:lstStyle/>
          <a:p>
            <a:pPr algn="ctr" eaLnBrk="0" hangingPunct="0"/>
            <a:r>
              <a:rPr lang="en-US" altLang="en-US" sz="2400" b="1" i="1"/>
              <a:t>Propagation methods</a:t>
            </a:r>
          </a:p>
        </p:txBody>
      </p:sp>
      <p:pic>
        <p:nvPicPr>
          <p:cNvPr id="99338" name="Picture 99337"/>
          <p:cNvPicPr>
            <a:picLocks noChangeAspect="1"/>
          </p:cNvPicPr>
          <p:nvPr/>
        </p:nvPicPr>
        <p:blipFill>
          <a:blip/>
          <a:stretch>
            <a:fillRect/>
          </a:stretch>
        </p:blipFill>
        <p:spPr>
          <a:xfrm>
            <a:off x="636588" y="1976438"/>
            <a:ext cx="7440612" cy="2976562"/>
          </a:xfrm>
          <a:prstGeom prst="rect">
            <a:avLst/>
          </a:prstGeom>
          <a:noFill/>
          <a:ln w="9525">
            <a:noFill/>
          </a:ln>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Text Placeholder 97282"/>
          <p:cNvSpPr>
            <a:spLocks noGrp="1"/>
          </p:cNvSpPr>
          <p:nvPr>
            <p:ph type="body" idx="1"/>
          </p:nvPr>
        </p:nvSpPr>
        <p:spPr>
          <a:xfrm>
            <a:off x="685800" y="304800"/>
            <a:ext cx="7543800" cy="6019800"/>
          </a:xfrm>
        </p:spPr>
        <p:txBody>
          <a:bodyPr/>
          <a:lstStyle/>
          <a:p>
            <a:pPr>
              <a:lnSpc>
                <a:spcPct val="90000"/>
              </a:lnSpc>
              <a:buNone/>
            </a:pPr>
            <a:endParaRPr/>
          </a:p>
          <a:p>
            <a:pPr>
              <a:lnSpc>
                <a:spcPct val="90000"/>
              </a:lnSpc>
            </a:pPr>
            <a:r>
              <a:rPr sz="2400" b="1"/>
              <a:t>Ground propagation</a:t>
            </a:r>
            <a:r>
              <a:rPr sz="2400"/>
              <a:t>. In ground propagation, radio waves travel through the lowest portion of the atmosphere, hugging the earth.  These low-frequency signals emanate in all directions from the transmitting antenna and follow the curvature of the planet. The distance depends on the power in the signal.</a:t>
            </a:r>
          </a:p>
          <a:p>
            <a:pPr>
              <a:lnSpc>
                <a:spcPct val="90000"/>
              </a:lnSpc>
            </a:pPr>
            <a:r>
              <a:rPr sz="2400"/>
              <a:t>In </a:t>
            </a:r>
            <a:r>
              <a:rPr sz="2400" b="1"/>
              <a:t>Sky propagation</a:t>
            </a:r>
            <a:r>
              <a:rPr sz="2400"/>
              <a:t>, higher-frequency radio waves  radiate upward into   the ionosphere where they are reflected back to earth. </a:t>
            </a:r>
            <a:r>
              <a:rPr sz="2400" b="1"/>
              <a:t>  </a:t>
            </a:r>
            <a:r>
              <a:rPr sz="2400"/>
              <a:t>This type of transmission allows  for greater distances with lower power output.</a:t>
            </a:r>
          </a:p>
          <a:p>
            <a:pPr>
              <a:lnSpc>
                <a:spcPct val="90000"/>
              </a:lnSpc>
            </a:pPr>
            <a:endParaRPr sz="2400"/>
          </a:p>
          <a:p>
            <a:pPr>
              <a:lnSpc>
                <a:spcPct val="90000"/>
              </a:lnSpc>
            </a:pPr>
            <a:r>
              <a:rPr sz="2400"/>
              <a:t>In </a:t>
            </a:r>
            <a:r>
              <a:rPr sz="2400" b="1"/>
              <a:t>Line-of-Sight Propagation</a:t>
            </a:r>
            <a:r>
              <a:rPr sz="2400"/>
              <a:t>, very high frequency signals are transmitted in straight lines directly from antenna to antenna.</a:t>
            </a:r>
            <a:r>
              <a:rPr b="1"/>
              <a:t> </a:t>
            </a:r>
          </a:p>
          <a:p>
            <a:pPr>
              <a:lnSpc>
                <a:spcPct val="90000"/>
              </a:lnSpc>
            </a:pPr>
            <a:endParaRPr sz="200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101377"/>
          <p:cNvSpPr txBox="1"/>
          <p:nvPr/>
        </p:nvSpPr>
        <p:spPr>
          <a:xfrm>
            <a:off x="290513" y="177800"/>
            <a:ext cx="7862887" cy="519113"/>
          </a:xfrm>
          <a:prstGeom prst="rect">
            <a:avLst/>
          </a:prstGeom>
          <a:noFill/>
          <a:ln w="9525">
            <a:noFill/>
          </a:ln>
        </p:spPr>
        <p:txBody>
          <a:bodyPr>
            <a:spAutoFit/>
          </a:bodyPr>
          <a:lstStyle/>
          <a:p>
            <a:pPr algn="ctr"/>
            <a:r>
              <a:rPr sz="2400" b="1" i="1">
                <a:solidFill>
                  <a:srgbClr val="FF0066"/>
                </a:solidFill>
                <a:effectLst>
                  <a:outerShdw blurRad="38100" dist="38100" dir="2700000">
                    <a:srgbClr val="C0C0C0"/>
                  </a:outerShdw>
                </a:effectLst>
              </a:rPr>
              <a:t>  </a:t>
            </a:r>
            <a:r>
              <a:rPr sz="2800" b="1" i="1">
                <a:solidFill>
                  <a:srgbClr val="FF0066"/>
                </a:solidFill>
                <a:effectLst>
                  <a:outerShdw blurRad="38100" dist="38100" dir="2700000">
                    <a:srgbClr val="C0C0C0"/>
                  </a:outerShdw>
                </a:effectLst>
              </a:rPr>
              <a:t>Bands</a:t>
            </a:r>
          </a:p>
        </p:txBody>
      </p:sp>
      <p:graphicFrame>
        <p:nvGraphicFramePr>
          <p:cNvPr id="101379" name="Table 101378"/>
          <p:cNvGraphicFramePr/>
          <p:nvPr/>
        </p:nvGraphicFramePr>
        <p:xfrm>
          <a:off x="228600" y="762000"/>
          <a:ext cx="8686800" cy="5639117"/>
        </p:xfrm>
        <a:graphic>
          <a:graphicData uri="http://schemas.openxmlformats.org/drawingml/2006/table">
            <a:tbl>
              <a:tblPr/>
              <a:tblGrid>
                <a:gridCol w="990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3962400">
                  <a:extLst>
                    <a:ext uri="{9D8B030D-6E8A-4147-A177-3AD203B41FA5}">
                      <a16:colId xmlns:a16="http://schemas.microsoft.com/office/drawing/2014/main" val="20003"/>
                    </a:ext>
                  </a:extLst>
                </a:gridCol>
              </a:tblGrid>
              <a:tr h="5334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effectLst>
                            <a:outerShdw blurRad="38100" dist="38100" dir="2700000">
                              <a:srgbClr val="000000"/>
                            </a:outerShdw>
                          </a:effectLst>
                        </a:rPr>
                        <a:t>Band</a:t>
                      </a:r>
                      <a:endParaRPr lang="en-US" sz="1800" b="1">
                        <a:solidFill>
                          <a:schemeClr val="bg1"/>
                        </a:solidFill>
                        <a:effectLst>
                          <a:outerShdw blurRad="38100" dist="38100" dir="2700000">
                            <a:srgbClr val="00000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effectLst>
                            <a:outerShdw blurRad="38100" dist="38100" dir="2700000">
                              <a:srgbClr val="000000"/>
                            </a:outerShdw>
                          </a:effectLst>
                        </a:rPr>
                        <a:t>Range</a:t>
                      </a:r>
                      <a:endParaRPr lang="en-US" sz="1800" b="1">
                        <a:solidFill>
                          <a:schemeClr val="bg1"/>
                        </a:solidFill>
                        <a:effectLst>
                          <a:outerShdw blurRad="38100" dist="38100" dir="2700000">
                            <a:srgbClr val="000000"/>
                          </a:outerShdw>
                        </a:effectLst>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effectLst>
                            <a:outerShdw blurRad="38100" dist="38100" dir="2700000">
                              <a:srgbClr val="000000"/>
                            </a:outerShdw>
                          </a:effectLst>
                        </a:rPr>
                        <a:t>Propagation</a:t>
                      </a:r>
                      <a:endParaRPr lang="en-US" sz="1800" b="1">
                        <a:solidFill>
                          <a:schemeClr val="bg1"/>
                        </a:solidFill>
                        <a:effectLst>
                          <a:outerShdw blurRad="38100" dist="38100" dir="2700000">
                            <a:srgbClr val="000000"/>
                          </a:outerShdw>
                        </a:effectLst>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buNone/>
                      </a:pPr>
                      <a:r>
                        <a:rPr sz="1800" b="1">
                          <a:solidFill>
                            <a:schemeClr val="bg1"/>
                          </a:solidFill>
                          <a:effectLst>
                            <a:outerShdw blurRad="38100" dist="38100" dir="2700000">
                              <a:srgbClr val="000000"/>
                            </a:outerShdw>
                          </a:effectLst>
                        </a:rPr>
                        <a:t>Application</a:t>
                      </a:r>
                      <a:endParaRPr lang="en-US" sz="1800" b="1">
                        <a:solidFill>
                          <a:schemeClr val="bg1"/>
                        </a:solidFill>
                        <a:effectLst>
                          <a:outerShdw blurRad="38100" dist="38100" dir="2700000">
                            <a:srgbClr val="000000"/>
                          </a:outerShdw>
                        </a:effectLst>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38100" cap="flat" cmpd="sng">
                      <a:solidFill>
                        <a:schemeClr val="hlink"/>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4572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VLF</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3–30 KHz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Ground</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Long-range radio navigation</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1"/>
                  </a:ext>
                </a:extLst>
              </a:tr>
              <a:tr h="63976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LF</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30–300 KHz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Ground</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Radio beacons and</a:t>
                      </a:r>
                      <a:br>
                        <a:rPr sz="1800" b="1">
                          <a:solidFill>
                            <a:schemeClr val="bg1"/>
                          </a:solidFill>
                        </a:rPr>
                      </a:br>
                      <a:r>
                        <a:rPr sz="1800" b="1">
                          <a:solidFill>
                            <a:schemeClr val="bg1"/>
                          </a:solidFill>
                        </a:rPr>
                        <a:t>navigational locators</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2"/>
                  </a:ext>
                </a:extLst>
              </a:tr>
              <a:tr h="427037">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MF</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300 KHz–3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Sky</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AM radio</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3"/>
                  </a:ext>
                </a:extLst>
              </a:tr>
              <a:tr h="63976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HF </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3–30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Sky</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Citizens band (CB),</a:t>
                      </a:r>
                      <a:br>
                        <a:rPr sz="1800" b="1">
                          <a:solidFill>
                            <a:schemeClr val="bg1"/>
                          </a:solidFill>
                        </a:rPr>
                      </a:br>
                      <a:r>
                        <a:rPr sz="1800" b="1">
                          <a:solidFill>
                            <a:schemeClr val="bg1"/>
                          </a:solidFill>
                        </a:rPr>
                        <a:t>ship/aircraft communication</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4"/>
                  </a:ext>
                </a:extLst>
              </a:tr>
              <a:tr h="639762">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VHF </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30–300 MHz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Sky and</a:t>
                      </a:r>
                      <a:br>
                        <a:rPr sz="1800" b="1">
                          <a:solidFill>
                            <a:schemeClr val="bg1"/>
                          </a:solidFill>
                        </a:rPr>
                      </a:br>
                      <a:r>
                        <a:rPr sz="1800" b="1">
                          <a:solidFill>
                            <a:schemeClr val="bg1"/>
                          </a:solidFill>
                        </a:rPr>
                        <a:t>line-of-sight</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VHF TV, </a:t>
                      </a:r>
                      <a:br>
                        <a:rPr sz="1800" b="1">
                          <a:solidFill>
                            <a:schemeClr val="bg1"/>
                          </a:solidFill>
                        </a:rPr>
                      </a:br>
                      <a:r>
                        <a:rPr sz="1800" b="1">
                          <a:solidFill>
                            <a:schemeClr val="bg1"/>
                          </a:solidFill>
                        </a:rPr>
                        <a:t>FM radio</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5"/>
                  </a:ext>
                </a:extLst>
              </a:tr>
              <a:tr h="63976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UHF </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300 MHz–3 GHz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Line-of-sight</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UHF TV, cellular phones, </a:t>
                      </a:r>
                      <a:br>
                        <a:rPr sz="1800" b="1">
                          <a:solidFill>
                            <a:schemeClr val="bg1"/>
                          </a:solidFill>
                        </a:rPr>
                      </a:br>
                      <a:r>
                        <a:rPr sz="1800" b="1">
                          <a:solidFill>
                            <a:schemeClr val="bg1"/>
                          </a:solidFill>
                        </a:rPr>
                        <a:t>paging, satellite</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6"/>
                  </a:ext>
                </a:extLst>
              </a:tr>
              <a:tr h="639762">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SHF </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3–30 GHz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Line-of-sight</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Satellite communication</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7"/>
                  </a:ext>
                </a:extLst>
              </a:tr>
              <a:tr h="4572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hlink"/>
                          </a:solidFill>
                          <a:effectLst>
                            <a:outerShdw blurRad="38100" dist="38100" dir="2700000">
                              <a:srgbClr val="C0C0C0"/>
                            </a:outerShdw>
                          </a:effectLst>
                        </a:rPr>
                        <a:t>EHF</a:t>
                      </a:r>
                      <a:endParaRPr lang="en-US" sz="1800" b="1">
                        <a:solidFill>
                          <a:schemeClr val="hlink"/>
                        </a:solidFill>
                        <a:effectLst>
                          <a:outerShdw blurRad="38100" dist="38100" dir="2700000">
                            <a:srgbClr val="C0C0C0"/>
                          </a:outerShdw>
                        </a:effectLst>
                      </a:endParaRPr>
                    </a:p>
                  </a:txBody>
                  <a:tcPr anchor="ctr">
                    <a:lnL w="38100" cap="flat" cmpd="sng">
                      <a:solidFill>
                        <a:schemeClr val="hlink"/>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30–300 GHz</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Line-of-sight</a:t>
                      </a:r>
                      <a:endParaRPr lang="en-US" sz="1800" b="1">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3366FF"/>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charset="0"/>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charset="0"/>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charset="0"/>
                        </a:defRPr>
                      </a:lvl5pPr>
                    </a:lstStyle>
                    <a:p>
                      <a:pPr marL="0" lvl="0" indent="0" algn="ctr">
                        <a:spcBef>
                          <a:spcPts val="1900"/>
                        </a:spcBef>
                        <a:buNone/>
                      </a:pPr>
                      <a:r>
                        <a:rPr sz="1800" b="1">
                          <a:solidFill>
                            <a:schemeClr val="bg1"/>
                          </a:solidFill>
                        </a:rPr>
                        <a:t>Long-range radio navigation</a:t>
                      </a:r>
                      <a:endParaRPr lang="en-US" sz="1800" b="1">
                        <a:solidFill>
                          <a:schemeClr val="bg1"/>
                        </a:solidFill>
                      </a:endParaRPr>
                    </a:p>
                  </a:txBody>
                  <a:tcPr anchor="ctr">
                    <a:lnL w="12700" cap="flat" cmpd="sng">
                      <a:solidFill>
                        <a:schemeClr val="tx1"/>
                      </a:solidFill>
                      <a:prstDash val="solid"/>
                      <a:headEnd type="none" w="med" len="med"/>
                      <a:tailEnd type="none" w="med" len="med"/>
                    </a:lnL>
                    <a:lnR w="38100" cap="flat" cmpd="sng">
                      <a:solidFill>
                        <a:schemeClr val="hlink"/>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hlink"/>
                      </a:solidFill>
                      <a:prstDash val="solid"/>
                      <a:headEnd type="none" w="med" len="med"/>
                      <a:tailEnd type="none" w="med" len="med"/>
                    </a:lnB>
                    <a:lnTlToBr>
                      <a:noFill/>
                    </a:lnTlToBr>
                    <a:lnBlToTr>
                      <a:noFill/>
                    </a:lnBlToTr>
                    <a:solidFill>
                      <a:srgbClr val="3366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54273"/>
          <p:cNvSpPr>
            <a:spLocks noGrp="1"/>
          </p:cNvSpPr>
          <p:nvPr>
            <p:ph type="title"/>
          </p:nvPr>
        </p:nvSpPr>
        <p:spPr/>
        <p:txBody>
          <a:bodyPr anchor="ctr" anchorCtr="0"/>
          <a:lstStyle/>
          <a:p>
            <a:r>
              <a:rPr sz="3200"/>
              <a:t>Propagation of Specific Signals</a:t>
            </a:r>
          </a:p>
        </p:txBody>
      </p:sp>
      <p:sp>
        <p:nvSpPr>
          <p:cNvPr id="54275" name="Text Placeholder 54274"/>
          <p:cNvSpPr>
            <a:spLocks noGrp="1"/>
          </p:cNvSpPr>
          <p:nvPr>
            <p:ph type="body" sz="half" idx="1"/>
          </p:nvPr>
        </p:nvSpPr>
        <p:spPr>
          <a:xfrm>
            <a:off x="685800" y="1981200"/>
            <a:ext cx="3810000" cy="4114800"/>
          </a:xfrm>
        </p:spPr>
        <p:txBody>
          <a:bodyPr/>
          <a:lstStyle/>
          <a:p>
            <a:pPr>
              <a:lnSpc>
                <a:spcPct val="90000"/>
              </a:lnSpc>
              <a:buClrTx/>
              <a:buSzTx/>
              <a:buFontTx/>
            </a:pPr>
            <a:r>
              <a:rPr sz="2000" b="1"/>
              <a:t>VLF</a:t>
            </a:r>
            <a:r>
              <a:rPr sz="2000"/>
              <a:t> Very Low Frequency waves are propagated as surface waves, usually through the air but some times through seawater.  VLF waves do not suffer much attenuation in transmission but are susceptible  to the high levels of atmospheric noise ( heat and electricity) active at low altitudes. </a:t>
            </a:r>
          </a:p>
          <a:p>
            <a:pPr>
              <a:lnSpc>
                <a:spcPct val="90000"/>
              </a:lnSpc>
              <a:buClrTx/>
              <a:buSzTx/>
              <a:buFontTx/>
            </a:pPr>
            <a:r>
              <a:rPr sz="2000"/>
              <a:t>VLF waves are use mostly for long-range radio navigation and for submarine communication.</a:t>
            </a:r>
          </a:p>
        </p:txBody>
      </p:sp>
      <p:pic>
        <p:nvPicPr>
          <p:cNvPr id="54276" name="Content Placeholder 54275" descr="~AUT0021"/>
          <p:cNvPicPr>
            <a:picLocks noGrp="1" noChangeAspect="1"/>
          </p:cNvPicPr>
          <p:nvPr>
            <p:ph sz="half" idx="2"/>
          </p:nvPr>
        </p:nvPicPr>
        <p:blipFill>
          <a:blip/>
          <a:stretch>
            <a:fillRect/>
          </a:stretch>
        </p:blipFill>
        <p:spPr>
          <a:xfrm>
            <a:off x="4648200" y="2209800"/>
            <a:ext cx="3810000" cy="33528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427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4275">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Placeholder 56322"/>
          <p:cNvSpPr>
            <a:spLocks noGrp="1"/>
          </p:cNvSpPr>
          <p:nvPr>
            <p:ph type="body" sz="half" idx="1"/>
          </p:nvPr>
        </p:nvSpPr>
        <p:spPr>
          <a:xfrm>
            <a:off x="685800" y="1066800"/>
            <a:ext cx="3810000" cy="5029200"/>
          </a:xfrm>
        </p:spPr>
        <p:txBody>
          <a:bodyPr/>
          <a:lstStyle/>
          <a:p>
            <a:pPr>
              <a:lnSpc>
                <a:spcPct val="80000"/>
              </a:lnSpc>
              <a:buClrTx/>
              <a:buSzTx/>
              <a:buFontTx/>
            </a:pPr>
            <a:r>
              <a:rPr sz="2400"/>
              <a:t>LF low frequency waves are also propagated as surface waves. LF waves are used for long-range radio navigation and for radio beacons or navigational locators.</a:t>
            </a:r>
          </a:p>
          <a:p>
            <a:pPr>
              <a:lnSpc>
                <a:spcPct val="80000"/>
              </a:lnSpc>
              <a:buClrTx/>
              <a:buSzTx/>
              <a:buFontTx/>
            </a:pPr>
            <a:endParaRPr sz="2400"/>
          </a:p>
          <a:p>
            <a:pPr>
              <a:lnSpc>
                <a:spcPct val="80000"/>
              </a:lnSpc>
              <a:buClrTx/>
              <a:buSzTx/>
              <a:buFontTx/>
            </a:pPr>
            <a:r>
              <a:rPr sz="2400"/>
              <a:t>MF Middle frequency signals are  propagated in the troposphere. Uses for MF transmissions include AM radio, maritime radio, and emergency frequencies.</a:t>
            </a:r>
          </a:p>
        </p:txBody>
      </p:sp>
      <p:pic>
        <p:nvPicPr>
          <p:cNvPr id="56324" name="Content Placeholder 56323" descr="~AUT0022"/>
          <p:cNvPicPr>
            <a:picLocks noGrp="1" noChangeAspect="1"/>
          </p:cNvPicPr>
          <p:nvPr>
            <p:ph sz="quarter" idx="2"/>
          </p:nvPr>
        </p:nvPicPr>
        <p:blipFill>
          <a:blip r:embed="rId2"/>
          <a:stretch>
            <a:fillRect/>
          </a:stretch>
        </p:blipFill>
        <p:spPr>
          <a:xfrm>
            <a:off x="4648200" y="914400"/>
            <a:ext cx="3810000" cy="2563813"/>
          </a:xfrm>
        </p:spPr>
      </p:pic>
      <p:pic>
        <p:nvPicPr>
          <p:cNvPr id="56327" name="Content Placeholder 56326" descr="~AUT0023"/>
          <p:cNvPicPr>
            <a:picLocks noGrp="1" noChangeAspect="1"/>
          </p:cNvPicPr>
          <p:nvPr>
            <p:ph sz="quarter" idx="3"/>
          </p:nvPr>
        </p:nvPicPr>
        <p:blipFill>
          <a:blip r:embed="rId3"/>
          <a:stretch>
            <a:fillRect/>
          </a:stretch>
        </p:blipFill>
        <p:spPr>
          <a:xfrm>
            <a:off x="4648200" y="3810000"/>
            <a:ext cx="3810000" cy="230981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632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632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Placeholder 59394"/>
          <p:cNvSpPr>
            <a:spLocks noGrp="1"/>
          </p:cNvSpPr>
          <p:nvPr>
            <p:ph type="body" sz="half" idx="1"/>
          </p:nvPr>
        </p:nvSpPr>
        <p:spPr>
          <a:xfrm>
            <a:off x="685800" y="914400"/>
            <a:ext cx="3810000" cy="5181600"/>
          </a:xfrm>
        </p:spPr>
        <p:txBody>
          <a:bodyPr/>
          <a:lstStyle/>
          <a:p>
            <a:pPr>
              <a:lnSpc>
                <a:spcPct val="90000"/>
              </a:lnSpc>
              <a:buClrTx/>
              <a:buSzTx/>
              <a:buFontTx/>
            </a:pPr>
            <a:r>
              <a:rPr sz="2400"/>
              <a:t>HF high frequency signals use ionospheric propagation. These frequencies move into the ionosphere, where they are reflected back to earth. Uses for HF signals include amateur radio, citizen’s  band (CB)  radio, military communication, long-distance aircraft and ship communication, telephone, telegraph, and fax.</a:t>
            </a:r>
          </a:p>
        </p:txBody>
      </p:sp>
      <p:pic>
        <p:nvPicPr>
          <p:cNvPr id="59396" name="Content Placeholder 59395" descr="~AUT0024"/>
          <p:cNvPicPr>
            <a:picLocks noGrp="1" noChangeAspect="1"/>
          </p:cNvPicPr>
          <p:nvPr>
            <p:ph sz="half" idx="2"/>
          </p:nvPr>
        </p:nvPicPr>
        <p:blipFill>
          <a:blip r:embed="rId2"/>
          <a:stretch>
            <a:fillRect/>
          </a:stretch>
        </p:blipFill>
        <p:spPr>
          <a:xfrm>
            <a:off x="4800600" y="1524000"/>
            <a:ext cx="3810000" cy="35052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0" end="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Placeholder 61442"/>
          <p:cNvSpPr>
            <a:spLocks noGrp="1"/>
          </p:cNvSpPr>
          <p:nvPr>
            <p:ph type="body" sz="half" idx="1"/>
          </p:nvPr>
        </p:nvSpPr>
        <p:spPr>
          <a:xfrm>
            <a:off x="685800" y="304800"/>
            <a:ext cx="3810000" cy="5257800"/>
          </a:xfrm>
        </p:spPr>
        <p:txBody>
          <a:bodyPr/>
          <a:lstStyle/>
          <a:p>
            <a:pPr>
              <a:buClrTx/>
              <a:buSzTx/>
              <a:buFontTx/>
            </a:pPr>
            <a:r>
              <a:rPr sz="2400"/>
              <a:t>VHF Most very high frequency waves use line-of-sight propagation. Uses for VHF include VHF television, FM radio, and aircraft navigational aid.</a:t>
            </a:r>
          </a:p>
          <a:p>
            <a:pPr>
              <a:buClrTx/>
              <a:buSzTx/>
              <a:buFontTx/>
            </a:pPr>
            <a:r>
              <a:rPr sz="2400"/>
              <a:t>UHF Ultrahigh frequency waves always use line-of-sight propagation. Uses for UHF includes UHF television, mobile telephone, cellular radio, and microwave links.</a:t>
            </a:r>
          </a:p>
        </p:txBody>
      </p:sp>
      <p:pic>
        <p:nvPicPr>
          <p:cNvPr id="61444" name="Content Placeholder 61443" descr="~AUT0025"/>
          <p:cNvPicPr>
            <a:picLocks noGrp="1" noChangeAspect="1"/>
          </p:cNvPicPr>
          <p:nvPr>
            <p:ph sz="quarter" idx="2"/>
          </p:nvPr>
        </p:nvPicPr>
        <p:blipFill>
          <a:blip r:embed="rId2"/>
          <a:stretch>
            <a:fillRect/>
          </a:stretch>
        </p:blipFill>
        <p:spPr>
          <a:xfrm>
            <a:off x="4724400" y="838200"/>
            <a:ext cx="3810000" cy="2120900"/>
          </a:xfrm>
        </p:spPr>
      </p:pic>
      <p:pic>
        <p:nvPicPr>
          <p:cNvPr id="61447" name="Content Placeholder 61446" descr="~AUT0026"/>
          <p:cNvPicPr>
            <a:picLocks noGrp="1" noChangeAspect="1"/>
          </p:cNvPicPr>
          <p:nvPr>
            <p:ph sz="quarter" idx="3"/>
          </p:nvPr>
        </p:nvPicPr>
        <p:blipFill>
          <a:blip r:embed="rId3"/>
          <a:stretch>
            <a:fillRect/>
          </a:stretch>
        </p:blipFill>
        <p:spPr>
          <a:xfrm>
            <a:off x="4724400" y="3733800"/>
            <a:ext cx="3810000" cy="22860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144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1443">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Placeholder 64514"/>
          <p:cNvSpPr>
            <a:spLocks noGrp="1"/>
          </p:cNvSpPr>
          <p:nvPr>
            <p:ph type="body" sz="half" idx="1"/>
          </p:nvPr>
        </p:nvSpPr>
        <p:spPr>
          <a:xfrm>
            <a:off x="685800" y="228600"/>
            <a:ext cx="3810000" cy="5486400"/>
          </a:xfrm>
        </p:spPr>
        <p:txBody>
          <a:bodyPr/>
          <a:lstStyle/>
          <a:p>
            <a:pPr>
              <a:lnSpc>
                <a:spcPct val="90000"/>
              </a:lnSpc>
              <a:buClrTx/>
              <a:buSzTx/>
              <a:buFontTx/>
            </a:pPr>
            <a:r>
              <a:rPr sz="2400"/>
              <a:t>SHF </a:t>
            </a:r>
            <a:r>
              <a:rPr sz="2400" err="1"/>
              <a:t>Superhigh</a:t>
            </a:r>
            <a:r>
              <a:rPr sz="2400"/>
              <a:t> frequency waves are transmitted  using mostly line-of-sight and some space propagation. Uses for SHF include terrestrial and satellite microwave and radar communication.</a:t>
            </a:r>
          </a:p>
          <a:p>
            <a:pPr>
              <a:lnSpc>
                <a:spcPct val="90000"/>
              </a:lnSpc>
              <a:buClrTx/>
              <a:buSzTx/>
              <a:buFontTx/>
            </a:pPr>
            <a:r>
              <a:rPr sz="2400"/>
              <a:t>EHF Extremely high frequency waves use space propagation. Uses for EHF are predominantly  scientific and include radar, satellite and experimental communications.</a:t>
            </a:r>
          </a:p>
        </p:txBody>
      </p:sp>
      <p:pic>
        <p:nvPicPr>
          <p:cNvPr id="64516" name="Content Placeholder 64515" descr="~AUT0027"/>
          <p:cNvPicPr>
            <a:picLocks noGrp="1" noChangeAspect="1"/>
          </p:cNvPicPr>
          <p:nvPr>
            <p:ph sz="quarter" idx="2"/>
          </p:nvPr>
        </p:nvPicPr>
        <p:blipFill>
          <a:blip r:embed="rId2"/>
          <a:stretch>
            <a:fillRect/>
          </a:stretch>
        </p:blipFill>
        <p:spPr>
          <a:xfrm>
            <a:off x="4724400" y="685800"/>
            <a:ext cx="3810000" cy="2513013"/>
          </a:xfrm>
        </p:spPr>
      </p:pic>
      <p:pic>
        <p:nvPicPr>
          <p:cNvPr id="64519" name="Content Placeholder 64518" descr="~AUT0028"/>
          <p:cNvPicPr>
            <a:picLocks noGrp="1" noChangeAspect="1"/>
          </p:cNvPicPr>
          <p:nvPr>
            <p:ph sz="quarter" idx="3"/>
          </p:nvPr>
        </p:nvPicPr>
        <p:blipFill>
          <a:blip r:embed="rId3"/>
          <a:stretch>
            <a:fillRect/>
          </a:stretch>
        </p:blipFill>
        <p:spPr>
          <a:xfrm>
            <a:off x="4648200" y="3505200"/>
            <a:ext cx="3810000" cy="222726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451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4515">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9102</Words>
  <Application>Microsoft Office PowerPoint</Application>
  <PresentationFormat>On-screen Show (4:3)</PresentationFormat>
  <Paragraphs>1451</Paragraphs>
  <Slides>223</Slides>
  <Notes>72</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223</vt:i4>
      </vt:variant>
    </vt:vector>
  </HeadingPairs>
  <TitlesOfParts>
    <vt:vector size="234" baseType="lpstr">
      <vt:lpstr>Arial</vt:lpstr>
      <vt:lpstr>Arial Unicode MS</vt:lpstr>
      <vt:lpstr>McGrawHill-Italic</vt:lpstr>
      <vt:lpstr>Tahoma</vt:lpstr>
      <vt:lpstr>Times</vt:lpstr>
      <vt:lpstr>Times New Roman</vt:lpstr>
      <vt:lpstr>Wingdings</vt:lpstr>
      <vt:lpstr>Blends</vt:lpstr>
      <vt:lpstr>1_Blends</vt:lpstr>
      <vt:lpstr>2_Blends</vt:lpstr>
      <vt:lpstr>Bitmap Image</vt:lpstr>
      <vt:lpstr>PowerPoint Presentation</vt:lpstr>
      <vt:lpstr>Objectives</vt:lpstr>
      <vt:lpstr>Cont’d…</vt:lpstr>
      <vt:lpstr>Introduction</vt:lpstr>
      <vt:lpstr>Introduction</vt:lpstr>
      <vt:lpstr>Introduction</vt:lpstr>
      <vt:lpstr>1.1 Data Communications</vt:lpstr>
      <vt:lpstr>Data Communications</vt:lpstr>
      <vt:lpstr>Data Communications</vt:lpstr>
      <vt:lpstr>Data Communications</vt:lpstr>
      <vt:lpstr>Data Communications</vt:lpstr>
      <vt:lpstr>PowerPoint Presentation</vt:lpstr>
      <vt:lpstr>PowerPoint Presentation</vt:lpstr>
      <vt:lpstr>Components</vt:lpstr>
      <vt:lpstr>Components</vt:lpstr>
      <vt:lpstr>Components</vt:lpstr>
      <vt:lpstr>Data Representation</vt:lpstr>
      <vt:lpstr>Data Representation</vt:lpstr>
      <vt:lpstr>Data Representation</vt:lpstr>
      <vt:lpstr>Data Representation</vt:lpstr>
      <vt:lpstr>Data Representation</vt:lpstr>
      <vt:lpstr>Data Flow</vt:lpstr>
      <vt:lpstr>Data Flow</vt:lpstr>
      <vt:lpstr>Data Flow</vt:lpstr>
      <vt:lpstr>Data Flow</vt:lpstr>
      <vt:lpstr>Exercise</vt:lpstr>
      <vt:lpstr>PowerPoint Presentation</vt:lpstr>
      <vt:lpstr>Networks</vt:lpstr>
      <vt:lpstr>Networks</vt:lpstr>
      <vt:lpstr>Networks</vt:lpstr>
      <vt:lpstr>Networks</vt:lpstr>
      <vt:lpstr>Networks</vt:lpstr>
      <vt:lpstr>Networks</vt:lpstr>
      <vt:lpstr>Networks</vt:lpstr>
      <vt:lpstr>Networks</vt:lpstr>
      <vt:lpstr>Networks</vt:lpstr>
      <vt:lpstr>Networks</vt:lpstr>
      <vt:lpstr>Networks</vt:lpstr>
      <vt:lpstr>Digital Transmission of Digital Data</vt:lpstr>
      <vt:lpstr>PowerPoint Presentation</vt:lpstr>
      <vt:lpstr>PowerPoint Presentation</vt:lpstr>
      <vt:lpstr>PowerPoint Presentation</vt:lpstr>
      <vt:lpstr>Standards</vt:lpstr>
      <vt:lpstr>Standardization Processes</vt:lpstr>
      <vt:lpstr>Major Standards Bodies</vt:lpstr>
      <vt:lpstr>Major Standards Bodies (Cont.)</vt:lpstr>
      <vt:lpstr>Some Data Comm. Standards</vt:lpstr>
      <vt:lpstr>Switching Networks</vt:lpstr>
      <vt:lpstr>Nodes</vt:lpstr>
      <vt:lpstr>Simple Switched Network</vt:lpstr>
      <vt:lpstr>Circuit Switching</vt:lpstr>
      <vt:lpstr>Circuit Switching - Applications</vt:lpstr>
      <vt:lpstr>Packet Switching Principles</vt:lpstr>
      <vt:lpstr>Basic Operation</vt:lpstr>
      <vt:lpstr>Use of Packets</vt:lpstr>
      <vt:lpstr>Advantages</vt:lpstr>
      <vt:lpstr>Switching Technique</vt:lpstr>
      <vt:lpstr>Datagram</vt:lpstr>
      <vt:lpstr>Virtual Circuit</vt:lpstr>
      <vt:lpstr>Virtual Circuits v Datagram</vt:lpstr>
      <vt:lpstr>Circuit v Packet Switching</vt:lpstr>
      <vt:lpstr>PowerPoint Presentation</vt:lpstr>
      <vt:lpstr>PowerPoint Presentation</vt:lpstr>
      <vt:lpstr>The Uses of a Network</vt:lpstr>
      <vt:lpstr>The Uses of a Network</vt:lpstr>
      <vt:lpstr>Sharing Data</vt:lpstr>
      <vt:lpstr>The Uses of a Network</vt:lpstr>
      <vt:lpstr>Voice Over IP</vt:lpstr>
      <vt:lpstr>The Uses of a Network</vt:lpstr>
      <vt:lpstr>Categories of Networks</vt:lpstr>
      <vt:lpstr>Local Area Network (LAN)</vt:lpstr>
      <vt:lpstr>Local Area Network (LAN)</vt:lpstr>
      <vt:lpstr>Local Area Network (LAN)</vt:lpstr>
      <vt:lpstr>Wide Area Networks (WAN)</vt:lpstr>
      <vt:lpstr>Wide Area Networks (WAN)</vt:lpstr>
      <vt:lpstr>Wide Area Networks (WAN)</vt:lpstr>
      <vt:lpstr>Metropolitan Area Networks (MAN)</vt:lpstr>
      <vt:lpstr>Interconnection of Networks: Internetworks</vt:lpstr>
      <vt:lpstr>The Internet</vt:lpstr>
      <vt:lpstr>The Internet</vt:lpstr>
      <vt:lpstr>The Internet</vt:lpstr>
      <vt:lpstr>The Internet</vt:lpstr>
      <vt:lpstr>Common Network Types</vt:lpstr>
      <vt:lpstr>Common Network Types</vt:lpstr>
      <vt:lpstr>Hybrid Network Types</vt:lpstr>
      <vt:lpstr>Hybrid Network Types</vt:lpstr>
      <vt:lpstr>Hybrid Network Types</vt:lpstr>
      <vt:lpstr>Hybrid Network Types</vt:lpstr>
      <vt:lpstr>How Networks Are Structured</vt:lpstr>
      <vt:lpstr>How Networks Are Structured</vt:lpstr>
      <vt:lpstr>How Networks Are Structured</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Physical Topology</vt:lpstr>
      <vt:lpstr>Network Topologies</vt:lpstr>
      <vt:lpstr>Network Topologies</vt:lpstr>
      <vt:lpstr>Network Topologies</vt:lpstr>
      <vt:lpstr>Network Topologies</vt:lpstr>
      <vt:lpstr>Star Topology</vt:lpstr>
      <vt:lpstr>Network Topologies</vt:lpstr>
      <vt:lpstr>Network Topologies</vt:lpstr>
      <vt:lpstr>Mesh Topology</vt:lpstr>
      <vt:lpstr>Network Media</vt:lpstr>
      <vt:lpstr>Wire Based Media</vt:lpstr>
      <vt:lpstr>Wire Based Media</vt:lpstr>
      <vt:lpstr>Wire Based Media</vt:lpstr>
      <vt:lpstr>Wireless Media</vt:lpstr>
      <vt:lpstr>Network Hardware</vt:lpstr>
      <vt:lpstr>Network Hardware</vt:lpstr>
      <vt:lpstr>Network Hardware</vt:lpstr>
      <vt:lpstr>Network Hardware</vt:lpstr>
      <vt:lpstr>Network Hardware</vt:lpstr>
      <vt:lpstr>Network Hardware</vt:lpstr>
      <vt:lpstr>Network Hardware</vt:lpstr>
      <vt:lpstr>Network Cabling</vt:lpstr>
      <vt:lpstr>Network Cabling</vt:lpstr>
      <vt:lpstr>Network Cabling</vt:lpstr>
      <vt:lpstr>Network Cabling</vt:lpstr>
      <vt:lpstr>Network Cabling</vt:lpstr>
      <vt:lpstr>Network Protocols</vt:lpstr>
      <vt:lpstr>Network Protocols</vt:lpstr>
      <vt:lpstr>Network Protocols</vt:lpstr>
      <vt:lpstr>Network Protocols</vt:lpstr>
      <vt:lpstr>Network Protocols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Transmission Media</vt:lpstr>
      <vt:lpstr>PowerPoint Presentation</vt:lpstr>
      <vt:lpstr>PowerPoint Presentation</vt:lpstr>
      <vt:lpstr>PowerPoint Presentation</vt:lpstr>
      <vt:lpstr>Transmission Media</vt:lpstr>
      <vt:lpstr>PowerPoint Presentation</vt:lpstr>
      <vt:lpstr>Twisted-pair cable</vt:lpstr>
      <vt:lpstr>PowerPoint Presentation</vt:lpstr>
      <vt:lpstr>PowerPoint Presentation</vt:lpstr>
      <vt:lpstr>Frequency range for twisted-pair cable</vt:lpstr>
      <vt:lpstr>Unshielded Twisted-pair (UTP) cable</vt:lpstr>
      <vt:lpstr>PowerPoint Presentation</vt:lpstr>
      <vt:lpstr>PowerPoint Presentation</vt:lpstr>
      <vt:lpstr>PowerPoint Presentation</vt:lpstr>
      <vt:lpstr>Shielded Twisted (STP) Cable</vt:lpstr>
      <vt:lpstr>Applications</vt:lpstr>
      <vt:lpstr>Coaxial Cable (or coax)</vt:lpstr>
      <vt:lpstr>PowerPoint Presentation</vt:lpstr>
      <vt:lpstr>Optical Fiber</vt:lpstr>
      <vt:lpstr>The Nature of the Light</vt:lpstr>
      <vt:lpstr>Refraction</vt:lpstr>
      <vt:lpstr>Critical angle</vt:lpstr>
      <vt:lpstr>Reflection</vt:lpstr>
      <vt:lpstr>PowerPoint Presentation</vt:lpstr>
      <vt:lpstr>PowerPoint Presentation</vt:lpstr>
      <vt:lpstr>PowerPoint Presentation</vt:lpstr>
      <vt:lpstr>Types of Optical Fiber </vt:lpstr>
      <vt:lpstr>Propagation Modes (Types of Optical Fiber )</vt:lpstr>
      <vt:lpstr>PowerPoint Presentation</vt:lpstr>
      <vt:lpstr>PowerPoint Presentation</vt:lpstr>
      <vt:lpstr>PowerPoint Presentation</vt:lpstr>
      <vt:lpstr>PowerPoint Presentation</vt:lpstr>
      <vt:lpstr>PowerPoint Presentation</vt:lpstr>
      <vt:lpstr>Advantages of Optical Fiber</vt:lpstr>
      <vt:lpstr>Advantages of Optical Fiber</vt:lpstr>
      <vt:lpstr>Disadvantages of Optical Fiber</vt:lpstr>
      <vt:lpstr>Unguided Media</vt:lpstr>
      <vt:lpstr>PowerPoint Presentation</vt:lpstr>
      <vt:lpstr>Propagation of Radio Waves</vt:lpstr>
      <vt:lpstr>PowerPoint Presentation</vt:lpstr>
      <vt:lpstr>PowerPoint Presentation</vt:lpstr>
      <vt:lpstr>PowerPoint Presentation</vt:lpstr>
      <vt:lpstr>Propagation of Specific Signals</vt:lpstr>
      <vt:lpstr>PowerPoint Presentation</vt:lpstr>
      <vt:lpstr>PowerPoint Presentation</vt:lpstr>
      <vt:lpstr>PowerPoint Presentation</vt:lpstr>
      <vt:lpstr>PowerPoint Presentation</vt:lpstr>
    </vt:vector>
  </TitlesOfParts>
  <Company>UC, Irvine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Magda El Zarki</dc:creator>
  <cp:lastModifiedBy>PC</cp:lastModifiedBy>
  <cp:revision>21</cp:revision>
  <dcterms:created xsi:type="dcterms:W3CDTF">2021-12-15T11:47:25Z</dcterms:created>
  <dcterms:modified xsi:type="dcterms:W3CDTF">2025-11-01T06:21:02Z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1033-11.1.0.10702</vt:lpwstr>
  </property>
</Properties>
</file>